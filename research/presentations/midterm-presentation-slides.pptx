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0"/>
            <a:ext cx="1109167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698480" cy="1737360"/>
          </a:xfrm>
          <a:prstGeom prst="rect">
            <a:avLst/>
          </a:prstGeom>
          <a:noFill/>
        </p:spPr>
        <p:txBody>
          <a:bodyPr wrap="square">
            <a:spAutoFit/>
          </a:bodyPr>
          <a:lstStyle/>
          <a:p>
            <a:pPr algn="ctr"/>
            <a:r>
              <a:rPr sz="3800" b="1" i="0">
                <a:solidFill>
                  <a:srgbClr val="FFFFFF"/>
                </a:solidFill>
              </a:rPr>
              <a:t>確信度プロンプト方式の比較による
LLMキャリブレーション性能の検証</a:t>
            </a:r>
          </a:p>
        </p:txBody>
      </p:sp>
      <p:sp>
        <p:nvSpPr>
          <p:cNvPr id="5" name="TextBox 4"/>
          <p:cNvSpPr txBox="1"/>
          <p:nvPr/>
        </p:nvSpPr>
        <p:spPr>
          <a:xfrm>
            <a:off x="731520" y="2240280"/>
            <a:ext cx="10698480" cy="548640"/>
          </a:xfrm>
          <a:prstGeom prst="rect">
            <a:avLst/>
          </a:prstGeom>
          <a:noFill/>
        </p:spPr>
        <p:txBody>
          <a:bodyPr wrap="square">
            <a:spAutoFit/>
          </a:bodyPr>
          <a:lstStyle/>
          <a:p>
            <a:pPr algn="ctr"/>
            <a:r>
              <a:rPr sz="2400" b="0" i="1">
                <a:solidFill>
                  <a:srgbClr val="FFFFFF"/>
                </a:solidFill>
              </a:rPr>
              <a:t>日本語ネイティブタスクにおける Verb.1S / Verb.2S / Ling.1S の比較と現行モデルでの再現性</a:t>
            </a:r>
          </a:p>
        </p:txBody>
      </p:sp>
      <p:sp>
        <p:nvSpPr>
          <p:cNvPr id="6" name="TextBox 5"/>
          <p:cNvSpPr txBox="1"/>
          <p:nvPr/>
        </p:nvSpPr>
        <p:spPr>
          <a:xfrm>
            <a:off x="731520" y="4023360"/>
            <a:ext cx="10698480" cy="640080"/>
          </a:xfrm>
          <a:prstGeom prst="rect">
            <a:avLst/>
          </a:prstGeom>
          <a:noFill/>
        </p:spPr>
        <p:txBody>
          <a:bodyPr wrap="square">
            <a:spAutoFit/>
          </a:bodyPr>
          <a:lstStyle/>
          <a:p>
            <a:pPr algn="ctr"/>
            <a:r>
              <a:rPr sz="2800" b="0" i="0">
                <a:solidFill>
                  <a:srgbClr val="FFFFFF"/>
                </a:solidFill>
              </a:rPr>
              <a:t>グループE　秦野研究室　7422048　指田一茶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本日伝えたいこと</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2/19</a:t>
            </a:r>
          </a:p>
        </p:txBody>
      </p:sp>
      <p:sp>
        <p:nvSpPr>
          <p:cNvPr id="5" name="Rectangle 4"/>
          <p:cNvSpPr/>
          <p:nvPr/>
        </p:nvSpPr>
        <p:spPr>
          <a:xfrm>
            <a:off x="731520" y="2103120"/>
            <a:ext cx="10698480" cy="182880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31720"/>
            <a:ext cx="10149840" cy="1371600"/>
          </a:xfrm>
          <a:prstGeom prst="rect">
            <a:avLst/>
          </a:prstGeom>
          <a:noFill/>
        </p:spPr>
        <p:txBody>
          <a:bodyPr wrap="square" anchor="ctr">
            <a:spAutoFit/>
          </a:bodyPr>
          <a:lstStyle/>
          <a:p>
            <a:pPr algn="ctr"/>
            <a:r>
              <a:rPr sz="3200" b="1" i="0">
                <a:solidFill>
                  <a:srgbClr val="1A56AA"/>
                </a:solidFill>
              </a:rPr>
              <a:t>日本語タスクで確信度の聞き方（プロンプト方式）を変えると，
LLMの較正精度はどう変わるかを検証する</a:t>
            </a:r>
          </a:p>
        </p:txBody>
      </p:sp>
      <p:sp>
        <p:nvSpPr>
          <p:cNvPr id="7" name="TextBox 6"/>
          <p:cNvSpPr txBox="1"/>
          <p:nvPr/>
        </p:nvSpPr>
        <p:spPr>
          <a:xfrm>
            <a:off x="731520" y="4206240"/>
            <a:ext cx="10698480" cy="548640"/>
          </a:xfrm>
          <a:prstGeom prst="rect">
            <a:avLst/>
          </a:prstGeom>
          <a:noFill/>
        </p:spPr>
        <p:txBody>
          <a:bodyPr wrap="square">
            <a:spAutoFit/>
          </a:bodyPr>
          <a:lstStyle/>
          <a:p>
            <a:pPr algn="ctr"/>
            <a:r>
              <a:rPr sz="2800" b="0" i="0">
                <a:solidFill>
                  <a:srgbClr val="14141E"/>
                </a:solidFill>
              </a:rPr>
              <a:t>研究設計・実装は完了，実験の実行はこれから</a:t>
            </a:r>
          </a:p>
        </p:txBody>
      </p:sp>
      <p:sp>
        <p:nvSpPr>
          <p:cNvPr id="8" name="Rectangle 7"/>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1メッセージ：この発表で一番伝えたい結論はこの一文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目次</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3/19</a:t>
            </a:r>
          </a:p>
        </p:txBody>
      </p:sp>
      <p:sp>
        <p:nvSpPr>
          <p:cNvPr id="5" name="TextBox 4"/>
          <p:cNvSpPr txBox="1"/>
          <p:nvPr/>
        </p:nvSpPr>
        <p:spPr>
          <a:xfrm>
            <a:off x="914400" y="2011680"/>
            <a:ext cx="9601200" cy="2743200"/>
          </a:xfrm>
          <a:prstGeom prst="rect">
            <a:avLst/>
          </a:prstGeom>
          <a:noFill/>
        </p:spPr>
        <p:txBody>
          <a:bodyPr wrap="square">
            <a:spAutoFit/>
          </a:bodyPr>
          <a:lstStyle/>
          <a:p>
            <a:pPr>
              <a:spcBef>
                <a:spcPts val="2400"/>
              </a:spcBef>
            </a:pPr>
            <a:r>
              <a:rPr sz="3000">
                <a:solidFill>
                  <a:srgbClr val="14141E"/>
                </a:solidFill>
              </a:rPr>
              <a:t>・研究の背景と研究目的</a:t>
            </a:r>
          </a:p>
          <a:p>
            <a:pPr>
              <a:spcBef>
                <a:spcPts val="2400"/>
              </a:spcBef>
            </a:pPr>
            <a:r>
              <a:rPr sz="3000">
                <a:solidFill>
                  <a:srgbClr val="14141E"/>
                </a:solidFill>
              </a:rPr>
              <a:t>・研究の方針</a:t>
            </a:r>
          </a:p>
          <a:p>
            <a:pPr>
              <a:spcBef>
                <a:spcPts val="2400"/>
              </a:spcBef>
            </a:pPr>
            <a:r>
              <a:rPr sz="3000">
                <a:solidFill>
                  <a:srgbClr val="14141E"/>
                </a:solidFill>
              </a:rPr>
              <a:t>・現在の進捗と今後の予定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背景①：なぜこの研究をするか</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4/19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・LLMは検索・相談・意思決定支援など日常的な場面で既に使われている</a:t>
            </a:r>
          </a:p>
          <a:p>
            <a:pPr>
              <a:spcBef>
                <a:spcPts val="1800"/>
              </a:spcBef>
            </a:pPr>
            <a:r>
              <a:rPr sz="2800">
                <a:solidFill>
                  <a:srgbClr val="14141E"/>
                </a:solidFill>
              </a:rPr>
              <a:t>・誤った回答を自信満々に返されると，利用者はそれを見抜けない</a:t>
            </a:r>
          </a:p>
          <a:p>
            <a:pPr>
              <a:spcBef>
                <a:spcPts val="1800"/>
              </a:spcBef>
            </a:pPr>
            <a:r>
              <a:rPr sz="2800">
                <a:solidFill>
                  <a:srgbClr val="14141E"/>
                </a:solidFill>
              </a:rPr>
              <a:t>・確信度を適切に示せれば，利用者はリスクを踏まえて使い分けられる</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1メッセージ：この研究は誰の何の役に立つのか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背景②：確信度と正答率のズレという問題</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5/19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・LLMは誤情報を自信満々に生成する問題（ハルシネーション）を抱える</a:t>
            </a:r>
          </a:p>
          <a:p>
            <a:pPr>
              <a:spcBef>
                <a:spcPts val="1800"/>
              </a:spcBef>
            </a:pPr>
            <a:r>
              <a:rPr sz="2800">
                <a:solidFill>
                  <a:srgbClr val="14141E"/>
                </a:solidFill>
              </a:rPr>
              <a:t>・問題の本質は「確信度」と「実際の正答率」のズレにある</a:t>
            </a:r>
          </a:p>
          <a:p>
            <a:pPr>
              <a:spcBef>
                <a:spcPts val="1800"/>
              </a:spcBef>
            </a:pPr>
            <a:r>
              <a:rPr sz="2800">
                <a:solidFill>
                  <a:srgbClr val="14141E"/>
                </a:solidFill>
              </a:rPr>
              <a:t>・確信度が正答率と一致していれば（well-calibrated），判断材料になる</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1メッセージ：社会的な困りごとを技術的な問題設定に翻訳する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背景③：先行研究1 — Tian et al. 2023</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6/19</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2600" b="1" i="0">
                <a:solidFill>
                  <a:srgbClr val="1A56AA"/>
                </a:solidFill>
              </a:rPr>
              <a:t>先行研究の内容</a:t>
            </a:r>
          </a:p>
        </p:txBody>
      </p:sp>
      <p:sp>
        <p:nvSpPr>
          <p:cNvPr id="6" name="TextBox 5"/>
          <p:cNvSpPr txBox="1"/>
          <p:nvPr/>
        </p:nvSpPr>
        <p:spPr>
          <a:xfrm>
            <a:off x="731520" y="2011680"/>
            <a:ext cx="10698480" cy="1828800"/>
          </a:xfrm>
          <a:prstGeom prst="rect">
            <a:avLst/>
          </a:prstGeom>
          <a:noFill/>
        </p:spPr>
        <p:txBody>
          <a:bodyPr wrap="square">
            <a:spAutoFit/>
          </a:bodyPr>
          <a:lstStyle/>
          <a:p>
            <a:pPr>
              <a:spcBef>
                <a:spcPts val="1000"/>
              </a:spcBef>
            </a:pPr>
            <a:r>
              <a:rPr sz="2400">
                <a:solidFill>
                  <a:srgbClr val="14141E"/>
                </a:solidFill>
              </a:rPr>
              <a:t>・RLHF済みモデルは内部確率（logprob）に基づく較正が崩壊してしまう</a:t>
            </a:r>
          </a:p>
          <a:p>
            <a:pPr>
              <a:spcBef>
                <a:spcPts val="1000"/>
              </a:spcBef>
            </a:pPr>
            <a:r>
              <a:rPr sz="2400">
                <a:solidFill>
                  <a:srgbClr val="14141E"/>
                </a:solidFill>
              </a:rPr>
              <a:t>・しかし「確信度をただ聞くだけ」で内部確率より良い較正が得られると発見</a:t>
            </a:r>
          </a:p>
          <a:p>
            <a:pPr>
              <a:spcBef>
                <a:spcPts val="1000"/>
              </a:spcBef>
            </a:pPr>
            <a:r>
              <a:rPr sz="2400">
                <a:solidFill>
                  <a:srgbClr val="14141E"/>
                </a:solidFill>
              </a:rPr>
              <a:t>・4方式（logprob/言語表現/0-100の数値/複数候補同時提示）を比較し，数値表現が有効</a:t>
            </a:r>
          </a:p>
        </p:txBody>
      </p:sp>
      <p:sp>
        <p:nvSpPr>
          <p:cNvPr id="7" name="Rectangle 6"/>
          <p:cNvSpPr/>
          <p:nvPr/>
        </p:nvSpPr>
        <p:spPr>
          <a:xfrm>
            <a:off x="548640" y="3977639"/>
            <a:ext cx="11064240" cy="1417320"/>
          </a:xfrm>
          <a:prstGeom prst="rect">
            <a:avLst/>
          </a:prstGeom>
          <a:solidFill>
            <a:srgbClr val="FB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69080"/>
            <a:ext cx="10698480" cy="457200"/>
          </a:xfrm>
          <a:prstGeom prst="rect">
            <a:avLst/>
          </a:prstGeom>
          <a:noFill/>
        </p:spPr>
        <p:txBody>
          <a:bodyPr wrap="square">
            <a:spAutoFit/>
          </a:bodyPr>
          <a:lstStyle/>
          <a:p>
            <a:pPr algn="l"/>
            <a:r>
              <a:rPr sz="2600" b="1" i="0">
                <a:solidFill>
                  <a:srgbClr val="B02A1E"/>
                </a:solidFill>
              </a:rPr>
              <a:t>残された研究の余地</a:t>
            </a:r>
          </a:p>
        </p:txBody>
      </p:sp>
      <p:sp>
        <p:nvSpPr>
          <p:cNvPr id="9" name="TextBox 8"/>
          <p:cNvSpPr txBox="1"/>
          <p:nvPr/>
        </p:nvSpPr>
        <p:spPr>
          <a:xfrm>
            <a:off x="731520" y="4480559"/>
            <a:ext cx="10698480" cy="1188720"/>
          </a:xfrm>
          <a:prstGeom prst="rect">
            <a:avLst/>
          </a:prstGeom>
          <a:noFill/>
        </p:spPr>
        <p:txBody>
          <a:bodyPr wrap="square">
            <a:spAutoFit/>
          </a:bodyPr>
          <a:lstStyle/>
          <a:p>
            <a:pPr>
              <a:spcBef>
                <a:spcPts val="800"/>
              </a:spcBef>
            </a:pPr>
            <a:r>
              <a:rPr sz="2400">
                <a:solidFill>
                  <a:srgbClr val="14141E"/>
                </a:solidFill>
              </a:rPr>
              <a:t>・検証は英語のQAタスク（TriviaQA・SciQ等）のみ</a:t>
            </a:r>
          </a:p>
          <a:p>
            <a:pPr>
              <a:spcBef>
                <a:spcPts val="800"/>
              </a:spcBef>
            </a:pPr>
            <a:r>
              <a:rPr sz="2400">
                <a:solidFill>
                  <a:srgbClr val="14141E"/>
                </a:solidFill>
              </a:rPr>
              <a:t>・日本語モデル・日本語タスクで同じ傾向が出るかは未検証</a:t>
            </a:r>
          </a:p>
        </p:txBody>
      </p:sp>
      <p:sp>
        <p:nvSpPr>
          <p:cNvPr id="10" name="Rectangle 9"/>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1メッセージ：「ただ聞くだけで較正が改善する」という本研究の土台と，その限界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背景④：先行研究2 — Xiong et al. 2024</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7/19</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2600" b="1" i="0">
                <a:solidFill>
                  <a:srgbClr val="1A56AA"/>
                </a:solidFill>
              </a:rPr>
              <a:t>先行研究の内容</a:t>
            </a:r>
          </a:p>
        </p:txBody>
      </p:sp>
      <p:sp>
        <p:nvSpPr>
          <p:cNvPr id="6" name="TextBox 5"/>
          <p:cNvSpPr txBox="1"/>
          <p:nvPr/>
        </p:nvSpPr>
        <p:spPr>
          <a:xfrm>
            <a:off x="731520" y="2011680"/>
            <a:ext cx="10698480" cy="1828800"/>
          </a:xfrm>
          <a:prstGeom prst="rect">
            <a:avLst/>
          </a:prstGeom>
          <a:noFill/>
        </p:spPr>
        <p:txBody>
          <a:bodyPr wrap="square">
            <a:spAutoFit/>
          </a:bodyPr>
          <a:lstStyle/>
          <a:p>
            <a:pPr>
              <a:spcBef>
                <a:spcPts val="1000"/>
              </a:spcBef>
            </a:pPr>
            <a:r>
              <a:rPr sz="2400">
                <a:solidFill>
                  <a:srgbClr val="14141E"/>
                </a:solidFill>
              </a:rPr>
              <a:t>・Black-box確信度推定の体系的フレームワークを提案（プロンプト戦略/サンプリング/集約）</a:t>
            </a:r>
          </a:p>
          <a:p>
            <a:pPr>
              <a:spcBef>
                <a:spcPts val="1000"/>
              </a:spcBef>
            </a:pPr>
            <a:r>
              <a:rPr sz="2400">
                <a:solidFill>
                  <a:srgbClr val="14141E"/>
                </a:solidFill>
              </a:rPr>
              <a:t>・5種類のデータセット×5モデルで較正精度と失敗予測を評価</a:t>
            </a:r>
          </a:p>
          <a:p>
            <a:pPr>
              <a:spcBef>
                <a:spcPts val="1000"/>
              </a:spcBef>
            </a:pPr>
            <a:r>
              <a:rPr sz="2400">
                <a:solidFill>
                  <a:srgbClr val="14141E"/>
                </a:solidFill>
              </a:rPr>
              <a:t>・LLMは総じて過信しがちで，どの方式も一貫して他を上回るわけではないと報告</a:t>
            </a:r>
          </a:p>
        </p:txBody>
      </p:sp>
      <p:sp>
        <p:nvSpPr>
          <p:cNvPr id="7" name="Rectangle 6"/>
          <p:cNvSpPr/>
          <p:nvPr/>
        </p:nvSpPr>
        <p:spPr>
          <a:xfrm>
            <a:off x="548640" y="3977639"/>
            <a:ext cx="11064240" cy="1417320"/>
          </a:xfrm>
          <a:prstGeom prst="rect">
            <a:avLst/>
          </a:prstGeom>
          <a:solidFill>
            <a:srgbClr val="FB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69080"/>
            <a:ext cx="10698480" cy="457200"/>
          </a:xfrm>
          <a:prstGeom prst="rect">
            <a:avLst/>
          </a:prstGeom>
          <a:noFill/>
        </p:spPr>
        <p:txBody>
          <a:bodyPr wrap="square">
            <a:spAutoFit/>
          </a:bodyPr>
          <a:lstStyle/>
          <a:p>
            <a:pPr algn="l"/>
            <a:r>
              <a:rPr sz="2600" b="1" i="0">
                <a:solidFill>
                  <a:srgbClr val="B02A1E"/>
                </a:solidFill>
              </a:rPr>
              <a:t>残された研究の余地</a:t>
            </a:r>
          </a:p>
        </p:txBody>
      </p:sp>
      <p:sp>
        <p:nvSpPr>
          <p:cNvPr id="9" name="TextBox 8"/>
          <p:cNvSpPr txBox="1"/>
          <p:nvPr/>
        </p:nvSpPr>
        <p:spPr>
          <a:xfrm>
            <a:off x="731520" y="4480559"/>
            <a:ext cx="10698480" cy="1188720"/>
          </a:xfrm>
          <a:prstGeom prst="rect">
            <a:avLst/>
          </a:prstGeom>
          <a:noFill/>
        </p:spPr>
        <p:txBody>
          <a:bodyPr wrap="square">
            <a:spAutoFit/>
          </a:bodyPr>
          <a:lstStyle/>
          <a:p>
            <a:pPr>
              <a:spcBef>
                <a:spcPts val="800"/>
              </a:spcBef>
            </a:pPr>
            <a:r>
              <a:rPr sz="2400">
                <a:solidFill>
                  <a:srgbClr val="14141E"/>
                </a:solidFill>
              </a:rPr>
              <a:t>・専門知識を要するタスクでは全手法が苦戦しており，改善の余地が大きいと自ら報告</a:t>
            </a:r>
          </a:p>
          <a:p>
            <a:pPr>
              <a:spcBef>
                <a:spcPts val="800"/>
              </a:spcBef>
            </a:pPr>
            <a:r>
              <a:rPr sz="2400">
                <a:solidFill>
                  <a:srgbClr val="14141E"/>
                </a:solidFill>
              </a:rPr>
              <a:t>・検証は英語タスクが中心で，日本語での体系的な方式間比較は行っていない</a:t>
            </a:r>
          </a:p>
        </p:txBody>
      </p:sp>
      <p:sp>
        <p:nvSpPr>
          <p:cNvPr id="10" name="Rectangle 9"/>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1メッセージ：確信度手法比較の先駆けだが，方式間の優劣にはまだ決着がついていない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背景⑤：なぜプロンプト設計なのか</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8/19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・改善手法は3系統：Post-hoc補正／ファインチューニング／プロンプト設計</a:t>
            </a:r>
          </a:p>
          <a:p>
            <a:pPr>
              <a:spcBef>
                <a:spcPts val="1800"/>
              </a:spcBef>
            </a:pPr>
            <a:r>
              <a:rPr sz="2800">
                <a:solidFill>
                  <a:srgbClr val="14141E"/>
                </a:solidFill>
              </a:rPr>
              <a:t>・商用APIはlogitsやパラメータへのアクセスを提供しない</a:t>
            </a:r>
          </a:p>
          <a:p>
            <a:pPr>
              <a:spcBef>
                <a:spcPts val="1800"/>
              </a:spcBef>
            </a:pPr>
            <a:r>
              <a:rPr sz="2800">
                <a:solidFill>
                  <a:srgbClr val="14141E"/>
                </a:solidFill>
              </a:rPr>
              <a:t>・一般利用者が今すぐ使える手段はプロンプト設計のみ（Xie et al. 2024）</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1メッセージ：数ある改善手法の中でプロンプト設計を選ぶ理由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背景⑥：先行研究3 — MlingConfとの比較</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9/19</a:t>
            </a:r>
          </a:p>
        </p:txBody>
      </p:sp>
      <p:sp>
        <p:nvSpPr>
          <p:cNvPr id="5" name="TextBox 4"/>
          <p:cNvSpPr txBox="1"/>
          <p:nvPr/>
        </p:nvSpPr>
        <p:spPr>
          <a:xfrm>
            <a:off x="731520" y="1508760"/>
            <a:ext cx="10698480" cy="548640"/>
          </a:xfrm>
          <a:prstGeom prst="rect">
            <a:avLst/>
          </a:prstGeom>
          <a:noFill/>
        </p:spPr>
        <p:txBody>
          <a:bodyPr wrap="square">
            <a:spAutoFit/>
          </a:bodyPr>
          <a:lstStyle/>
          <a:p>
            <a:pPr algn="l"/>
            <a:r>
              <a:rPr sz="2400" b="0" i="0">
                <a:solidFill>
                  <a:srgbClr val="14141E"/>
                </a:solidFill>
              </a:rPr>
              <a:t>MlingConf(Xue et al. 2025)は日本語含む5言語で確信度手法（単一方式）を検証済み</a:t>
            </a:r>
          </a:p>
        </p:txBody>
      </p:sp>
      <p:graphicFrame>
        <p:nvGraphicFramePr>
          <p:cNvPr id="6" name="Table 5"/>
          <p:cNvGraphicFramePr>
            <a:graphicFrameLocks noGrp="1"/>
          </p:cNvGraphicFramePr>
          <p:nvPr/>
        </p:nvGraphicFramePr>
        <p:xfrm>
          <a:off x="548640" y="214884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585216">
                <a:tc>
                  <a:txBody>
                    <a:bodyPr/>
                    <a:lstStyle/>
                    <a:p>
                      <a:pPr algn="ctr"/>
                    </a:p>
                  </a:txBody>
                  <a:tcPr>
                    <a:solidFill>
                      <a:srgbClr val="1A56AA"/>
                    </a:solidFill>
                  </a:tcPr>
                </a:tc>
                <a:tc>
                  <a:txBody>
                    <a:bodyPr/>
                    <a:lstStyle/>
                    <a:p>
                      <a:pPr algn="ctr"/>
                      <a:r>
                        <a:rPr sz="2200" b="1">
                          <a:solidFill>
                            <a:srgbClr val="FFFFFF"/>
                          </a:solidFill>
                        </a:rPr>
                        <a:t>Tian/Xiong (英語)</a:t>
                      </a:r>
                    </a:p>
                  </a:txBody>
                  <a:tcPr>
                    <a:solidFill>
                      <a:srgbClr val="1A56AA"/>
                    </a:solidFill>
                  </a:tcPr>
                </a:tc>
                <a:tc>
                  <a:txBody>
                    <a:bodyPr/>
                    <a:lstStyle/>
                    <a:p>
                      <a:pPr algn="ctr"/>
                      <a:r>
                        <a:rPr sz="2200" b="1">
                          <a:solidFill>
                            <a:srgbClr val="FFFFFF"/>
                          </a:solidFill>
                        </a:rPr>
                        <a:t>MlingConf (多言語)</a:t>
                      </a:r>
                    </a:p>
                  </a:txBody>
                  <a:tcPr>
                    <a:solidFill>
                      <a:srgbClr val="1A56AA"/>
                    </a:solidFill>
                  </a:tcPr>
                </a:tc>
                <a:tc>
                  <a:txBody>
                    <a:bodyPr/>
                    <a:lstStyle/>
                    <a:p>
                      <a:pPr algn="ctr"/>
                      <a:r>
                        <a:rPr sz="2200" b="1">
                          <a:solidFill>
                            <a:srgbClr val="FFFFFF"/>
                          </a:solidFill>
                        </a:rPr>
                        <a:t>本研究</a:t>
                      </a:r>
                    </a:p>
                  </a:txBody>
                  <a:tcPr>
                    <a:solidFill>
                      <a:srgbClr val="1A56AA"/>
                    </a:solidFill>
                  </a:tcPr>
                </a:tc>
              </a:tr>
              <a:tr h="585216">
                <a:tc>
                  <a:txBody>
                    <a:bodyPr/>
                    <a:lstStyle/>
                    <a:p>
                      <a:r>
                        <a:rPr sz="2200">
                          <a:solidFill>
                            <a:srgbClr val="14141E"/>
                          </a:solidFill>
                        </a:rPr>
                        <a:t>対象言語</a:t>
                      </a:r>
                    </a:p>
                  </a:txBody>
                  <a:tcPr>
                    <a:solidFill>
                      <a:srgbClr val="FFFFFF"/>
                    </a:solidFill>
                  </a:tcPr>
                </a:tc>
                <a:tc>
                  <a:txBody>
                    <a:bodyPr/>
                    <a:lstStyle/>
                    <a:p>
                      <a:r>
                        <a:rPr sz="2200">
                          <a:solidFill>
                            <a:srgbClr val="14141E"/>
                          </a:solidFill>
                        </a:rPr>
                        <a:t>英語のみ</a:t>
                      </a:r>
                    </a:p>
                  </a:txBody>
                  <a:tcPr>
                    <a:solidFill>
                      <a:srgbClr val="FFFFFF"/>
                    </a:solidFill>
                  </a:tcPr>
                </a:tc>
                <a:tc>
                  <a:txBody>
                    <a:bodyPr/>
                    <a:lstStyle/>
                    <a:p>
                      <a:r>
                        <a:rPr sz="2200">
                          <a:solidFill>
                            <a:srgbClr val="14141E"/>
                          </a:solidFill>
                        </a:rPr>
                        <a:t>日本語含む5言語</a:t>
                      </a:r>
                    </a:p>
                  </a:txBody>
                  <a:tcPr>
                    <a:solidFill>
                      <a:srgbClr val="FFFFFF"/>
                    </a:solidFill>
                  </a:tcPr>
                </a:tc>
                <a:tc>
                  <a:txBody>
                    <a:bodyPr/>
                    <a:lstStyle/>
                    <a:p>
                      <a:r>
                        <a:rPr sz="2200">
                          <a:solidFill>
                            <a:srgbClr val="14141E"/>
                          </a:solidFill>
                        </a:rPr>
                        <a:t>日本語</a:t>
                      </a:r>
                    </a:p>
                  </a:txBody>
                  <a:tcPr>
                    <a:solidFill>
                      <a:srgbClr val="FFFFFF"/>
                    </a:solidFill>
                  </a:tcPr>
                </a:tc>
              </a:tr>
              <a:tr h="585216">
                <a:tc>
                  <a:txBody>
                    <a:bodyPr/>
                    <a:lstStyle/>
                    <a:p>
                      <a:r>
                        <a:rPr sz="2200">
                          <a:solidFill>
                            <a:srgbClr val="14141E"/>
                          </a:solidFill>
                        </a:rPr>
                        <a:t>方式間の比較</a:t>
                      </a:r>
                    </a:p>
                  </a:txBody>
                  <a:tcPr>
                    <a:solidFill>
                      <a:srgbClr val="ECF1F9"/>
                    </a:solidFill>
                  </a:tcPr>
                </a:tc>
                <a:tc>
                  <a:txBody>
                    <a:bodyPr/>
                    <a:lstStyle/>
                    <a:p>
                      <a:r>
                        <a:rPr sz="2200">
                          <a:solidFill>
                            <a:srgbClr val="14141E"/>
                          </a:solidFill>
                        </a:rPr>
                        <a:t>なし</a:t>
                      </a:r>
                    </a:p>
                  </a:txBody>
                  <a:tcPr>
                    <a:solidFill>
                      <a:srgbClr val="ECF1F9"/>
                    </a:solidFill>
                  </a:tcPr>
                </a:tc>
                <a:tc>
                  <a:txBody>
                    <a:bodyPr/>
                    <a:lstStyle/>
                    <a:p>
                      <a:r>
                        <a:rPr sz="2200">
                          <a:solidFill>
                            <a:srgbClr val="14141E"/>
                          </a:solidFill>
                        </a:rPr>
                        <a:t>なし</a:t>
                      </a:r>
                    </a:p>
                  </a:txBody>
                  <a:tcPr>
                    <a:solidFill>
                      <a:srgbClr val="ECF1F9"/>
                    </a:solidFill>
                  </a:tcPr>
                </a:tc>
                <a:tc>
                  <a:txBody>
                    <a:bodyPr/>
                    <a:lstStyle/>
                    <a:p>
                      <a:r>
                        <a:rPr sz="2200">
                          <a:solidFill>
                            <a:srgbClr val="14141E"/>
                          </a:solidFill>
                        </a:rPr>
                        <a:t>あり（3方式）</a:t>
                      </a:r>
                    </a:p>
                  </a:txBody>
                  <a:tcPr>
                    <a:solidFill>
                      <a:srgbClr val="ECF1F9"/>
                    </a:solidFill>
                  </a:tcPr>
                </a:tc>
              </a:tr>
              <a:tr h="585216">
                <a:tc>
                  <a:txBody>
                    <a:bodyPr/>
                    <a:lstStyle/>
                    <a:p>
                      <a:r>
                        <a:rPr sz="2200">
                          <a:solidFill>
                            <a:srgbClr val="14141E"/>
                          </a:solidFill>
                        </a:rPr>
                        <a:t>データセット</a:t>
                      </a:r>
                    </a:p>
                  </a:txBody>
                  <a:tcPr>
                    <a:solidFill>
                      <a:srgbClr val="FFFFFF"/>
                    </a:solidFill>
                  </a:tcPr>
                </a:tc>
                <a:tc>
                  <a:txBody>
                    <a:bodyPr/>
                    <a:lstStyle/>
                    <a:p>
                      <a:r>
                        <a:rPr sz="2200">
                          <a:solidFill>
                            <a:srgbClr val="14141E"/>
                          </a:solidFill>
                        </a:rPr>
                        <a:t>英語標準</a:t>
                      </a:r>
                    </a:p>
                  </a:txBody>
                  <a:tcPr>
                    <a:solidFill>
                      <a:srgbClr val="FFFFFF"/>
                    </a:solidFill>
                  </a:tcPr>
                </a:tc>
                <a:tc>
                  <a:txBody>
                    <a:bodyPr/>
                    <a:lstStyle/>
                    <a:p>
                      <a:r>
                        <a:rPr sz="2200">
                          <a:solidFill>
                            <a:srgbClr val="14141E"/>
                          </a:solidFill>
                        </a:rPr>
                        <a:t>英語からの機械翻訳</a:t>
                      </a:r>
                    </a:p>
                  </a:txBody>
                  <a:tcPr>
                    <a:solidFill>
                      <a:srgbClr val="FFFFFF"/>
                    </a:solidFill>
                  </a:tcPr>
                </a:tc>
                <a:tc>
                  <a:txBody>
                    <a:bodyPr/>
                    <a:lstStyle/>
                    <a:p>
                      <a:r>
                        <a:rPr sz="2200">
                          <a:solidFill>
                            <a:srgbClr val="14141E"/>
                          </a:solidFill>
                        </a:rPr>
                        <a:t>日本語ネイティブ＋標準</a:t>
                      </a:r>
                    </a:p>
                  </a:txBody>
                  <a:tcPr>
                    <a:solidFill>
                      <a:srgbClr val="FFFFFF"/>
                    </a:solidFill>
                  </a:tcPr>
                </a:tc>
              </a:tr>
              <a:tr h="585216">
                <a:tc>
                  <a:txBody>
                    <a:bodyPr/>
                    <a:lstStyle/>
                    <a:p>
                      <a:r>
                        <a:rPr sz="2200">
                          <a:solidFill>
                            <a:srgbClr val="14141E"/>
                          </a:solidFill>
                        </a:rPr>
                        <a:t>検証モデル</a:t>
                      </a:r>
                    </a:p>
                  </a:txBody>
                  <a:tcPr>
                    <a:solidFill>
                      <a:srgbClr val="ECF1F9"/>
                    </a:solidFill>
                  </a:tcPr>
                </a:tc>
                <a:tc>
                  <a:txBody>
                    <a:bodyPr/>
                    <a:lstStyle/>
                    <a:p>
                      <a:r>
                        <a:rPr sz="2200">
                          <a:solidFill>
                            <a:srgbClr val="14141E"/>
                          </a:solidFill>
                        </a:rPr>
                        <a:t>GPT系(当時)</a:t>
                      </a:r>
                    </a:p>
                  </a:txBody>
                  <a:tcPr>
                    <a:solidFill>
                      <a:srgbClr val="ECF1F9"/>
                    </a:solidFill>
                  </a:tcPr>
                </a:tc>
                <a:tc>
                  <a:txBody>
                    <a:bodyPr/>
                    <a:lstStyle/>
                    <a:p>
                      <a:r>
                        <a:rPr sz="2200">
                          <a:solidFill>
                            <a:srgbClr val="14141E"/>
                          </a:solidFill>
                        </a:rPr>
                        <a:t>GPT-3.5・Llama-3.1</a:t>
                      </a:r>
                    </a:p>
                  </a:txBody>
                  <a:tcPr>
                    <a:solidFill>
                      <a:srgbClr val="ECF1F9"/>
                    </a:solidFill>
                  </a:tcPr>
                </a:tc>
                <a:tc>
                  <a:txBody>
                    <a:bodyPr/>
                    <a:lstStyle/>
                    <a:p>
                      <a:r>
                        <a:rPr sz="2200">
                          <a:solidFill>
                            <a:srgbClr val="14141E"/>
                          </a:solidFill>
                        </a:rPr>
                        <a:t>現行世代モデル</a:t>
                      </a:r>
                    </a:p>
                  </a:txBody>
                  <a:tcPr>
                    <a:solidFill>
                      <a:srgbClr val="ECF1F9"/>
                    </a:solidFill>
                  </a:tcPr>
                </a:tc>
              </a:tr>
            </a:tbl>
          </a:graphicData>
        </a:graphic>
      </p:graphicFrame>
      <p:sp>
        <p:nvSpPr>
          <p:cNvPr id="7" name="Rectangle 6"/>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1メッセージ：日本語検証は「十分に研究されていない」だけで皆無ではない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研究目的：主目的と付随目的</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10/19</a:t>
            </a:r>
          </a:p>
        </p:txBody>
      </p:sp>
      <p:sp>
        <p:nvSpPr>
          <p:cNvPr id="5" name="Rectangle 4"/>
          <p:cNvSpPr/>
          <p:nvPr/>
        </p:nvSpPr>
        <p:spPr>
          <a:xfrm>
            <a:off x="548640" y="1691640"/>
            <a:ext cx="11064240" cy="182880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57200"/>
          </a:xfrm>
          <a:prstGeom prst="rect">
            <a:avLst/>
          </a:prstGeom>
          <a:noFill/>
        </p:spPr>
        <p:txBody>
          <a:bodyPr wrap="square">
            <a:spAutoFit/>
          </a:bodyPr>
          <a:lstStyle/>
          <a:p>
            <a:pPr algn="l"/>
            <a:r>
              <a:rPr sz="2600" b="1" i="0">
                <a:solidFill>
                  <a:srgbClr val="1A56AA"/>
                </a:solidFill>
              </a:rPr>
              <a:t>主たる目的</a:t>
            </a:r>
          </a:p>
        </p:txBody>
      </p:sp>
      <p:sp>
        <p:nvSpPr>
          <p:cNvPr id="7" name="TextBox 6"/>
          <p:cNvSpPr txBox="1"/>
          <p:nvPr/>
        </p:nvSpPr>
        <p:spPr>
          <a:xfrm>
            <a:off x="777240" y="2194560"/>
            <a:ext cx="10607040" cy="1234440"/>
          </a:xfrm>
          <a:prstGeom prst="rect">
            <a:avLst/>
          </a:prstGeom>
          <a:noFill/>
        </p:spPr>
        <p:txBody>
          <a:bodyPr wrap="square">
            <a:spAutoFit/>
          </a:bodyPr>
          <a:lstStyle/>
          <a:p>
            <a:pPr algn="l"/>
            <a:r>
              <a:rPr sz="2600" b="0" i="0">
                <a:solidFill>
                  <a:srgbClr val="14141E"/>
                </a:solidFill>
              </a:rPr>
              <a:t>日本語タスクで確信度プロンプト方式（Verb.1S/Verb.2S/Ling.1S）の違いは
較正精度（ECE・Brier Score）にどのような差をもたらすか？</a:t>
            </a:r>
          </a:p>
        </p:txBody>
      </p:sp>
      <p:sp>
        <p:nvSpPr>
          <p:cNvPr id="8" name="Rectangle 7"/>
          <p:cNvSpPr/>
          <p:nvPr/>
        </p:nvSpPr>
        <p:spPr>
          <a:xfrm>
            <a:off x="548640" y="3703320"/>
            <a:ext cx="11064240" cy="1554480"/>
          </a:xfrm>
          <a:prstGeom prst="rect">
            <a:avLst/>
          </a:prstGeom>
          <a:solidFill>
            <a:srgbClr val="FFFFFF"/>
          </a:solidFill>
          <a:ln w="12700">
            <a:solidFill>
              <a:srgbClr val="1A5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4760"/>
            <a:ext cx="10607040" cy="457200"/>
          </a:xfrm>
          <a:prstGeom prst="rect">
            <a:avLst/>
          </a:prstGeom>
          <a:noFill/>
        </p:spPr>
        <p:txBody>
          <a:bodyPr wrap="square">
            <a:spAutoFit/>
          </a:bodyPr>
          <a:lstStyle/>
          <a:p>
            <a:pPr algn="l"/>
            <a:r>
              <a:rPr sz="2600" b="1" i="0">
                <a:solidFill>
                  <a:srgbClr val="B02A1E"/>
                </a:solidFill>
              </a:rPr>
              <a:t>付随して明らかになること</a:t>
            </a:r>
          </a:p>
        </p:txBody>
      </p:sp>
      <p:sp>
        <p:nvSpPr>
          <p:cNvPr id="10" name="TextBox 9"/>
          <p:cNvSpPr txBox="1"/>
          <p:nvPr/>
        </p:nvSpPr>
        <p:spPr>
          <a:xfrm>
            <a:off x="777240" y="4206240"/>
            <a:ext cx="10607040" cy="914400"/>
          </a:xfrm>
          <a:prstGeom prst="rect">
            <a:avLst/>
          </a:prstGeom>
          <a:noFill/>
        </p:spPr>
        <p:txBody>
          <a:bodyPr wrap="square">
            <a:spAutoFit/>
          </a:bodyPr>
          <a:lstStyle/>
          <a:p>
            <a:pPr algn="l"/>
            <a:r>
              <a:rPr sz="2600" b="0" i="0">
                <a:solidFill>
                  <a:srgbClr val="14141E"/>
                </a:solidFill>
              </a:rPr>
              <a:t>その効果は現行世代の商用LLMでも再現されるか？</a:t>
            </a:r>
          </a:p>
        </p:txBody>
      </p:sp>
      <p:sp>
        <p:nvSpPr>
          <p:cNvPr id="11" name="Rectangle 10"/>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1メッセージ：主目的（方式間の差）と付随目的（再現性）を分けて示す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方針①：実験の全体像</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11/19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・モデル：GPT-4o／Claude Sonnet 4.6／Gemini 2.x／Swallow（4〜6モデル）</a:t>
            </a:r>
          </a:p>
          <a:p>
            <a:pPr>
              <a:spcBef>
                <a:spcPts val="1800"/>
              </a:spcBef>
            </a:pPr>
            <a:r>
              <a:rPr sz="2800">
                <a:solidFill>
                  <a:srgbClr val="14141E"/>
                </a:solidFill>
              </a:rPr>
              <a:t>・データセット：日本語4ドメイン × 250問 ＝ 計1,000問</a:t>
            </a:r>
          </a:p>
          <a:p>
            <a:pPr>
              <a:spcBef>
                <a:spcPts val="1800"/>
              </a:spcBef>
            </a:pPr>
            <a:r>
              <a:rPr sz="2800">
                <a:solidFill>
                  <a:srgbClr val="14141E"/>
                </a:solidFill>
              </a:rPr>
              <a:t>・3つのプロンプト方式を比較（詳細は次スライド）</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1メッセージ：何を何で比較するかの全体像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方針②：3つのプロンプト方式</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12/19</a:t>
            </a:r>
          </a:p>
        </p:txBody>
      </p:sp>
      <p:graphicFrame>
        <p:nvGraphicFramePr>
          <p:cNvPr id="5" name="Table 4"/>
          <p:cNvGraphicFramePr>
            <a:graphicFrameLocks noGrp="1"/>
          </p:cNvGraphicFramePr>
          <p:nvPr/>
        </p:nvGraphicFramePr>
        <p:xfrm>
          <a:off x="1097280" y="2011680"/>
          <a:ext cx="9966960" cy="2743200"/>
        </p:xfrm>
        <a:graphic>
          <a:graphicData uri="http://schemas.openxmlformats.org/drawingml/2006/table">
            <a:tbl>
              <a:tblPr firstRow="1" bandRow="1">
                <a:tableStyleId>{5C22544A-7EE6-4342-B048-85BDC9FD1C3A}</a:tableStyleId>
              </a:tblPr>
              <a:tblGrid>
                <a:gridCol w="4983480"/>
                <a:gridCol w="4983480"/>
              </a:tblGrid>
              <a:tr h="685800">
                <a:tc>
                  <a:txBody>
                    <a:bodyPr/>
                    <a:lstStyle/>
                    <a:p>
                      <a:pPr algn="ctr"/>
                      <a:r>
                        <a:rPr sz="2600" b="1">
                          <a:solidFill>
                            <a:srgbClr val="FFFFFF"/>
                          </a:solidFill>
                        </a:rPr>
                        <a:t>方式</a:t>
                      </a:r>
                    </a:p>
                  </a:txBody>
                  <a:tcPr>
                    <a:solidFill>
                      <a:srgbClr val="1A56AA"/>
                    </a:solidFill>
                  </a:tcPr>
                </a:tc>
                <a:tc>
                  <a:txBody>
                    <a:bodyPr/>
                    <a:lstStyle/>
                    <a:p>
                      <a:pPr algn="ctr"/>
                      <a:r>
                        <a:rPr sz="2600" b="1">
                          <a:solidFill>
                            <a:srgbClr val="FFFFFF"/>
                          </a:solidFill>
                        </a:rPr>
                        <a:t>内容</a:t>
                      </a:r>
                    </a:p>
                  </a:txBody>
                  <a:tcPr>
                    <a:solidFill>
                      <a:srgbClr val="1A56AA"/>
                    </a:solidFill>
                  </a:tcPr>
                </a:tc>
              </a:tr>
              <a:tr h="685800">
                <a:tc>
                  <a:txBody>
                    <a:bodyPr/>
                    <a:lstStyle/>
                    <a:p>
                      <a:r>
                        <a:rPr sz="2600">
                          <a:solidFill>
                            <a:srgbClr val="14141E"/>
                          </a:solidFill>
                        </a:rPr>
                        <a:t>Verb.1S</a:t>
                      </a:r>
                    </a:p>
                  </a:txBody>
                  <a:tcPr>
                    <a:solidFill>
                      <a:srgbClr val="FFFFFF"/>
                    </a:solidFill>
                  </a:tcPr>
                </a:tc>
                <a:tc>
                  <a:txBody>
                    <a:bodyPr/>
                    <a:lstStyle/>
                    <a:p>
                      <a:r>
                        <a:rPr sz="2600">
                          <a:solidFill>
                            <a:srgbClr val="14141E"/>
                          </a:solidFill>
                        </a:rPr>
                        <a:t>回答と確信度を同時に出力</a:t>
                      </a:r>
                    </a:p>
                  </a:txBody>
                  <a:tcPr>
                    <a:solidFill>
                      <a:srgbClr val="FFFFFF"/>
                    </a:solidFill>
                  </a:tcPr>
                </a:tc>
              </a:tr>
              <a:tr h="685800">
                <a:tc>
                  <a:txBody>
                    <a:bodyPr/>
                    <a:lstStyle/>
                    <a:p>
                      <a:r>
                        <a:rPr sz="2600">
                          <a:solidFill>
                            <a:srgbClr val="14141E"/>
                          </a:solidFill>
                        </a:rPr>
                        <a:t>Verb.2S</a:t>
                      </a:r>
                    </a:p>
                  </a:txBody>
                  <a:tcPr>
                    <a:solidFill>
                      <a:srgbClr val="ECF1F9"/>
                    </a:solidFill>
                  </a:tcPr>
                </a:tc>
                <a:tc>
                  <a:txBody>
                    <a:bodyPr/>
                    <a:lstStyle/>
                    <a:p>
                      <a:r>
                        <a:rPr sz="2600">
                          <a:solidFill>
                            <a:srgbClr val="14141E"/>
                          </a:solidFill>
                        </a:rPr>
                        <a:t>まず回答のみ回答させ，別ターンで確信度を質問</a:t>
                      </a:r>
                    </a:p>
                  </a:txBody>
                  <a:tcPr>
                    <a:solidFill>
                      <a:srgbClr val="ECF1F9"/>
                    </a:solidFill>
                  </a:tcPr>
                </a:tc>
              </a:tr>
              <a:tr h="685800">
                <a:tc>
                  <a:txBody>
                    <a:bodyPr/>
                    <a:lstStyle/>
                    <a:p>
                      <a:r>
                        <a:rPr sz="2600">
                          <a:solidFill>
                            <a:srgbClr val="14141E"/>
                          </a:solidFill>
                        </a:rPr>
                        <a:t>Ling.1S</a:t>
                      </a:r>
                    </a:p>
                  </a:txBody>
                  <a:tcPr>
                    <a:solidFill>
                      <a:srgbClr val="FFFFFF"/>
                    </a:solidFill>
                  </a:tcPr>
                </a:tc>
                <a:tc>
                  <a:txBody>
                    <a:bodyPr/>
                    <a:lstStyle/>
                    <a:p>
                      <a:r>
                        <a:rPr sz="2600">
                          <a:solidFill>
                            <a:srgbClr val="14141E"/>
                          </a:solidFill>
                        </a:rPr>
                        <a:t>「ほぼ確実」等の言語表現→数値マッピング</a:t>
                      </a:r>
                    </a:p>
                  </a:txBody>
                  <a:tcPr>
                    <a:solidFill>
                      <a:srgbClr val="FFFFFF"/>
                    </a:solidFill>
                  </a:tcPr>
                </a:tc>
              </a:tr>
            </a:tbl>
          </a:graphicData>
        </a:graphic>
      </p:graphicFrame>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1メッセージ：比較対象の3方式がそれぞれ何なのか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方針③：評価指標</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13/19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・主指標：ECE（較正誤差）／Brier Score／AUROC</a:t>
            </a:r>
          </a:p>
          <a:p>
            <a:pPr>
              <a:spcBef>
                <a:spcPts val="1800"/>
              </a:spcBef>
            </a:pPr>
            <a:r>
              <a:rPr sz="2800">
                <a:solidFill>
                  <a:srgbClr val="14141E"/>
                </a:solidFill>
              </a:rPr>
              <a:t>・補足的な切り口：Murphy分解（BS = REL − RES + UNC）</a:t>
            </a:r>
          </a:p>
          <a:p>
            <a:pPr>
              <a:spcBef>
                <a:spcPts val="1800"/>
              </a:spcBef>
            </a:pPr>
            <a:r>
              <a:rPr sz="2800">
                <a:solidFill>
                  <a:srgbClr val="14141E"/>
                </a:solidFill>
              </a:rPr>
              <a:t>・次のスライドで主指標ECEの読み方を詳しく説明する</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1メッセージ：何を測るか。Murphy分解はあくまで補足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方針④：ECEの読み方</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14/19</a:t>
            </a:r>
          </a:p>
        </p:txBody>
      </p:sp>
      <p:graphicFrame>
        <p:nvGraphicFramePr>
          <p:cNvPr id="5" name="Table 4"/>
          <p:cNvGraphicFramePr>
            <a:graphicFrameLocks noGrp="1"/>
          </p:cNvGraphicFramePr>
          <p:nvPr/>
        </p:nvGraphicFramePr>
        <p:xfrm>
          <a:off x="548640" y="1691640"/>
          <a:ext cx="11064240" cy="3657600"/>
        </p:xfrm>
        <a:graphic>
          <a:graphicData uri="http://schemas.openxmlformats.org/drawingml/2006/table">
            <a:tbl>
              <a:tblPr firstRow="1" bandRow="1">
                <a:tableStyleId>{5C22544A-7EE6-4342-B048-85BDC9FD1C3A}</a:tableStyleId>
              </a:tblPr>
              <a:tblGrid>
                <a:gridCol w="5532120"/>
                <a:gridCol w="5532120"/>
              </a:tblGrid>
              <a:tr h="609600">
                <a:tc>
                  <a:txBody>
                    <a:bodyPr/>
                    <a:lstStyle/>
                    <a:p>
                      <a:pPr algn="ctr"/>
                      <a:r>
                        <a:rPr sz="2400" b="1">
                          <a:solidFill>
                            <a:srgbClr val="FFFFFF"/>
                          </a:solidFill>
                        </a:rPr>
                        <a:t>項目</a:t>
                      </a:r>
                    </a:p>
                  </a:txBody>
                  <a:tcPr>
                    <a:solidFill>
                      <a:srgbClr val="1A56AA"/>
                    </a:solidFill>
                  </a:tcPr>
                </a:tc>
                <a:tc>
                  <a:txBody>
                    <a:bodyPr/>
                    <a:lstStyle/>
                    <a:p>
                      <a:pPr algn="ctr"/>
                      <a:r>
                        <a:rPr sz="2400" b="1">
                          <a:solidFill>
                            <a:srgbClr val="FFFFFF"/>
                          </a:solidFill>
                        </a:rPr>
                        <a:t>内容</a:t>
                      </a:r>
                    </a:p>
                  </a:txBody>
                  <a:tcPr>
                    <a:solidFill>
                      <a:srgbClr val="1A56AA"/>
                    </a:solidFill>
                  </a:tcPr>
                </a:tc>
              </a:tr>
              <a:tr h="609600">
                <a:tc>
                  <a:txBody>
                    <a:bodyPr/>
                    <a:lstStyle/>
                    <a:p>
                      <a:r>
                        <a:rPr sz="2200">
                          <a:solidFill>
                            <a:srgbClr val="14141E"/>
                          </a:solidFill>
                        </a:rPr>
                        <a:t>定義</a:t>
                      </a:r>
                    </a:p>
                  </a:txBody>
                  <a:tcPr>
                    <a:solidFill>
                      <a:srgbClr val="FFFFFF"/>
                    </a:solidFill>
                  </a:tcPr>
                </a:tc>
                <a:tc>
                  <a:txBody>
                    <a:bodyPr/>
                    <a:lstStyle/>
                    <a:p>
                      <a:r>
                        <a:rPr sz="2200">
                          <a:solidFill>
                            <a:srgbClr val="14141E"/>
                          </a:solidFill>
                        </a:rPr>
                        <a:t>確信度と実際の正答率のズレの重み付き平均</a:t>
                      </a:r>
                    </a:p>
                  </a:txBody>
                  <a:tcPr>
                    <a:solidFill>
                      <a:srgbClr val="FFFFFF"/>
                    </a:solidFill>
                  </a:tcPr>
                </a:tc>
              </a:tr>
              <a:tr h="609600">
                <a:tc>
                  <a:txBody>
                    <a:bodyPr/>
                    <a:lstStyle/>
                    <a:p>
                      <a:r>
                        <a:rPr sz="2200">
                          <a:solidFill>
                            <a:srgbClr val="14141E"/>
                          </a:solidFill>
                        </a:rPr>
                        <a:t>数式</a:t>
                      </a:r>
                    </a:p>
                  </a:txBody>
                  <a:tcPr>
                    <a:solidFill>
                      <a:srgbClr val="ECF1F9"/>
                    </a:solidFill>
                  </a:tcPr>
                </a:tc>
                <a:tc>
                  <a:txBody>
                    <a:bodyPr/>
                    <a:lstStyle/>
                    <a:p>
                      <a:r>
                        <a:rPr sz="2200">
                          <a:solidFill>
                            <a:srgbClr val="14141E"/>
                          </a:solidFill>
                        </a:rPr>
                        <a:t>ECE = Σ (|Bm|/n) |acc(Bm) − conf(Bm)|</a:t>
                      </a:r>
                    </a:p>
                  </a:txBody>
                  <a:tcPr>
                    <a:solidFill>
                      <a:srgbClr val="ECF1F9"/>
                    </a:solidFill>
                  </a:tcPr>
                </a:tc>
              </a:tr>
              <a:tr h="609600">
                <a:tc>
                  <a:txBody>
                    <a:bodyPr/>
                    <a:lstStyle/>
                    <a:p>
                      <a:r>
                        <a:rPr sz="2200">
                          <a:solidFill>
                            <a:srgbClr val="14141E"/>
                          </a:solidFill>
                        </a:rPr>
                        <a:t>値の範囲</a:t>
                      </a:r>
                    </a:p>
                  </a:txBody>
                  <a:tcPr>
                    <a:solidFill>
                      <a:srgbClr val="FFFFFF"/>
                    </a:solidFill>
                  </a:tcPr>
                </a:tc>
                <a:tc>
                  <a:txBody>
                    <a:bodyPr/>
                    <a:lstStyle/>
                    <a:p>
                      <a:r>
                        <a:rPr sz="2200">
                          <a:solidFill>
                            <a:srgbClr val="14141E"/>
                          </a:solidFill>
                        </a:rPr>
                        <a:t>0以上（0〜1に収まる）</a:t>
                      </a:r>
                    </a:p>
                  </a:txBody>
                  <a:tcPr>
                    <a:solidFill>
                      <a:srgbClr val="FFFFFF"/>
                    </a:solidFill>
                  </a:tcPr>
                </a:tc>
              </a:tr>
              <a:tr h="609600">
                <a:tc>
                  <a:txBody>
                    <a:bodyPr/>
                    <a:lstStyle/>
                    <a:p>
                      <a:r>
                        <a:rPr sz="2200">
                          <a:solidFill>
                            <a:srgbClr val="14141E"/>
                          </a:solidFill>
                        </a:rPr>
                        <a:t>大小の意味</a:t>
                      </a:r>
                    </a:p>
                  </a:txBody>
                  <a:tcPr>
                    <a:solidFill>
                      <a:srgbClr val="ECF1F9"/>
                    </a:solidFill>
                  </a:tcPr>
                </a:tc>
                <a:tc>
                  <a:txBody>
                    <a:bodyPr/>
                    <a:lstStyle/>
                    <a:p>
                      <a:r>
                        <a:rPr sz="2200">
                          <a:solidFill>
                            <a:srgbClr val="14141E"/>
                          </a:solidFill>
                        </a:rPr>
                        <a:t>0に近いほど良い（確信度と正答率が一致）</a:t>
                      </a:r>
                    </a:p>
                  </a:txBody>
                  <a:tcPr>
                    <a:solidFill>
                      <a:srgbClr val="ECF1F9"/>
                    </a:solidFill>
                  </a:tcPr>
                </a:tc>
              </a:tr>
              <a:tr h="609600">
                <a:tc>
                  <a:txBody>
                    <a:bodyPr/>
                    <a:lstStyle/>
                    <a:p>
                      <a:r>
                        <a:rPr sz="2200">
                          <a:solidFill>
                            <a:srgbClr val="14141E"/>
                          </a:solidFill>
                        </a:rPr>
                        <a:t>似た指標との違い</a:t>
                      </a:r>
                    </a:p>
                  </a:txBody>
                  <a:tcPr>
                    <a:solidFill>
                      <a:srgbClr val="FFFFFF"/>
                    </a:solidFill>
                  </a:tcPr>
                </a:tc>
                <a:tc>
                  <a:txBody>
                    <a:bodyPr/>
                    <a:lstStyle/>
                    <a:p>
                      <a:r>
                        <a:rPr sz="2200">
                          <a:solidFill>
                            <a:srgbClr val="14141E"/>
                          </a:solidFill>
                        </a:rPr>
                        <a:t>Brier Scoreはビン分割不要，AUROCは識別能力を測る</a:t>
                      </a:r>
                    </a:p>
                  </a:txBody>
                  <a:tcPr>
                    <a:solidFill>
                      <a:srgbClr val="FFFFFF"/>
                    </a:solidFill>
                  </a:tcPr>
                </a:tc>
              </a:tr>
            </a:tbl>
          </a:graphicData>
        </a:graphic>
      </p:graphicFrame>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1メッセージ：ECEの数字が良いか悪いか自力で判断できる材料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検証仮説：自分はこう予想している</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15/19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600"/>
              </a:spcBef>
            </a:pPr>
            <a:r>
              <a:rPr sz="2600">
                <a:solidFill>
                  <a:srgbClr val="14141E"/>
                </a:solidFill>
              </a:rPr>
              <a:t>・H1：Verb.2Sは回答後に確信度を聞く分，Verb.1SよりECEが改善すると予想</a:t>
            </a:r>
          </a:p>
          <a:p>
            <a:pPr>
              <a:spcBef>
                <a:spcPts val="1600"/>
              </a:spcBef>
            </a:pPr>
            <a:r>
              <a:rPr sz="2600">
                <a:solidFill>
                  <a:srgbClr val="14141E"/>
                </a:solidFill>
              </a:rPr>
              <a:t>・H2：Ling.1Sは情報を圧縮するため，数値表現方式より改善幅が小さいと予想</a:t>
            </a:r>
          </a:p>
          <a:p>
            <a:pPr>
              <a:spcBef>
                <a:spcPts val="1600"/>
              </a:spcBef>
            </a:pPr>
            <a:r>
              <a:rPr sz="2600">
                <a:solidFill>
                  <a:srgbClr val="14141E"/>
                </a:solidFill>
              </a:rPr>
              <a:t>・H3：改善幅はタスクドメインにより異なると予想（正答率分布の違いのため）</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1メッセージ：3つの予想とその理由（H4は質疑対応のAppendixへ）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現在の進捗</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16/19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600"/>
              </a:spcBef>
            </a:pPr>
            <a:r>
              <a:rPr sz="2600">
                <a:solidFill>
                  <a:srgbClr val="14141E"/>
                </a:solidFill>
              </a:rPr>
              <a:t>・プロンプト3方式×4ドメインのテンプレートと確信度の解析処理を実装済み</a:t>
            </a:r>
          </a:p>
          <a:p>
            <a:pPr>
              <a:spcBef>
                <a:spcPts val="1600"/>
              </a:spcBef>
            </a:pPr>
            <a:r>
              <a:rPr sz="2600">
                <a:solidFill>
                  <a:srgbClr val="14141E"/>
                </a:solidFill>
              </a:rPr>
              <a:t>・ECE・Brier Score・AUROCの計算コードを実装し，数値的に検証済み</a:t>
            </a:r>
          </a:p>
          <a:p>
            <a:pPr>
              <a:spcBef>
                <a:spcPts val="1600"/>
              </a:spcBef>
            </a:pPr>
            <a:r>
              <a:rPr sz="2600">
                <a:solidFill>
                  <a:srgbClr val="14141E"/>
                </a:solidFill>
              </a:rPr>
              <a:t>・先行研究の再調査によりMlingConfとの違いを精緻化済み</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1メッセージ：準備は終わっている，実行はこれから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今後の予定</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17/19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・パイロット実験でスクリプトの動作確認</a:t>
            </a:r>
          </a:p>
          <a:p>
            <a:pPr>
              <a:spcBef>
                <a:spcPts val="1800"/>
              </a:spcBef>
            </a:pPr>
            <a:r>
              <a:rPr sz="2800">
                <a:solidFill>
                  <a:srgbClr val="14141E"/>
                </a:solidFill>
              </a:rPr>
              <a:t>・問題なければ複数モデル×3方式×大規模な問題数で本実験を実施</a:t>
            </a:r>
          </a:p>
          <a:p>
            <a:pPr>
              <a:spcBef>
                <a:spcPts val="1800"/>
              </a:spcBef>
            </a:pPr>
            <a:r>
              <a:rPr sz="2800">
                <a:solidFill>
                  <a:srgbClr val="14141E"/>
                </a:solidFill>
              </a:rPr>
              <a:t>・結果はどのパターンでも報告可能な形で整理する方針</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1メッセージ：次に何をするか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参考文献</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18/19</a:t>
            </a:r>
          </a:p>
        </p:txBody>
      </p:sp>
      <p:sp>
        <p:nvSpPr>
          <p:cNvPr id="5" name="TextBox 4"/>
          <p:cNvSpPr txBox="1"/>
          <p:nvPr/>
        </p:nvSpPr>
        <p:spPr>
          <a:xfrm>
            <a:off x="731520" y="3931920"/>
            <a:ext cx="10698480" cy="2560320"/>
          </a:xfrm>
          <a:prstGeom prst="rect">
            <a:avLst/>
          </a:prstGeom>
          <a:noFill/>
        </p:spPr>
        <p:txBody>
          <a:bodyPr wrap="square">
            <a:spAutoFit/>
          </a:bodyPr>
          <a:lstStyle/>
          <a:p>
            <a:pPr algn="l"/>
            <a:r>
              <a:rPr sz="2400" b="0" i="0">
                <a:solidFill>
                  <a:srgbClr val="14141E"/>
                </a:solidFill>
              </a:rPr>
              <a:t>Guo et al. (2017) ICML
Tian et al. (2023) EMNLP
Xiong et al. (2024) ICLR
Xue et al. (2025) ACL Findings（MlingConf）
Xie et al. (2024) arXiv（Black-Box Calibration Survey）
Murphy (1973) / Bröcker (2009) / Ferro &amp; Fricker (2012)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332720" cy="822960"/>
          </a:xfrm>
          <a:prstGeom prst="rect">
            <a:avLst/>
          </a:prstGeom>
          <a:noFill/>
        </p:spPr>
        <p:txBody>
          <a:bodyPr wrap="square">
            <a:spAutoFit/>
          </a:bodyPr>
          <a:lstStyle/>
          <a:p>
            <a:pPr algn="l"/>
            <a:r>
              <a:rPr sz="3200" b="1" i="0">
                <a:solidFill>
                  <a:srgbClr val="14141E"/>
                </a:solidFill>
              </a:rPr>
              <a:t>まとめ</a:t>
            </a:r>
          </a:p>
        </p:txBody>
      </p:sp>
      <p:sp>
        <p:nvSpPr>
          <p:cNvPr id="4" name="TextBox 3"/>
          <p:cNvSpPr txBox="1"/>
          <p:nvPr/>
        </p:nvSpPr>
        <p:spPr>
          <a:xfrm>
            <a:off x="10972800" y="292608"/>
            <a:ext cx="1005840" cy="548640"/>
          </a:xfrm>
          <a:prstGeom prst="rect">
            <a:avLst/>
          </a:prstGeom>
          <a:noFill/>
        </p:spPr>
        <p:txBody>
          <a:bodyPr wrap="square">
            <a:spAutoFit/>
          </a:bodyPr>
          <a:lstStyle/>
          <a:p>
            <a:pPr algn="r"/>
            <a:r>
              <a:rPr sz="2400" b="0" i="0">
                <a:solidFill>
                  <a:srgbClr val="1A56AA"/>
                </a:solidFill>
              </a:rPr>
              <a:t>19/19</a:t>
            </a:r>
          </a:p>
        </p:txBody>
      </p:sp>
      <p:sp>
        <p:nvSpPr>
          <p:cNvPr id="5" name="TextBox 4"/>
          <p:cNvSpPr txBox="1"/>
          <p:nvPr/>
        </p:nvSpPr>
        <p:spPr>
          <a:xfrm>
            <a:off x="731520" y="1737360"/>
            <a:ext cx="10698480" cy="3291840"/>
          </a:xfrm>
          <a:prstGeom prst="rect">
            <a:avLst/>
          </a:prstGeom>
          <a:noFill/>
        </p:spPr>
        <p:txBody>
          <a:bodyPr wrap="square">
            <a:spAutoFit/>
          </a:bodyPr>
          <a:lstStyle/>
          <a:p>
            <a:pPr>
              <a:spcBef>
                <a:spcPts val="1800"/>
              </a:spcBef>
            </a:pPr>
            <a:r>
              <a:rPr sz="2800">
                <a:solidFill>
                  <a:srgbClr val="14141E"/>
                </a:solidFill>
              </a:rPr>
              <a:t>・研究の問い：日本語タスクでプロンプト方式の違いは較正精度にどう影響するか</a:t>
            </a:r>
          </a:p>
          <a:p>
            <a:pPr>
              <a:spcBef>
                <a:spcPts val="1800"/>
              </a:spcBef>
            </a:pPr>
            <a:r>
              <a:rPr sz="2800">
                <a:solidFill>
                  <a:srgbClr val="14141E"/>
                </a:solidFill>
              </a:rPr>
              <a:t>・現状：設計・実装は完了，実験はこれから</a:t>
            </a:r>
          </a:p>
          <a:p>
            <a:pPr>
              <a:spcBef>
                <a:spcPts val="1800"/>
              </a:spcBef>
            </a:pPr>
            <a:r>
              <a:rPr sz="2800">
                <a:solidFill>
                  <a:srgbClr val="14141E"/>
                </a:solidFill>
              </a:rPr>
              <a:t>・今後：パイロット→本実験→分析→執筆</a:t>
            </a:r>
          </a:p>
        </p:txBody>
      </p:sp>
      <p:sp>
        <p:nvSpPr>
          <p:cNvPr id="6" name="Rectangle 5"/>
          <p:cNvSpPr/>
          <p:nvPr/>
        </p:nvSpPr>
        <p:spPr>
          <a:xfrm>
            <a:off x="0" y="6263640"/>
            <a:ext cx="12188952" cy="594360"/>
          </a:xfrm>
          <a:prstGeom prst="rect">
            <a:avLst/>
          </a:prstGeom>
          <a:solidFill>
            <a:srgbClr val="EC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09360"/>
            <a:ext cx="11247120" cy="502920"/>
          </a:xfrm>
          <a:prstGeom prst="rect">
            <a:avLst/>
          </a:prstGeom>
          <a:noFill/>
        </p:spPr>
        <p:txBody>
          <a:bodyPr wrap="square">
            <a:spAutoFit/>
          </a:bodyPr>
          <a:lstStyle/>
          <a:p>
            <a:pPr algn="l"/>
            <a:r>
              <a:rPr sz="2400" b="0" i="1">
                <a:solidFill>
                  <a:srgbClr val="1A56AA"/>
                </a:solidFill>
              </a:rPr>
              <a:t>質疑応答中もこのスライドを表示したままにする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