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3"/>
    <p:sldId id="259" r:id="rId4"/>
    <p:sldId id="260" r:id="rId5"/>
    <p:sldId id="261" r:id="rId6"/>
    <p:sldId id="262" r:id="rId7"/>
    <p:sldId id="263" r:id="rId8"/>
    <p:sldId id="265" r:id="rId9"/>
    <p:sldId id="266" r:id="rId10"/>
    <p:sldId id="267" r:id="rId11"/>
    <p:sldId id="268" r:id="rId12"/>
    <p:sldId id="269" r:id="rId13"/>
    <p:sldId id="271" r:id="rId14"/>
    <p:sldId id="276" r:id="rId15"/>
    <p:sldId id="277" r:id="rId16"/>
    <p:sldId id="278" r:id="rId17"/>
    <p:sldId id="280" r:id="rId18"/>
    <p:sldId id="281" r:id="rId19"/>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4" d="100"/>
          <a:sy n="74" d="100"/>
        </p:scale>
        <p:origin x="936"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7CAEB3-9AAD-457B-B770-A506C02E0044}" type="datetimeFigureOut">
              <a:rPr kumimoji="1" lang="ja-JP" altLang="en-US" smtClean="0"/>
              <a:t>2026/6/24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8204AD-26F2-461B-866A-D2097A84FB5D}" type="slidenum">
              <a:rPr kumimoji="1" lang="ja-JP" altLang="en-US" smtClean="0"/>
              <a:t>‹#›</a:t>
            </a:fld>
            <a:endParaRPr kumimoji="1" lang="ja-JP" altLang="en-US"/>
          </a:p>
        </p:txBody>
      </p:sp>
    </p:spTree>
    <p:extLst>
      <p:ext uri="{BB962C8B-B14F-4D97-AF65-F5344CB8AC3E}">
        <p14:creationId xmlns:p14="http://schemas.microsoft.com/office/powerpoint/2010/main" val="253015608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48640" y="2651760"/>
            <a:ext cx="11091672"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822960"/>
            <a:ext cx="10332720" cy="2560320"/>
          </a:xfrm>
          <a:prstGeom prst="rect">
            <a:avLst/>
          </a:prstGeom>
          <a:noFill/>
        </p:spPr>
        <p:txBody>
          <a:bodyPr wrap="square">
            <a:spAutoFit/>
          </a:bodyPr>
          <a:lstStyle/>
          <a:p>
            <a:pPr algn="ctr"/>
            <a:r>
              <a:rPr sz="4000" b="1" i="0">
                <a:solidFill>
                  <a:srgbClr val="FFFFFF"/>
                </a:solidFill>
              </a:rPr>
              <a:t>プロンプト設計による
大規模言語モデルの
キャリブレーション性能向上に関する研究</a:t>
            </a:r>
          </a:p>
        </p:txBody>
      </p:sp>
      <p:sp>
        <p:nvSpPr>
          <p:cNvPr id="5" name="TextBox 4"/>
          <p:cNvSpPr txBox="1"/>
          <p:nvPr/>
        </p:nvSpPr>
        <p:spPr>
          <a:xfrm>
            <a:off x="914400" y="3931920"/>
            <a:ext cx="10332720" cy="2286000"/>
          </a:xfrm>
          <a:prstGeom prst="rect">
            <a:avLst/>
          </a:prstGeom>
          <a:noFill/>
        </p:spPr>
        <p:txBody>
          <a:bodyPr wrap="square">
            <a:spAutoFit/>
          </a:bodyPr>
          <a:lstStyle/>
          <a:p>
            <a:pPr algn="ctr"/>
            <a:r>
              <a:rPr sz="2600" b="0" i="0">
                <a:solidFill>
                  <a:srgbClr val="FFFFFF"/>
                </a:solidFill>
              </a:rPr>
              <a:t>指田 一茶
東京理科大学 創域理工学部 経営システム工学科 秦野研究室
2026年6月24日 ゼミ発表</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目次</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3 / 26</a:t>
            </a:r>
          </a:p>
        </p:txBody>
      </p:sp>
      <p:sp>
        <p:nvSpPr>
          <p:cNvPr id="5" name="Rectangle 4"/>
          <p:cNvSpPr/>
          <p:nvPr/>
        </p:nvSpPr>
        <p:spPr>
          <a:xfrm>
            <a:off x="457200" y="1272540"/>
            <a:ext cx="640080" cy="100584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399540"/>
            <a:ext cx="640080" cy="914400"/>
          </a:xfrm>
          <a:prstGeom prst="rect">
            <a:avLst/>
          </a:prstGeom>
          <a:noFill/>
        </p:spPr>
        <p:txBody>
          <a:bodyPr wrap="square">
            <a:spAutoFit/>
          </a:bodyPr>
          <a:lstStyle/>
          <a:p>
            <a:pPr algn="ctr"/>
            <a:r>
              <a:rPr sz="2400" b="1" i="0">
                <a:solidFill>
                  <a:srgbClr val="FFFFFF"/>
                </a:solidFill>
              </a:rPr>
              <a:t>1.</a:t>
            </a:r>
          </a:p>
        </p:txBody>
      </p:sp>
      <p:sp>
        <p:nvSpPr>
          <p:cNvPr id="7" name="TextBox 6"/>
          <p:cNvSpPr txBox="1"/>
          <p:nvPr/>
        </p:nvSpPr>
        <p:spPr>
          <a:xfrm>
            <a:off x="1280160" y="1463040"/>
            <a:ext cx="10515600" cy="822960"/>
          </a:xfrm>
          <a:prstGeom prst="rect">
            <a:avLst/>
          </a:prstGeom>
          <a:noFill/>
        </p:spPr>
        <p:txBody>
          <a:bodyPr wrap="square">
            <a:spAutoFit/>
          </a:bodyPr>
          <a:lstStyle/>
          <a:p>
            <a:pPr algn="l"/>
            <a:r>
              <a:rPr sz="2600" b="0" i="0">
                <a:solidFill>
                  <a:srgbClr val="1A1A2E"/>
                </a:solidFill>
              </a:rPr>
              <a:t>直近の活動報告</a:t>
            </a:r>
          </a:p>
        </p:txBody>
      </p:sp>
      <p:sp>
        <p:nvSpPr>
          <p:cNvPr id="8" name="Rectangle 7"/>
          <p:cNvSpPr/>
          <p:nvPr/>
        </p:nvSpPr>
        <p:spPr>
          <a:xfrm>
            <a:off x="457200" y="2552700"/>
            <a:ext cx="640080" cy="100584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679700"/>
            <a:ext cx="640080" cy="914400"/>
          </a:xfrm>
          <a:prstGeom prst="rect">
            <a:avLst/>
          </a:prstGeom>
          <a:noFill/>
        </p:spPr>
        <p:txBody>
          <a:bodyPr wrap="square">
            <a:spAutoFit/>
          </a:bodyPr>
          <a:lstStyle/>
          <a:p>
            <a:pPr algn="ctr"/>
            <a:r>
              <a:rPr sz="2400" b="1" i="0">
                <a:solidFill>
                  <a:srgbClr val="FFFFFF"/>
                </a:solidFill>
              </a:rPr>
              <a:t>2.</a:t>
            </a:r>
          </a:p>
        </p:txBody>
      </p:sp>
      <p:sp>
        <p:nvSpPr>
          <p:cNvPr id="10" name="TextBox 9"/>
          <p:cNvSpPr txBox="1"/>
          <p:nvPr/>
        </p:nvSpPr>
        <p:spPr>
          <a:xfrm>
            <a:off x="1280160" y="2743200"/>
            <a:ext cx="10515600" cy="822960"/>
          </a:xfrm>
          <a:prstGeom prst="rect">
            <a:avLst/>
          </a:prstGeom>
          <a:noFill/>
        </p:spPr>
        <p:txBody>
          <a:bodyPr wrap="square">
            <a:spAutoFit/>
          </a:bodyPr>
          <a:lstStyle/>
          <a:p>
            <a:pPr algn="l"/>
            <a:r>
              <a:rPr sz="2600" b="0" i="0" dirty="0" err="1">
                <a:solidFill>
                  <a:srgbClr val="1A1A2E"/>
                </a:solidFill>
              </a:rPr>
              <a:t>前回の振り返り（研究背景・先行研究・RQ</a:t>
            </a:r>
            <a:r>
              <a:rPr sz="2600" b="0" i="0" dirty="0">
                <a:solidFill>
                  <a:srgbClr val="1A1A2E"/>
                </a:solidFill>
              </a:rPr>
              <a:t>）</a:t>
            </a:r>
          </a:p>
        </p:txBody>
      </p:sp>
      <p:sp>
        <p:nvSpPr>
          <p:cNvPr id="11" name="Rectangle 10"/>
          <p:cNvSpPr/>
          <p:nvPr/>
        </p:nvSpPr>
        <p:spPr>
          <a:xfrm>
            <a:off x="457200" y="3832860"/>
            <a:ext cx="640080" cy="100584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959860"/>
            <a:ext cx="640080" cy="914400"/>
          </a:xfrm>
          <a:prstGeom prst="rect">
            <a:avLst/>
          </a:prstGeom>
          <a:noFill/>
        </p:spPr>
        <p:txBody>
          <a:bodyPr wrap="square">
            <a:spAutoFit/>
          </a:bodyPr>
          <a:lstStyle/>
          <a:p>
            <a:pPr algn="ctr"/>
            <a:r>
              <a:rPr sz="2400" b="1" i="0">
                <a:solidFill>
                  <a:srgbClr val="FFFFFF"/>
                </a:solidFill>
              </a:rPr>
              <a:t>3.</a:t>
            </a:r>
          </a:p>
        </p:txBody>
      </p:sp>
      <p:sp>
        <p:nvSpPr>
          <p:cNvPr id="13" name="TextBox 12"/>
          <p:cNvSpPr txBox="1"/>
          <p:nvPr/>
        </p:nvSpPr>
        <p:spPr>
          <a:xfrm>
            <a:off x="1280160" y="4023360"/>
            <a:ext cx="10515600" cy="822960"/>
          </a:xfrm>
          <a:prstGeom prst="rect">
            <a:avLst/>
          </a:prstGeom>
          <a:noFill/>
        </p:spPr>
        <p:txBody>
          <a:bodyPr wrap="square">
            <a:spAutoFit/>
          </a:bodyPr>
          <a:lstStyle/>
          <a:p>
            <a:pPr algn="l"/>
            <a:r>
              <a:rPr sz="2600" b="0" i="0" dirty="0" err="1">
                <a:solidFill>
                  <a:srgbClr val="1A1A2E"/>
                </a:solidFill>
              </a:rPr>
              <a:t>今回の研究進捗（評価指標</a:t>
            </a:r>
            <a:r>
              <a:rPr sz="2600" b="0" i="0" dirty="0">
                <a:solidFill>
                  <a:srgbClr val="1A1A2E"/>
                </a:solidFill>
              </a:rPr>
              <a:t> / </a:t>
            </a:r>
            <a:r>
              <a:rPr sz="2600" b="0" i="0" dirty="0" err="1">
                <a:solidFill>
                  <a:srgbClr val="1A1A2E"/>
                </a:solidFill>
              </a:rPr>
              <a:t>データセット</a:t>
            </a:r>
            <a:r>
              <a:rPr sz="2600" b="0" i="0" dirty="0">
                <a:solidFill>
                  <a:srgbClr val="1A1A2E"/>
                </a:solidFill>
              </a:rPr>
              <a:t> / </a:t>
            </a:r>
            <a:r>
              <a:rPr sz="2600" b="0" i="0" dirty="0" err="1">
                <a:solidFill>
                  <a:srgbClr val="1A1A2E"/>
                </a:solidFill>
              </a:rPr>
              <a:t>正答判定</a:t>
            </a:r>
            <a:r>
              <a:rPr sz="2600" b="0" i="0" dirty="0">
                <a:solidFill>
                  <a:srgbClr val="1A1A2E"/>
                </a:solidFill>
              </a:rPr>
              <a:t> / </a:t>
            </a:r>
            <a:r>
              <a:rPr sz="2600" b="0" i="0" dirty="0" err="1">
                <a:solidFill>
                  <a:srgbClr val="1A1A2E"/>
                </a:solidFill>
              </a:rPr>
              <a:t>プロンプト</a:t>
            </a:r>
            <a:r>
              <a:rPr sz="2600" b="0" i="0" dirty="0">
                <a:solidFill>
                  <a:srgbClr val="1A1A2E"/>
                </a:solidFill>
              </a:rPr>
              <a:t>）</a:t>
            </a:r>
          </a:p>
        </p:txBody>
      </p:sp>
      <p:sp>
        <p:nvSpPr>
          <p:cNvPr id="14" name="Rectangle 13"/>
          <p:cNvSpPr/>
          <p:nvPr/>
        </p:nvSpPr>
        <p:spPr>
          <a:xfrm>
            <a:off x="457200" y="5113020"/>
            <a:ext cx="640080" cy="100584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5240020"/>
            <a:ext cx="640080" cy="914400"/>
          </a:xfrm>
          <a:prstGeom prst="rect">
            <a:avLst/>
          </a:prstGeom>
          <a:noFill/>
        </p:spPr>
        <p:txBody>
          <a:bodyPr wrap="square">
            <a:spAutoFit/>
          </a:bodyPr>
          <a:lstStyle/>
          <a:p>
            <a:pPr algn="ctr"/>
            <a:r>
              <a:rPr sz="2400" b="1" i="0">
                <a:solidFill>
                  <a:srgbClr val="FFFFFF"/>
                </a:solidFill>
              </a:rPr>
              <a:t>4.</a:t>
            </a:r>
          </a:p>
        </p:txBody>
      </p:sp>
      <p:sp>
        <p:nvSpPr>
          <p:cNvPr id="16" name="TextBox 15"/>
          <p:cNvSpPr txBox="1"/>
          <p:nvPr/>
        </p:nvSpPr>
        <p:spPr>
          <a:xfrm>
            <a:off x="1280160" y="5303520"/>
            <a:ext cx="10515600" cy="822960"/>
          </a:xfrm>
          <a:prstGeom prst="rect">
            <a:avLst/>
          </a:prstGeom>
          <a:noFill/>
        </p:spPr>
        <p:txBody>
          <a:bodyPr wrap="square">
            <a:spAutoFit/>
          </a:bodyPr>
          <a:lstStyle/>
          <a:p>
            <a:pPr algn="l"/>
            <a:r>
              <a:rPr sz="2600" b="0" i="0">
                <a:solidFill>
                  <a:srgbClr val="1A1A2E"/>
                </a:solidFill>
              </a:rPr>
              <a:t>今後の方向性・スケジュール</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直近の活動報告</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4 / 26</a:t>
            </a:r>
          </a:p>
        </p:txBody>
      </p:sp>
      <p:sp>
        <p:nvSpPr>
          <p:cNvPr id="5" name="TextBox 4"/>
          <p:cNvSpPr txBox="1"/>
          <p:nvPr/>
        </p:nvSpPr>
        <p:spPr>
          <a:xfrm>
            <a:off x="608012" y="1512831"/>
            <a:ext cx="10972800" cy="4524315"/>
          </a:xfrm>
          <a:prstGeom prst="rect">
            <a:avLst/>
          </a:prstGeom>
          <a:noFill/>
        </p:spPr>
        <p:txBody>
          <a:bodyPr wrap="square">
            <a:spAutoFit/>
          </a:bodyPr>
          <a:lstStyle/>
          <a:p>
            <a:pPr marL="457200" indent="-457200" fontAlgn="base">
              <a:buFont typeface="Arial" panose="020B0604020202020204" pitchFamily="34" charset="0"/>
              <a:buChar char="•"/>
            </a:pPr>
            <a:r>
              <a:rPr lang="ja-JP" altLang="ja-JP" sz="3200" dirty="0"/>
              <a:t>経営工学演習2の添削ありがとうございました</a:t>
            </a:r>
            <a:br>
              <a:rPr lang="en-US" altLang="ja-JP" sz="3200" dirty="0"/>
            </a:br>
            <a:endParaRPr lang="en-US" altLang="ja-JP" sz="3200" dirty="0"/>
          </a:p>
          <a:p>
            <a:pPr marL="457200" indent="-457200" fontAlgn="base">
              <a:buFont typeface="Arial" panose="020B0604020202020204" pitchFamily="34" charset="0"/>
              <a:buChar char="•"/>
            </a:pPr>
            <a:r>
              <a:rPr lang="ja-JP" altLang="ja-JP" sz="3200" dirty="0"/>
              <a:t>まだ結果出てないが就活終わりました</a:t>
            </a:r>
            <a:br>
              <a:rPr lang="en-US" altLang="ja-JP" sz="3200" dirty="0"/>
            </a:br>
            <a:endParaRPr lang="en-US" altLang="ja-JP" sz="3200" dirty="0"/>
          </a:p>
          <a:p>
            <a:pPr marL="457200" indent="-457200" fontAlgn="base">
              <a:buFont typeface="Arial" panose="020B0604020202020204" pitchFamily="34" charset="0"/>
              <a:buChar char="•"/>
            </a:pPr>
            <a:r>
              <a:rPr lang="ja-JP" altLang="ja-JP" sz="3200" dirty="0"/>
              <a:t>時間泥棒だった長期インターンを完全に辞められました</a:t>
            </a:r>
            <a:br>
              <a:rPr lang="en-US" altLang="ja-JP" sz="3200" dirty="0"/>
            </a:br>
            <a:r>
              <a:rPr lang="ja-JP" altLang="ja-JP" sz="3200" dirty="0"/>
              <a:t>（全引き継ぎ完了）</a:t>
            </a:r>
            <a:br>
              <a:rPr lang="en-US" altLang="ja-JP" sz="3200" dirty="0"/>
            </a:br>
            <a:endParaRPr lang="en-US" altLang="ja-JP" sz="3200" dirty="0"/>
          </a:p>
          <a:p>
            <a:pPr marL="457200" indent="-457200" fontAlgn="base">
              <a:buFont typeface="Arial" panose="020B0604020202020204" pitchFamily="34" charset="0"/>
              <a:buChar char="•"/>
            </a:pPr>
            <a:r>
              <a:rPr lang="ja-JP" altLang="ja-JP" sz="3200" dirty="0"/>
              <a:t>依然後期の学費分は稼ぎ切っていないので、</a:t>
            </a:r>
            <a:br>
              <a:rPr lang="en-US" altLang="ja-JP" sz="3200" dirty="0"/>
            </a:br>
            <a:r>
              <a:rPr lang="ja-JP" altLang="ja-JP" sz="3200" dirty="0"/>
              <a:t>ちょうどいいバイトあったら教えてください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前回の振り返り①：研究背景とテーマ</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5 / 26</a:t>
            </a:r>
          </a:p>
        </p:txBody>
      </p:sp>
      <p:sp>
        <p:nvSpPr>
          <p:cNvPr id="5" name="Rectangle 4"/>
          <p:cNvSpPr/>
          <p:nvPr/>
        </p:nvSpPr>
        <p:spPr>
          <a:xfrm>
            <a:off x="365760" y="868680"/>
            <a:ext cx="5669280" cy="233172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914400"/>
            <a:ext cx="5486400" cy="502920"/>
          </a:xfrm>
          <a:prstGeom prst="rect">
            <a:avLst/>
          </a:prstGeom>
          <a:noFill/>
        </p:spPr>
        <p:txBody>
          <a:bodyPr wrap="square">
            <a:spAutoFit/>
          </a:bodyPr>
          <a:lstStyle/>
          <a:p>
            <a:pPr algn="l"/>
            <a:r>
              <a:rPr sz="2200" b="1" i="0">
                <a:solidFill>
                  <a:srgbClr val="1A56AA"/>
                </a:solidFill>
              </a:rPr>
              <a:t>研究テーマ</a:t>
            </a:r>
          </a:p>
        </p:txBody>
      </p:sp>
      <p:sp>
        <p:nvSpPr>
          <p:cNvPr id="7" name="TextBox 6"/>
          <p:cNvSpPr txBox="1"/>
          <p:nvPr/>
        </p:nvSpPr>
        <p:spPr>
          <a:xfrm>
            <a:off x="731520" y="1781356"/>
            <a:ext cx="5486400" cy="1463040"/>
          </a:xfrm>
          <a:prstGeom prst="rect">
            <a:avLst/>
          </a:prstGeom>
          <a:noFill/>
        </p:spPr>
        <p:txBody>
          <a:bodyPr wrap="square">
            <a:spAutoFit/>
          </a:bodyPr>
          <a:lstStyle/>
          <a:p>
            <a:pPr algn="l"/>
            <a:r>
              <a:rPr sz="2200" b="1" i="0" dirty="0" err="1">
                <a:solidFill>
                  <a:srgbClr val="1A1A2E"/>
                </a:solidFill>
              </a:rPr>
              <a:t>プロンプト設計による</a:t>
            </a:r>
            <a:r>
              <a:rPr sz="2200" b="1" i="0" dirty="0">
                <a:solidFill>
                  <a:srgbClr val="1A1A2E"/>
                </a:solidFill>
              </a:rPr>
              <a:t>
LLM </a:t>
            </a:r>
            <a:r>
              <a:rPr sz="2200" b="1" i="0" dirty="0" err="1">
                <a:solidFill>
                  <a:srgbClr val="1A1A2E"/>
                </a:solidFill>
              </a:rPr>
              <a:t>のキャリブレーション性能向上</a:t>
            </a:r>
            <a:endParaRPr sz="2200" b="1" i="0" dirty="0">
              <a:solidFill>
                <a:srgbClr val="1A1A2E"/>
              </a:solidFill>
            </a:endParaRPr>
          </a:p>
        </p:txBody>
      </p:sp>
      <p:sp>
        <p:nvSpPr>
          <p:cNvPr id="8" name="Rectangle 7"/>
          <p:cNvSpPr/>
          <p:nvPr/>
        </p:nvSpPr>
        <p:spPr>
          <a:xfrm>
            <a:off x="365760" y="3337560"/>
            <a:ext cx="5669280" cy="29260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3383280"/>
            <a:ext cx="5486400" cy="502920"/>
          </a:xfrm>
          <a:prstGeom prst="rect">
            <a:avLst/>
          </a:prstGeom>
          <a:noFill/>
        </p:spPr>
        <p:txBody>
          <a:bodyPr wrap="square">
            <a:spAutoFit/>
          </a:bodyPr>
          <a:lstStyle/>
          <a:p>
            <a:pPr algn="l"/>
            <a:r>
              <a:rPr sz="2200" b="1" i="0">
                <a:solidFill>
                  <a:srgbClr val="1A56AA"/>
                </a:solidFill>
              </a:rPr>
              <a:t>キャリブレーション とは</a:t>
            </a:r>
          </a:p>
        </p:txBody>
      </p:sp>
      <p:sp>
        <p:nvSpPr>
          <p:cNvPr id="10" name="TextBox 9"/>
          <p:cNvSpPr txBox="1"/>
          <p:nvPr/>
        </p:nvSpPr>
        <p:spPr>
          <a:xfrm>
            <a:off x="457200" y="3931920"/>
            <a:ext cx="5486400" cy="1097280"/>
          </a:xfrm>
          <a:prstGeom prst="rect">
            <a:avLst/>
          </a:prstGeom>
          <a:noFill/>
        </p:spPr>
        <p:txBody>
          <a:bodyPr wrap="square">
            <a:spAutoFit/>
          </a:bodyPr>
          <a:lstStyle/>
          <a:p>
            <a:pPr algn="l"/>
            <a:r>
              <a:rPr sz="2100" b="0" i="0">
                <a:solidFill>
                  <a:srgbClr val="1A1A2E"/>
                </a:solidFill>
              </a:rPr>
              <a:t>モデルが出力する確信度と
実際の正答率がどの程度一致しているか</a:t>
            </a:r>
          </a:p>
        </p:txBody>
      </p:sp>
      <p:sp>
        <p:nvSpPr>
          <p:cNvPr id="11" name="TextBox 10"/>
          <p:cNvSpPr txBox="1"/>
          <p:nvPr/>
        </p:nvSpPr>
        <p:spPr>
          <a:xfrm>
            <a:off x="457200" y="5073196"/>
            <a:ext cx="5486400" cy="738664"/>
          </a:xfrm>
          <a:prstGeom prst="rect">
            <a:avLst/>
          </a:prstGeom>
          <a:noFill/>
        </p:spPr>
        <p:txBody>
          <a:bodyPr wrap="square">
            <a:spAutoFit/>
          </a:bodyPr>
          <a:lstStyle/>
          <a:p>
            <a:pPr algn="l"/>
            <a:r>
              <a:rPr lang="ja-JP" altLang="en-US" sz="1400" dirty="0">
                <a:solidFill>
                  <a:srgbClr val="555555"/>
                </a:solidFill>
              </a:rPr>
              <a:t>「</a:t>
            </a:r>
            <a:r>
              <a:rPr sz="1400" b="0" i="0" dirty="0">
                <a:solidFill>
                  <a:srgbClr val="555555"/>
                </a:solidFill>
              </a:rPr>
              <a:t>70% </a:t>
            </a:r>
            <a:r>
              <a:rPr lang="ja-JP" altLang="en-US" sz="1400" dirty="0">
                <a:solidFill>
                  <a:srgbClr val="555555"/>
                </a:solidFill>
              </a:rPr>
              <a:t>で正しい」が</a:t>
            </a:r>
            <a:r>
              <a:rPr sz="1400" b="0" i="0" dirty="0">
                <a:solidFill>
                  <a:srgbClr val="555555"/>
                </a:solidFill>
              </a:rPr>
              <a:t>約70%正解←良いキャリブレーション
</a:t>
            </a:r>
            <a:r>
              <a:rPr lang="ja-JP" altLang="en-US" sz="1400" dirty="0">
                <a:solidFill>
                  <a:srgbClr val="555555"/>
                </a:solidFill>
              </a:rPr>
              <a:t>「</a:t>
            </a:r>
            <a:r>
              <a:rPr sz="1400" b="0" i="0" dirty="0">
                <a:solidFill>
                  <a:srgbClr val="555555"/>
                </a:solidFill>
              </a:rPr>
              <a:t>95% </a:t>
            </a:r>
            <a:r>
              <a:rPr lang="ja-JP" altLang="en-US" sz="1400" dirty="0">
                <a:solidFill>
                  <a:srgbClr val="555555"/>
                </a:solidFill>
              </a:rPr>
              <a:t>で正しい」が約</a:t>
            </a:r>
            <a:r>
              <a:rPr lang="en-US" altLang="ja-JP" sz="1400" dirty="0">
                <a:solidFill>
                  <a:srgbClr val="555555"/>
                </a:solidFill>
              </a:rPr>
              <a:t>90%</a:t>
            </a:r>
            <a:r>
              <a:rPr lang="ja-JP" altLang="en-US" sz="1400" dirty="0">
                <a:solidFill>
                  <a:srgbClr val="555555"/>
                </a:solidFill>
              </a:rPr>
              <a:t>正解</a:t>
            </a:r>
            <a:r>
              <a:rPr sz="1400" b="0" i="0" dirty="0">
                <a:solidFill>
                  <a:srgbClr val="555555"/>
                </a:solidFill>
              </a:rPr>
              <a:t>←</a:t>
            </a:r>
            <a:r>
              <a:rPr lang="ja-JP" altLang="en-US" sz="1400" b="0" i="0" dirty="0">
                <a:solidFill>
                  <a:srgbClr val="555555"/>
                </a:solidFill>
              </a:rPr>
              <a:t>上の例より比較的</a:t>
            </a:r>
            <a:r>
              <a:rPr sz="1400" b="0" i="0" dirty="0" err="1">
                <a:solidFill>
                  <a:srgbClr val="555555"/>
                </a:solidFill>
              </a:rPr>
              <a:t>悪いキャリブレーション</a:t>
            </a:r>
            <a:endParaRPr sz="1400" b="0" i="0" dirty="0">
              <a:solidFill>
                <a:srgbClr val="555555"/>
              </a:solidFill>
            </a:endParaRPr>
          </a:p>
        </p:txBody>
      </p:sp>
      <p:sp>
        <p:nvSpPr>
          <p:cNvPr id="12" name="Rectangle 11"/>
          <p:cNvSpPr/>
          <p:nvPr/>
        </p:nvSpPr>
        <p:spPr>
          <a:xfrm>
            <a:off x="6309360" y="868680"/>
            <a:ext cx="5486400" cy="53949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914400"/>
            <a:ext cx="5303520" cy="430887"/>
          </a:xfrm>
          <a:prstGeom prst="rect">
            <a:avLst/>
          </a:prstGeom>
          <a:noFill/>
        </p:spPr>
        <p:txBody>
          <a:bodyPr wrap="square">
            <a:spAutoFit/>
          </a:bodyPr>
          <a:lstStyle/>
          <a:p>
            <a:pPr algn="l"/>
            <a:r>
              <a:rPr sz="2200" b="1" i="0" dirty="0" err="1">
                <a:solidFill>
                  <a:srgbClr val="1A56AA"/>
                </a:solidFill>
              </a:rPr>
              <a:t>問題</a:t>
            </a:r>
            <a:r>
              <a:rPr lang="ja-JP" altLang="en-US" sz="2200" b="1" i="0" dirty="0">
                <a:solidFill>
                  <a:srgbClr val="1A56AA"/>
                </a:solidFill>
              </a:rPr>
              <a:t>点</a:t>
            </a:r>
            <a:endParaRPr sz="2200" b="1" i="0" dirty="0">
              <a:solidFill>
                <a:srgbClr val="1A56AA"/>
              </a:solidFill>
            </a:endParaRPr>
          </a:p>
        </p:txBody>
      </p:sp>
      <p:sp>
        <p:nvSpPr>
          <p:cNvPr id="14" name="TextBox 13"/>
          <p:cNvSpPr txBox="1"/>
          <p:nvPr/>
        </p:nvSpPr>
        <p:spPr>
          <a:xfrm>
            <a:off x="6400800" y="1463040"/>
            <a:ext cx="5212080" cy="4460195"/>
          </a:xfrm>
          <a:prstGeom prst="rect">
            <a:avLst/>
          </a:prstGeom>
          <a:noFill/>
        </p:spPr>
        <p:txBody>
          <a:bodyPr wrap="square">
            <a:spAutoFit/>
          </a:bodyPr>
          <a:lstStyle/>
          <a:p>
            <a:pPr marL="342900" indent="-342900">
              <a:spcBef>
                <a:spcPts val="500"/>
              </a:spcBef>
              <a:buFont typeface="Arial" panose="020B0604020202020204" pitchFamily="34" charset="0"/>
              <a:buChar char="•"/>
            </a:pPr>
            <a:r>
              <a:rPr sz="1900" dirty="0">
                <a:solidFill>
                  <a:srgbClr val="1A1A2E"/>
                </a:solidFill>
              </a:rPr>
              <a:t>LLM </a:t>
            </a:r>
            <a:r>
              <a:rPr sz="1900" dirty="0" err="1">
                <a:solidFill>
                  <a:srgbClr val="1A1A2E"/>
                </a:solidFill>
              </a:rPr>
              <a:t>はハルシネーション（誤情報を自信ありげに生成する現象）を起こす</a:t>
            </a:r>
            <a:r>
              <a:rPr lang="ja-JP" altLang="en-US" sz="1900" dirty="0">
                <a:solidFill>
                  <a:srgbClr val="1A1A2E"/>
                </a:solidFill>
              </a:rPr>
              <a:t>ことがある</a:t>
            </a:r>
            <a:endParaRPr lang="en-US" sz="1900" dirty="0">
              <a:solidFill>
                <a:srgbClr val="1A1A2E"/>
              </a:solidFill>
            </a:endParaRPr>
          </a:p>
          <a:p>
            <a:pPr marL="342900" indent="-342900">
              <a:spcBef>
                <a:spcPts val="500"/>
              </a:spcBef>
              <a:buFont typeface="Arial" panose="020B0604020202020204" pitchFamily="34" charset="0"/>
              <a:buChar char="•"/>
            </a:pPr>
            <a:r>
              <a:rPr lang="en-US" altLang="ja-JP" sz="1900" dirty="0">
                <a:solidFill>
                  <a:srgbClr val="1A1A2E"/>
                </a:solidFill>
              </a:rPr>
              <a:t>LLM</a:t>
            </a:r>
            <a:r>
              <a:rPr lang="ja-JP" altLang="en-US" sz="1900" dirty="0">
                <a:solidFill>
                  <a:srgbClr val="1A1A2E"/>
                </a:solidFill>
              </a:rPr>
              <a:t>自体が適切な回答に対する適切な確信度を示すことができれば、その確信度に基づいたユーザの利用や、</a:t>
            </a:r>
            <a:r>
              <a:rPr lang="en-US" altLang="ja-JP" sz="1900" dirty="0">
                <a:solidFill>
                  <a:srgbClr val="1A1A2E"/>
                </a:solidFill>
              </a:rPr>
              <a:t>LLM</a:t>
            </a:r>
            <a:r>
              <a:rPr lang="ja-JP" altLang="en-US" sz="1900" dirty="0">
                <a:solidFill>
                  <a:srgbClr val="1A1A2E"/>
                </a:solidFill>
              </a:rPr>
              <a:t>自体のフィードバックでの確認が機能する</a:t>
            </a:r>
            <a:endParaRPr lang="en-US" altLang="ja-JP" sz="1900" dirty="0">
              <a:solidFill>
                <a:srgbClr val="1A1A2E"/>
              </a:solidFill>
            </a:endParaRPr>
          </a:p>
          <a:p>
            <a:pPr marL="342900" indent="-342900">
              <a:spcBef>
                <a:spcPts val="500"/>
              </a:spcBef>
              <a:buFont typeface="Arial" panose="020B0604020202020204" pitchFamily="34" charset="0"/>
              <a:buChar char="•"/>
            </a:pPr>
            <a:r>
              <a:rPr lang="ja-JP" altLang="en-US" sz="1900" dirty="0">
                <a:solidFill>
                  <a:srgbClr val="1A1A2E"/>
                </a:solidFill>
              </a:rPr>
              <a:t>現状、広く使われている言語モデルでは</a:t>
            </a:r>
            <a:r>
              <a:rPr sz="1900" dirty="0">
                <a:solidFill>
                  <a:srgbClr val="1A1A2E"/>
                </a:solidFill>
              </a:rPr>
              <a:t>「</a:t>
            </a:r>
            <a:r>
              <a:rPr sz="1900" dirty="0" err="1">
                <a:solidFill>
                  <a:srgbClr val="1A1A2E"/>
                </a:solidFill>
              </a:rPr>
              <a:t>自信度と正答率の乖離」が重大</a:t>
            </a:r>
            <a:r>
              <a:rPr lang="ja-JP" altLang="en-US" sz="1900" dirty="0">
                <a:solidFill>
                  <a:srgbClr val="1A1A2E"/>
                </a:solidFill>
              </a:rPr>
              <a:t>な問題</a:t>
            </a:r>
            <a:endParaRPr lang="en-US" sz="1900" dirty="0">
              <a:solidFill>
                <a:srgbClr val="1A1A2E"/>
              </a:solidFill>
            </a:endParaRPr>
          </a:p>
          <a:p>
            <a:pPr marL="342900" indent="-342900">
              <a:spcBef>
                <a:spcPts val="500"/>
              </a:spcBef>
              <a:buFont typeface="Arial" panose="020B0604020202020204" pitchFamily="34" charset="0"/>
              <a:buChar char="•"/>
            </a:pPr>
            <a:r>
              <a:rPr lang="ja-JP" altLang="en-US" sz="1900" dirty="0">
                <a:solidFill>
                  <a:srgbClr val="1A1A2E"/>
                </a:solidFill>
              </a:rPr>
              <a:t>原因：</a:t>
            </a:r>
            <a:r>
              <a:rPr sz="1900" dirty="0" err="1">
                <a:solidFill>
                  <a:srgbClr val="1A1A2E"/>
                </a:solidFill>
              </a:rPr>
              <a:t>RLHFの影</a:t>
            </a:r>
            <a:r>
              <a:rPr lang="ja-JP" altLang="en-US" sz="1900" dirty="0">
                <a:solidFill>
                  <a:srgbClr val="1A1A2E"/>
                </a:solidFill>
              </a:rPr>
              <a:t>響で過信傾向になる</a:t>
            </a:r>
            <a:endParaRPr lang="en-US" altLang="ja-JP" sz="1900" dirty="0">
              <a:solidFill>
                <a:srgbClr val="1A1A2E"/>
              </a:solidFill>
            </a:endParaRPr>
          </a:p>
          <a:p>
            <a:pPr marL="800100" lvl="1" indent="-342900">
              <a:spcBef>
                <a:spcPts val="500"/>
              </a:spcBef>
              <a:buFont typeface="Arial" panose="020B0604020202020204" pitchFamily="34" charset="0"/>
              <a:buChar char="•"/>
            </a:pPr>
            <a:r>
              <a:rPr lang="ja-JP" altLang="ja-JP" dirty="0"/>
              <a:t>RLHF=Reinforcement Learning from Human Feedback,人間のフィードバックによる強化学習</a:t>
            </a:r>
            <a:endParaRPr lang="en-US" altLang="ja-JP" dirty="0"/>
          </a:p>
          <a:p>
            <a:pPr marL="342900" indent="-342900">
              <a:spcBef>
                <a:spcPts val="500"/>
              </a:spcBef>
              <a:buFont typeface="Arial" panose="020B0604020202020204" pitchFamily="34" charset="0"/>
              <a:buChar char="•"/>
            </a:pPr>
            <a:r>
              <a:rPr lang="ja-JP" altLang="en-US" sz="1900" dirty="0">
                <a:solidFill>
                  <a:srgbClr val="1A1A2E"/>
                </a:solidFill>
              </a:rPr>
              <a:t>→信頼できる</a:t>
            </a:r>
            <a:r>
              <a:rPr sz="1900" dirty="0" err="1">
                <a:solidFill>
                  <a:srgbClr val="1A1A2E"/>
                </a:solidFill>
              </a:rPr>
              <a:t>確信度が</a:t>
            </a:r>
            <a:r>
              <a:rPr lang="ja-JP" altLang="en-US" sz="1900" dirty="0">
                <a:solidFill>
                  <a:srgbClr val="1A1A2E"/>
                </a:solidFill>
              </a:rPr>
              <a:t>出力される状況はハルシネーションの削減に役立つと考えられる</a:t>
            </a:r>
            <a:endParaRPr sz="1900" dirty="0">
              <a:solidFill>
                <a:srgbClr val="1A1A2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前回の振り返り②：最重要先行研究</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6 / 26</a:t>
            </a:r>
          </a:p>
        </p:txBody>
      </p:sp>
      <p:sp>
        <p:nvSpPr>
          <p:cNvPr id="5" name="Rectangle 4"/>
          <p:cNvSpPr/>
          <p:nvPr/>
        </p:nvSpPr>
        <p:spPr>
          <a:xfrm>
            <a:off x="365760" y="868680"/>
            <a:ext cx="11457432" cy="118872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914400"/>
            <a:ext cx="1188720" cy="411480"/>
          </a:xfrm>
          <a:prstGeom prst="rect">
            <a:avLst/>
          </a:prstGeom>
          <a:noFill/>
        </p:spPr>
        <p:txBody>
          <a:bodyPr wrap="square">
            <a:spAutoFit/>
          </a:bodyPr>
          <a:lstStyle/>
          <a:p>
            <a:pPr algn="l"/>
            <a:r>
              <a:rPr sz="1800" b="1" i="0">
                <a:solidFill>
                  <a:srgbClr val="1A56AA"/>
                </a:solidFill>
              </a:rPr>
              <a:t>論文名:</a:t>
            </a:r>
          </a:p>
        </p:txBody>
      </p:sp>
      <p:sp>
        <p:nvSpPr>
          <p:cNvPr id="7" name="TextBox 6"/>
          <p:cNvSpPr txBox="1"/>
          <p:nvPr/>
        </p:nvSpPr>
        <p:spPr>
          <a:xfrm>
            <a:off x="1691640" y="914400"/>
            <a:ext cx="10241280" cy="502920"/>
          </a:xfrm>
          <a:prstGeom prst="rect">
            <a:avLst/>
          </a:prstGeom>
          <a:noFill/>
        </p:spPr>
        <p:txBody>
          <a:bodyPr wrap="square">
            <a:spAutoFit/>
          </a:bodyPr>
          <a:lstStyle/>
          <a:p>
            <a:pPr algn="l"/>
            <a:r>
              <a:rPr sz="1800" b="1" i="0" dirty="0">
                <a:solidFill>
                  <a:srgbClr val="1A1A2E"/>
                </a:solidFill>
              </a:rPr>
              <a:t>「Just Ask for Calibration: Strategies for Eliciting Calibrated Confidence Scores from Language Models Fine-Tuned with Human Feedback」</a:t>
            </a:r>
          </a:p>
        </p:txBody>
      </p:sp>
      <p:sp>
        <p:nvSpPr>
          <p:cNvPr id="8" name="TextBox 7"/>
          <p:cNvSpPr txBox="1"/>
          <p:nvPr/>
        </p:nvSpPr>
        <p:spPr>
          <a:xfrm>
            <a:off x="502920" y="1444752"/>
            <a:ext cx="11430000" cy="411480"/>
          </a:xfrm>
          <a:prstGeom prst="rect">
            <a:avLst/>
          </a:prstGeom>
          <a:noFill/>
        </p:spPr>
        <p:txBody>
          <a:bodyPr wrap="square">
            <a:spAutoFit/>
          </a:bodyPr>
          <a:lstStyle/>
          <a:p>
            <a:pPr algn="l"/>
            <a:r>
              <a:rPr sz="1700" b="0" i="0">
                <a:solidFill>
                  <a:srgbClr val="555555"/>
                </a:solidFill>
              </a:rPr>
              <a:t>著者: Tian, K., Mitchell, E., Yao, H., Manning, C. D., &amp; Finn, C.　　出典: Proceedings of EMNLP 2023</a:t>
            </a:r>
          </a:p>
        </p:txBody>
      </p:sp>
      <p:sp>
        <p:nvSpPr>
          <p:cNvPr id="9" name="Rectangle 8"/>
          <p:cNvSpPr/>
          <p:nvPr/>
        </p:nvSpPr>
        <p:spPr>
          <a:xfrm>
            <a:off x="365760" y="2148840"/>
            <a:ext cx="11457432" cy="13258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194560"/>
            <a:ext cx="3657600" cy="457200"/>
          </a:xfrm>
          <a:prstGeom prst="rect">
            <a:avLst/>
          </a:prstGeom>
          <a:noFill/>
        </p:spPr>
        <p:txBody>
          <a:bodyPr wrap="square">
            <a:spAutoFit/>
          </a:bodyPr>
          <a:lstStyle/>
          <a:p>
            <a:pPr algn="l"/>
            <a:r>
              <a:rPr sz="2000" b="1" i="0">
                <a:solidFill>
                  <a:srgbClr val="1A56AA"/>
                </a:solidFill>
              </a:rPr>
              <a:t>研究の概要</a:t>
            </a:r>
          </a:p>
        </p:txBody>
      </p:sp>
      <p:sp>
        <p:nvSpPr>
          <p:cNvPr id="11" name="TextBox 10"/>
          <p:cNvSpPr txBox="1"/>
          <p:nvPr/>
        </p:nvSpPr>
        <p:spPr>
          <a:xfrm>
            <a:off x="457200" y="2459057"/>
            <a:ext cx="11247120" cy="1015663"/>
          </a:xfrm>
          <a:prstGeom prst="rect">
            <a:avLst/>
          </a:prstGeom>
          <a:noFill/>
        </p:spPr>
        <p:txBody>
          <a:bodyPr wrap="square">
            <a:spAutoFit/>
          </a:bodyPr>
          <a:lstStyle/>
          <a:p>
            <a:pPr algn="l"/>
            <a:r>
              <a:rPr sz="2000" b="0" i="0" dirty="0">
                <a:solidFill>
                  <a:srgbClr val="1A1A2E"/>
                </a:solidFill>
              </a:rPr>
              <a:t>ChatGPT / GPT-4 / Claude </a:t>
            </a:r>
            <a:r>
              <a:rPr sz="2000" b="0" i="0" dirty="0" err="1">
                <a:solidFill>
                  <a:srgbClr val="1A1A2E"/>
                </a:solidFill>
              </a:rPr>
              <a:t>等の</a:t>
            </a:r>
            <a:r>
              <a:rPr sz="2000" b="0" i="0" dirty="0">
                <a:solidFill>
                  <a:srgbClr val="1A1A2E"/>
                </a:solidFill>
              </a:rPr>
              <a:t> RLHF </a:t>
            </a:r>
            <a:r>
              <a:rPr sz="2000" b="0" i="0" dirty="0" err="1">
                <a:solidFill>
                  <a:srgbClr val="1A1A2E"/>
                </a:solidFill>
              </a:rPr>
              <a:t>学習済み</a:t>
            </a:r>
            <a:r>
              <a:rPr sz="2000" b="0" i="0" dirty="0">
                <a:solidFill>
                  <a:srgbClr val="1A1A2E"/>
                </a:solidFill>
              </a:rPr>
              <a:t> LLM </a:t>
            </a:r>
            <a:r>
              <a:rPr sz="2000" b="0" i="0" dirty="0" err="1">
                <a:solidFill>
                  <a:srgbClr val="1A1A2E"/>
                </a:solidFill>
              </a:rPr>
              <a:t>に対し、確信度を「言葉」で出力させる</a:t>
            </a:r>
            <a:br>
              <a:rPr lang="en-US" sz="2000" b="0" i="0" dirty="0">
                <a:solidFill>
                  <a:srgbClr val="1A1A2E"/>
                </a:solidFill>
              </a:rPr>
            </a:br>
            <a:r>
              <a:rPr sz="2000" b="0" i="0" dirty="0">
                <a:solidFill>
                  <a:srgbClr val="1A1A2E"/>
                </a:solidFill>
              </a:rPr>
              <a:t>（Verbalized Confidence）と、内部確率より大幅にキャリブレーションが改善することを実証。Verb.1S / Verb.2S / Ling.1S の3手法を比較。</a:t>
            </a:r>
          </a:p>
        </p:txBody>
      </p:sp>
      <p:sp>
        <p:nvSpPr>
          <p:cNvPr id="12" name="TextBox 11"/>
          <p:cNvSpPr txBox="1"/>
          <p:nvPr/>
        </p:nvSpPr>
        <p:spPr>
          <a:xfrm>
            <a:off x="457200" y="3566160"/>
            <a:ext cx="3657600" cy="400110"/>
          </a:xfrm>
          <a:prstGeom prst="rect">
            <a:avLst/>
          </a:prstGeom>
          <a:noFill/>
        </p:spPr>
        <p:txBody>
          <a:bodyPr wrap="square">
            <a:spAutoFit/>
          </a:bodyPr>
          <a:lstStyle/>
          <a:p>
            <a:pPr algn="l"/>
            <a:r>
              <a:rPr lang="ja-JP" altLang="en-US" sz="2000" b="1" dirty="0">
                <a:solidFill>
                  <a:srgbClr val="1A56AA"/>
                </a:solidFill>
              </a:rPr>
              <a:t>主な</a:t>
            </a:r>
            <a:r>
              <a:rPr lang="ja-JP" altLang="en-US" sz="2000" b="1" i="0" dirty="0">
                <a:solidFill>
                  <a:srgbClr val="1A56AA"/>
                </a:solidFill>
              </a:rPr>
              <a:t>結果</a:t>
            </a:r>
            <a:endParaRPr sz="2000" b="1" i="0" dirty="0">
              <a:solidFill>
                <a:srgbClr val="1A56AA"/>
              </a:solidFill>
            </a:endParaRPr>
          </a:p>
        </p:txBody>
      </p:sp>
      <p:sp>
        <p:nvSpPr>
          <p:cNvPr id="13" name="Rectangle 12"/>
          <p:cNvSpPr/>
          <p:nvPr/>
        </p:nvSpPr>
        <p:spPr>
          <a:xfrm>
            <a:off x="365760" y="4023360"/>
            <a:ext cx="5486400" cy="10972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4086860"/>
            <a:ext cx="5303520" cy="400110"/>
          </a:xfrm>
          <a:prstGeom prst="rect">
            <a:avLst/>
          </a:prstGeom>
          <a:noFill/>
        </p:spPr>
        <p:txBody>
          <a:bodyPr wrap="square">
            <a:spAutoFit/>
          </a:bodyPr>
          <a:lstStyle/>
          <a:p>
            <a:pPr algn="l"/>
            <a:r>
              <a:rPr sz="2000" b="1" i="0" dirty="0">
                <a:solidFill>
                  <a:srgbClr val="1A1A2E"/>
                </a:solidFill>
              </a:rPr>
              <a:t>ECE約50%削減</a:t>
            </a:r>
          </a:p>
        </p:txBody>
      </p:sp>
      <p:sp>
        <p:nvSpPr>
          <p:cNvPr id="15" name="TextBox 14"/>
          <p:cNvSpPr txBox="1"/>
          <p:nvPr/>
        </p:nvSpPr>
        <p:spPr>
          <a:xfrm>
            <a:off x="457200" y="4378960"/>
            <a:ext cx="5303520" cy="640080"/>
          </a:xfrm>
          <a:prstGeom prst="rect">
            <a:avLst/>
          </a:prstGeom>
          <a:noFill/>
        </p:spPr>
        <p:txBody>
          <a:bodyPr wrap="square">
            <a:spAutoFit/>
          </a:bodyPr>
          <a:lstStyle/>
          <a:p>
            <a:pPr algn="l"/>
            <a:r>
              <a:rPr sz="1800" b="0" i="0" dirty="0" err="1">
                <a:solidFill>
                  <a:srgbClr val="555555"/>
                </a:solidFill>
              </a:rPr>
              <a:t>直接「確信度は</a:t>
            </a:r>
            <a:r>
              <a:rPr sz="1800" b="0" i="0" dirty="0">
                <a:solidFill>
                  <a:srgbClr val="555555"/>
                </a:solidFill>
              </a:rPr>
              <a:t>？」</a:t>
            </a:r>
            <a:r>
              <a:rPr sz="1800" b="0" i="0" dirty="0" err="1">
                <a:solidFill>
                  <a:srgbClr val="555555"/>
                </a:solidFill>
              </a:rPr>
              <a:t>と聞くだけで</a:t>
            </a:r>
            <a:r>
              <a:rPr sz="1800" b="0" i="0" dirty="0">
                <a:solidFill>
                  <a:srgbClr val="555555"/>
                </a:solidFill>
              </a:rPr>
              <a:t>、</a:t>
            </a:r>
            <a:br>
              <a:rPr lang="en-US" sz="1800" b="0" i="0" dirty="0">
                <a:solidFill>
                  <a:srgbClr val="555555"/>
                </a:solidFill>
              </a:rPr>
            </a:br>
            <a:r>
              <a:rPr sz="1800" b="0" i="0" dirty="0" err="1">
                <a:solidFill>
                  <a:srgbClr val="555555"/>
                </a:solidFill>
              </a:rPr>
              <a:t>内部</a:t>
            </a:r>
            <a:r>
              <a:rPr sz="1800" b="0" i="0" dirty="0">
                <a:solidFill>
                  <a:srgbClr val="555555"/>
                </a:solidFill>
              </a:rPr>
              <a:t> </a:t>
            </a:r>
            <a:r>
              <a:rPr sz="1800" b="0" i="0" dirty="0" err="1">
                <a:solidFill>
                  <a:srgbClr val="555555"/>
                </a:solidFill>
              </a:rPr>
              <a:t>softmax</a:t>
            </a:r>
            <a:r>
              <a:rPr sz="1800" b="0" i="0" dirty="0">
                <a:solidFill>
                  <a:srgbClr val="555555"/>
                </a:solidFill>
              </a:rPr>
              <a:t> </a:t>
            </a:r>
            <a:r>
              <a:rPr sz="1800" b="0" i="0" dirty="0" err="1">
                <a:solidFill>
                  <a:srgbClr val="555555"/>
                </a:solidFill>
              </a:rPr>
              <a:t>確率より大幅改善</a:t>
            </a:r>
            <a:endParaRPr sz="1800" b="0" i="0" dirty="0">
              <a:solidFill>
                <a:srgbClr val="555555"/>
              </a:solidFill>
            </a:endParaRPr>
          </a:p>
        </p:txBody>
      </p:sp>
      <p:sp>
        <p:nvSpPr>
          <p:cNvPr id="16" name="Rectangle 15"/>
          <p:cNvSpPr/>
          <p:nvPr/>
        </p:nvSpPr>
        <p:spPr>
          <a:xfrm>
            <a:off x="6217920" y="4023360"/>
            <a:ext cx="5486400" cy="10972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4086860"/>
            <a:ext cx="5303520" cy="400110"/>
          </a:xfrm>
          <a:prstGeom prst="rect">
            <a:avLst/>
          </a:prstGeom>
          <a:noFill/>
        </p:spPr>
        <p:txBody>
          <a:bodyPr wrap="square">
            <a:spAutoFit/>
          </a:bodyPr>
          <a:lstStyle/>
          <a:p>
            <a:pPr algn="l"/>
            <a:r>
              <a:rPr sz="2000" b="1" i="0" dirty="0" err="1">
                <a:solidFill>
                  <a:srgbClr val="1A1A2E"/>
                </a:solidFill>
              </a:rPr>
              <a:t>数値</a:t>
            </a:r>
            <a:r>
              <a:rPr sz="2000" b="1" i="0" dirty="0">
                <a:solidFill>
                  <a:srgbClr val="1A1A2E"/>
                </a:solidFill>
              </a:rPr>
              <a:t>&gt;</a:t>
            </a:r>
            <a:r>
              <a:rPr sz="2000" b="1" i="0" dirty="0" err="1">
                <a:solidFill>
                  <a:srgbClr val="1A1A2E"/>
                </a:solidFill>
              </a:rPr>
              <a:t>言語表現</a:t>
            </a:r>
            <a:endParaRPr sz="2000" b="1" i="0" dirty="0">
              <a:solidFill>
                <a:srgbClr val="1A1A2E"/>
              </a:solidFill>
            </a:endParaRPr>
          </a:p>
        </p:txBody>
      </p:sp>
      <p:sp>
        <p:nvSpPr>
          <p:cNvPr id="18" name="TextBox 17"/>
          <p:cNvSpPr txBox="1"/>
          <p:nvPr/>
        </p:nvSpPr>
        <p:spPr>
          <a:xfrm>
            <a:off x="6309360" y="4378960"/>
            <a:ext cx="5303520" cy="640080"/>
          </a:xfrm>
          <a:prstGeom prst="rect">
            <a:avLst/>
          </a:prstGeom>
          <a:noFill/>
        </p:spPr>
        <p:txBody>
          <a:bodyPr wrap="square">
            <a:spAutoFit/>
          </a:bodyPr>
          <a:lstStyle/>
          <a:p>
            <a:pPr algn="l"/>
            <a:r>
              <a:rPr sz="1800" b="0" i="0" dirty="0">
                <a:solidFill>
                  <a:srgbClr val="555555"/>
                </a:solidFill>
              </a:rPr>
              <a:t>0.0〜1.0 </a:t>
            </a:r>
            <a:r>
              <a:rPr sz="1800" b="0" i="0" dirty="0" err="1">
                <a:solidFill>
                  <a:srgbClr val="555555"/>
                </a:solidFill>
              </a:rPr>
              <a:t>の数値の方が</a:t>
            </a:r>
            <a:br>
              <a:rPr lang="en-US" sz="1800" b="0" i="0" dirty="0">
                <a:solidFill>
                  <a:srgbClr val="555555"/>
                </a:solidFill>
              </a:rPr>
            </a:br>
            <a:r>
              <a:rPr sz="1800" b="0" i="0" dirty="0">
                <a:solidFill>
                  <a:srgbClr val="555555"/>
                </a:solidFill>
              </a:rPr>
              <a:t>「</a:t>
            </a:r>
            <a:r>
              <a:rPr sz="1800" b="0" i="0" dirty="0" err="1">
                <a:solidFill>
                  <a:srgbClr val="555555"/>
                </a:solidFill>
              </a:rPr>
              <a:t>おそらく」などの言葉より精度高い</a:t>
            </a:r>
            <a:endParaRPr sz="1800" b="0" i="0" dirty="0">
              <a:solidFill>
                <a:srgbClr val="555555"/>
              </a:solidFill>
            </a:endParaRPr>
          </a:p>
        </p:txBody>
      </p:sp>
      <p:sp>
        <p:nvSpPr>
          <p:cNvPr id="19" name="Rectangle 18"/>
          <p:cNvSpPr/>
          <p:nvPr/>
        </p:nvSpPr>
        <p:spPr>
          <a:xfrm>
            <a:off x="365760" y="5303520"/>
            <a:ext cx="5486400" cy="10972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5367020"/>
            <a:ext cx="5303520" cy="400110"/>
          </a:xfrm>
          <a:prstGeom prst="rect">
            <a:avLst/>
          </a:prstGeom>
          <a:noFill/>
        </p:spPr>
        <p:txBody>
          <a:bodyPr wrap="square">
            <a:spAutoFit/>
          </a:bodyPr>
          <a:lstStyle/>
          <a:p>
            <a:pPr algn="l"/>
            <a:r>
              <a:rPr sz="2000" b="1" i="0" dirty="0" err="1">
                <a:solidFill>
                  <a:srgbClr val="1A1A2E"/>
                </a:solidFill>
              </a:rPr>
              <a:t>CoTは効果なし</a:t>
            </a:r>
            <a:endParaRPr sz="2000" b="1" i="0" dirty="0">
              <a:solidFill>
                <a:srgbClr val="1A1A2E"/>
              </a:solidFill>
            </a:endParaRPr>
          </a:p>
        </p:txBody>
      </p:sp>
      <p:sp>
        <p:nvSpPr>
          <p:cNvPr id="21" name="TextBox 20"/>
          <p:cNvSpPr txBox="1"/>
          <p:nvPr/>
        </p:nvSpPr>
        <p:spPr>
          <a:xfrm>
            <a:off x="457200" y="5659120"/>
            <a:ext cx="5303520" cy="640080"/>
          </a:xfrm>
          <a:prstGeom prst="rect">
            <a:avLst/>
          </a:prstGeom>
          <a:noFill/>
        </p:spPr>
        <p:txBody>
          <a:bodyPr wrap="square">
            <a:spAutoFit/>
          </a:bodyPr>
          <a:lstStyle/>
          <a:p>
            <a:pPr algn="l"/>
            <a:r>
              <a:rPr sz="1800" b="0" i="0" dirty="0">
                <a:solidFill>
                  <a:srgbClr val="555555"/>
                </a:solidFill>
              </a:rPr>
              <a:t>Chain-of-Thought </a:t>
            </a:r>
            <a:r>
              <a:rPr sz="1800" b="0" i="0" dirty="0" err="1">
                <a:solidFill>
                  <a:srgbClr val="555555"/>
                </a:solidFill>
              </a:rPr>
              <a:t>は確信度の精度に寄与しない</a:t>
            </a:r>
            <a:br>
              <a:rPr lang="en-US" sz="1800" b="0" i="0" dirty="0">
                <a:solidFill>
                  <a:srgbClr val="555555"/>
                </a:solidFill>
              </a:rPr>
            </a:br>
            <a:r>
              <a:rPr sz="1800" b="0" i="0" dirty="0">
                <a:solidFill>
                  <a:srgbClr val="555555"/>
                </a:solidFill>
              </a:rPr>
              <a:t>（</a:t>
            </a:r>
            <a:r>
              <a:rPr lang="ja-JP" altLang="en-US" dirty="0">
                <a:solidFill>
                  <a:srgbClr val="555555"/>
                </a:solidFill>
              </a:rPr>
              <a:t>出力精度</a:t>
            </a:r>
            <a:r>
              <a:rPr sz="1800" b="0" i="0" dirty="0">
                <a:solidFill>
                  <a:srgbClr val="555555"/>
                </a:solidFill>
              </a:rPr>
              <a:t>と</a:t>
            </a:r>
            <a:r>
              <a:rPr lang="ja-JP" altLang="en-US" sz="1800" b="0" i="0" dirty="0">
                <a:solidFill>
                  <a:srgbClr val="555555"/>
                </a:solidFill>
              </a:rPr>
              <a:t>確信度自体は別</a:t>
            </a:r>
            <a:r>
              <a:rPr sz="1800" b="0" i="0" dirty="0">
                <a:solidFill>
                  <a:srgbClr val="555555"/>
                </a:solidFill>
              </a:rPr>
              <a:t>）</a:t>
            </a:r>
          </a:p>
        </p:txBody>
      </p:sp>
      <p:sp>
        <p:nvSpPr>
          <p:cNvPr id="22" name="Rectangle 21"/>
          <p:cNvSpPr/>
          <p:nvPr/>
        </p:nvSpPr>
        <p:spPr>
          <a:xfrm>
            <a:off x="6217920" y="5303520"/>
            <a:ext cx="5486400" cy="10972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09360" y="5367020"/>
            <a:ext cx="5303520" cy="457200"/>
          </a:xfrm>
          <a:prstGeom prst="rect">
            <a:avLst/>
          </a:prstGeom>
          <a:noFill/>
        </p:spPr>
        <p:txBody>
          <a:bodyPr wrap="square">
            <a:spAutoFit/>
          </a:bodyPr>
          <a:lstStyle/>
          <a:p>
            <a:pPr algn="l"/>
            <a:r>
              <a:rPr sz="2000" b="1" i="0">
                <a:solidFill>
                  <a:srgbClr val="1A1A2E"/>
                </a:solidFill>
              </a:rPr>
              <a:t>モデル間で差あり</a:t>
            </a:r>
          </a:p>
        </p:txBody>
      </p:sp>
      <p:sp>
        <p:nvSpPr>
          <p:cNvPr id="24" name="TextBox 23"/>
          <p:cNvSpPr txBox="1"/>
          <p:nvPr/>
        </p:nvSpPr>
        <p:spPr>
          <a:xfrm>
            <a:off x="6309360" y="5659120"/>
            <a:ext cx="5303520" cy="640080"/>
          </a:xfrm>
          <a:prstGeom prst="rect">
            <a:avLst/>
          </a:prstGeom>
          <a:noFill/>
        </p:spPr>
        <p:txBody>
          <a:bodyPr wrap="square">
            <a:spAutoFit/>
          </a:bodyPr>
          <a:lstStyle/>
          <a:p>
            <a:pPr algn="l"/>
            <a:r>
              <a:rPr sz="1800" b="0" i="0" dirty="0">
                <a:solidFill>
                  <a:srgbClr val="555555"/>
                </a:solidFill>
              </a:rPr>
              <a:t>Claude 2 が最も優秀、Llama-2 </a:t>
            </a:r>
            <a:r>
              <a:rPr sz="1800" b="0" i="0" dirty="0" err="1">
                <a:solidFill>
                  <a:srgbClr val="555555"/>
                </a:solidFill>
              </a:rPr>
              <a:t>はやや劣る傾向</a:t>
            </a:r>
            <a:endParaRPr sz="1800" b="0" i="0" dirty="0">
              <a:solidFill>
                <a:srgbClr val="55555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553998"/>
          </a:xfrm>
          <a:prstGeom prst="rect">
            <a:avLst/>
          </a:prstGeom>
          <a:noFill/>
        </p:spPr>
        <p:txBody>
          <a:bodyPr wrap="square">
            <a:spAutoFit/>
          </a:bodyPr>
          <a:lstStyle/>
          <a:p>
            <a:pPr algn="l"/>
            <a:r>
              <a:rPr sz="3000" b="1" i="0" dirty="0" err="1">
                <a:solidFill>
                  <a:srgbClr val="1A1A2E"/>
                </a:solidFill>
              </a:rPr>
              <a:t>前回の振り返り</a:t>
            </a:r>
            <a:r>
              <a:rPr sz="3000" b="1" i="0" dirty="0">
                <a:solidFill>
                  <a:srgbClr val="1A1A2E"/>
                </a:solidFill>
              </a:rPr>
              <a:t>③：</a:t>
            </a:r>
            <a:r>
              <a:rPr sz="3000" b="1" i="0" dirty="0" err="1">
                <a:solidFill>
                  <a:srgbClr val="1A1A2E"/>
                </a:solidFill>
              </a:rPr>
              <a:t>RQと実験設計の方向性</a:t>
            </a:r>
            <a:endParaRPr sz="3000" b="1" i="0" dirty="0">
              <a:solidFill>
                <a:srgbClr val="1A1A2E"/>
              </a:solidFill>
            </a:endParaRP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7 / 26</a:t>
            </a:r>
          </a:p>
        </p:txBody>
      </p:sp>
      <p:sp>
        <p:nvSpPr>
          <p:cNvPr id="5" name="TextBox 4"/>
          <p:cNvSpPr txBox="1"/>
          <p:nvPr/>
        </p:nvSpPr>
        <p:spPr>
          <a:xfrm>
            <a:off x="365760" y="868680"/>
            <a:ext cx="11430000" cy="430887"/>
          </a:xfrm>
          <a:prstGeom prst="rect">
            <a:avLst/>
          </a:prstGeom>
          <a:noFill/>
        </p:spPr>
        <p:txBody>
          <a:bodyPr wrap="square">
            <a:spAutoFit/>
          </a:bodyPr>
          <a:lstStyle/>
          <a:p>
            <a:pPr algn="l"/>
            <a:r>
              <a:rPr sz="2200" b="1" i="0" dirty="0" err="1">
                <a:solidFill>
                  <a:srgbClr val="1A56AA"/>
                </a:solidFill>
              </a:rPr>
              <a:t>メインRQ</a:t>
            </a:r>
            <a:endParaRPr sz="2200" b="1" i="0" dirty="0">
              <a:solidFill>
                <a:srgbClr val="1A56AA"/>
              </a:solidFill>
            </a:endParaRPr>
          </a:p>
        </p:txBody>
      </p:sp>
      <p:sp>
        <p:nvSpPr>
          <p:cNvPr id="6" name="Rectangle 5"/>
          <p:cNvSpPr/>
          <p:nvPr/>
        </p:nvSpPr>
        <p:spPr>
          <a:xfrm>
            <a:off x="365760" y="1325880"/>
            <a:ext cx="11457432" cy="8229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443343" y="1379399"/>
            <a:ext cx="7933839" cy="769441"/>
          </a:xfrm>
          <a:prstGeom prst="rect">
            <a:avLst/>
          </a:prstGeom>
          <a:noFill/>
        </p:spPr>
        <p:txBody>
          <a:bodyPr wrap="square">
            <a:spAutoFit/>
          </a:bodyPr>
          <a:lstStyle/>
          <a:p>
            <a:pPr algn="l"/>
            <a:r>
              <a:rPr sz="2200" b="1" i="0" dirty="0" err="1">
                <a:solidFill>
                  <a:srgbClr val="1A1A2E"/>
                </a:solidFill>
              </a:rPr>
              <a:t>日本語タスクにおいて、プロンプト設計によって</a:t>
            </a:r>
            <a:br>
              <a:rPr lang="en-US" sz="2200" b="1" i="0" dirty="0">
                <a:solidFill>
                  <a:srgbClr val="1A1A2E"/>
                </a:solidFill>
              </a:rPr>
            </a:br>
            <a:r>
              <a:rPr sz="2200" b="1" i="0" dirty="0">
                <a:solidFill>
                  <a:srgbClr val="1A1A2E"/>
                </a:solidFill>
              </a:rPr>
              <a:t> LLM </a:t>
            </a:r>
            <a:r>
              <a:rPr sz="2200" b="1" i="0" dirty="0" err="1">
                <a:solidFill>
                  <a:srgbClr val="1A1A2E"/>
                </a:solidFill>
              </a:rPr>
              <a:t>のキャリブレーション性能を向上させられるか</a:t>
            </a:r>
            <a:r>
              <a:rPr sz="2200" b="1" i="0" dirty="0">
                <a:solidFill>
                  <a:srgbClr val="1A1A2E"/>
                </a:solidFill>
              </a:rPr>
              <a:t>？</a:t>
            </a:r>
          </a:p>
        </p:txBody>
      </p:sp>
      <p:sp>
        <p:nvSpPr>
          <p:cNvPr id="8" name="TextBox 7"/>
          <p:cNvSpPr txBox="1"/>
          <p:nvPr/>
        </p:nvSpPr>
        <p:spPr>
          <a:xfrm>
            <a:off x="365760" y="2286000"/>
            <a:ext cx="2743200" cy="430887"/>
          </a:xfrm>
          <a:prstGeom prst="rect">
            <a:avLst/>
          </a:prstGeom>
          <a:noFill/>
        </p:spPr>
        <p:txBody>
          <a:bodyPr wrap="square">
            <a:spAutoFit/>
          </a:bodyPr>
          <a:lstStyle/>
          <a:p>
            <a:pPr algn="l"/>
            <a:r>
              <a:rPr sz="2200" b="1" i="0" dirty="0" err="1">
                <a:solidFill>
                  <a:srgbClr val="1A56AA"/>
                </a:solidFill>
              </a:rPr>
              <a:t>サブRQ</a:t>
            </a:r>
            <a:endParaRPr sz="2200" b="1" i="0" dirty="0">
              <a:solidFill>
                <a:srgbClr val="1A56AA"/>
              </a:solidFill>
            </a:endParaRPr>
          </a:p>
        </p:txBody>
      </p:sp>
      <p:sp>
        <p:nvSpPr>
          <p:cNvPr id="9" name="Rectangle 8"/>
          <p:cNvSpPr/>
          <p:nvPr/>
        </p:nvSpPr>
        <p:spPr>
          <a:xfrm>
            <a:off x="365760" y="2743200"/>
            <a:ext cx="914400" cy="65836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2873057"/>
            <a:ext cx="914400" cy="594360"/>
          </a:xfrm>
          <a:prstGeom prst="rect">
            <a:avLst/>
          </a:prstGeom>
          <a:noFill/>
        </p:spPr>
        <p:txBody>
          <a:bodyPr wrap="square">
            <a:spAutoFit/>
          </a:bodyPr>
          <a:lstStyle/>
          <a:p>
            <a:pPr algn="ctr"/>
            <a:r>
              <a:rPr sz="1800" b="1" i="0" dirty="0">
                <a:solidFill>
                  <a:srgbClr val="FFFFFF"/>
                </a:solidFill>
              </a:rPr>
              <a:t>RQ1</a:t>
            </a:r>
          </a:p>
        </p:txBody>
      </p:sp>
      <p:sp>
        <p:nvSpPr>
          <p:cNvPr id="11" name="Rectangle 10"/>
          <p:cNvSpPr/>
          <p:nvPr/>
        </p:nvSpPr>
        <p:spPr>
          <a:xfrm>
            <a:off x="1417320" y="2743200"/>
            <a:ext cx="173736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554480" y="2901394"/>
            <a:ext cx="1645920" cy="594360"/>
          </a:xfrm>
          <a:prstGeom prst="rect">
            <a:avLst/>
          </a:prstGeom>
          <a:noFill/>
        </p:spPr>
        <p:txBody>
          <a:bodyPr wrap="square">
            <a:spAutoFit/>
          </a:bodyPr>
          <a:lstStyle/>
          <a:p>
            <a:pPr algn="l"/>
            <a:r>
              <a:rPr sz="1800" b="1" i="0" dirty="0" err="1">
                <a:solidFill>
                  <a:srgbClr val="1A56AA"/>
                </a:solidFill>
              </a:rPr>
              <a:t>モデル比較</a:t>
            </a:r>
            <a:endParaRPr sz="1800" b="1" i="0" dirty="0">
              <a:solidFill>
                <a:srgbClr val="1A56AA"/>
              </a:solidFill>
            </a:endParaRPr>
          </a:p>
        </p:txBody>
      </p:sp>
      <p:sp>
        <p:nvSpPr>
          <p:cNvPr id="13" name="TextBox 12"/>
          <p:cNvSpPr txBox="1"/>
          <p:nvPr/>
        </p:nvSpPr>
        <p:spPr>
          <a:xfrm>
            <a:off x="3291840" y="2866755"/>
            <a:ext cx="8686800" cy="594360"/>
          </a:xfrm>
          <a:prstGeom prst="rect">
            <a:avLst/>
          </a:prstGeom>
          <a:noFill/>
        </p:spPr>
        <p:txBody>
          <a:bodyPr wrap="square">
            <a:spAutoFit/>
          </a:bodyPr>
          <a:lstStyle/>
          <a:p>
            <a:pPr algn="l"/>
            <a:r>
              <a:rPr sz="2000" b="0" i="0" dirty="0">
                <a:solidFill>
                  <a:srgbClr val="1A1A2E"/>
                </a:solidFill>
              </a:rPr>
              <a:t>GPT / Claude / Gemini / Swallow </a:t>
            </a:r>
            <a:r>
              <a:rPr sz="2000" b="0" i="0" dirty="0" err="1">
                <a:solidFill>
                  <a:srgbClr val="1A1A2E"/>
                </a:solidFill>
              </a:rPr>
              <a:t>等でキャリブレーション性能に差はあるか</a:t>
            </a:r>
            <a:endParaRPr sz="2000" b="0" i="0" dirty="0">
              <a:solidFill>
                <a:srgbClr val="1A1A2E"/>
              </a:solidFill>
            </a:endParaRPr>
          </a:p>
        </p:txBody>
      </p:sp>
      <p:sp>
        <p:nvSpPr>
          <p:cNvPr id="14" name="Rectangle 13"/>
          <p:cNvSpPr/>
          <p:nvPr/>
        </p:nvSpPr>
        <p:spPr>
          <a:xfrm>
            <a:off x="365760" y="3493008"/>
            <a:ext cx="914400" cy="65836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3630168"/>
            <a:ext cx="914400" cy="594360"/>
          </a:xfrm>
          <a:prstGeom prst="rect">
            <a:avLst/>
          </a:prstGeom>
          <a:noFill/>
        </p:spPr>
        <p:txBody>
          <a:bodyPr wrap="square">
            <a:spAutoFit/>
          </a:bodyPr>
          <a:lstStyle/>
          <a:p>
            <a:pPr algn="ctr"/>
            <a:r>
              <a:rPr sz="1800" b="1" i="0" dirty="0">
                <a:solidFill>
                  <a:srgbClr val="FFFFFF"/>
                </a:solidFill>
              </a:rPr>
              <a:t>RQ2</a:t>
            </a:r>
          </a:p>
        </p:txBody>
      </p:sp>
      <p:sp>
        <p:nvSpPr>
          <p:cNvPr id="16" name="Rectangle 15"/>
          <p:cNvSpPr/>
          <p:nvPr/>
        </p:nvSpPr>
        <p:spPr>
          <a:xfrm>
            <a:off x="1417320" y="3493008"/>
            <a:ext cx="173736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54480" y="3643129"/>
            <a:ext cx="1645920" cy="594360"/>
          </a:xfrm>
          <a:prstGeom prst="rect">
            <a:avLst/>
          </a:prstGeom>
          <a:noFill/>
        </p:spPr>
        <p:txBody>
          <a:bodyPr wrap="square">
            <a:spAutoFit/>
          </a:bodyPr>
          <a:lstStyle/>
          <a:p>
            <a:pPr algn="l"/>
            <a:r>
              <a:rPr sz="1800" b="1" i="0">
                <a:solidFill>
                  <a:srgbClr val="1A56AA"/>
                </a:solidFill>
              </a:rPr>
              <a:t>タスク比較</a:t>
            </a:r>
          </a:p>
        </p:txBody>
      </p:sp>
      <p:sp>
        <p:nvSpPr>
          <p:cNvPr id="18" name="TextBox 17"/>
          <p:cNvSpPr txBox="1"/>
          <p:nvPr/>
        </p:nvSpPr>
        <p:spPr>
          <a:xfrm>
            <a:off x="3291840" y="3643129"/>
            <a:ext cx="8686800" cy="594360"/>
          </a:xfrm>
          <a:prstGeom prst="rect">
            <a:avLst/>
          </a:prstGeom>
          <a:noFill/>
        </p:spPr>
        <p:txBody>
          <a:bodyPr wrap="square">
            <a:spAutoFit/>
          </a:bodyPr>
          <a:lstStyle/>
          <a:p>
            <a:pPr algn="l"/>
            <a:r>
              <a:rPr sz="2000" b="0" i="0" dirty="0" err="1">
                <a:solidFill>
                  <a:srgbClr val="1A1A2E"/>
                </a:solidFill>
              </a:rPr>
              <a:t>数学</a:t>
            </a:r>
            <a:r>
              <a:rPr sz="2000" b="0" i="0" dirty="0">
                <a:solidFill>
                  <a:srgbClr val="1A1A2E"/>
                </a:solidFill>
              </a:rPr>
              <a:t> / </a:t>
            </a:r>
            <a:r>
              <a:rPr sz="2000" b="0" i="0" dirty="0" err="1">
                <a:solidFill>
                  <a:srgbClr val="1A1A2E"/>
                </a:solidFill>
              </a:rPr>
              <a:t>常識</a:t>
            </a:r>
            <a:r>
              <a:rPr sz="2000" b="0" i="0" dirty="0">
                <a:solidFill>
                  <a:srgbClr val="1A1A2E"/>
                </a:solidFill>
              </a:rPr>
              <a:t> / </a:t>
            </a:r>
            <a:r>
              <a:rPr sz="2000" b="0" i="0" dirty="0" err="1">
                <a:solidFill>
                  <a:srgbClr val="1A1A2E"/>
                </a:solidFill>
              </a:rPr>
              <a:t>知識</a:t>
            </a:r>
            <a:r>
              <a:rPr sz="2000" b="0" i="0" dirty="0">
                <a:solidFill>
                  <a:srgbClr val="1A1A2E"/>
                </a:solidFill>
              </a:rPr>
              <a:t> / </a:t>
            </a:r>
            <a:r>
              <a:rPr sz="2000" b="0" i="0" dirty="0" err="1">
                <a:solidFill>
                  <a:srgbClr val="1A1A2E"/>
                </a:solidFill>
              </a:rPr>
              <a:t>翻訳でドメインによって性能は変化するか</a:t>
            </a:r>
            <a:endParaRPr sz="2000" b="0" i="0" dirty="0">
              <a:solidFill>
                <a:srgbClr val="1A1A2E"/>
              </a:solidFill>
            </a:endParaRPr>
          </a:p>
        </p:txBody>
      </p:sp>
      <p:sp>
        <p:nvSpPr>
          <p:cNvPr id="19" name="Rectangle 18"/>
          <p:cNvSpPr/>
          <p:nvPr/>
        </p:nvSpPr>
        <p:spPr>
          <a:xfrm>
            <a:off x="365760" y="4242816"/>
            <a:ext cx="914400" cy="65836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4382365"/>
            <a:ext cx="914400" cy="594360"/>
          </a:xfrm>
          <a:prstGeom prst="rect">
            <a:avLst/>
          </a:prstGeom>
          <a:noFill/>
        </p:spPr>
        <p:txBody>
          <a:bodyPr wrap="square">
            <a:spAutoFit/>
          </a:bodyPr>
          <a:lstStyle/>
          <a:p>
            <a:pPr algn="ctr"/>
            <a:r>
              <a:rPr sz="1800" b="1" i="0" dirty="0">
                <a:solidFill>
                  <a:srgbClr val="FFFFFF"/>
                </a:solidFill>
              </a:rPr>
              <a:t>RQ3</a:t>
            </a:r>
          </a:p>
        </p:txBody>
      </p:sp>
      <p:sp>
        <p:nvSpPr>
          <p:cNvPr id="21" name="Rectangle 20"/>
          <p:cNvSpPr/>
          <p:nvPr/>
        </p:nvSpPr>
        <p:spPr>
          <a:xfrm>
            <a:off x="1417320" y="4242816"/>
            <a:ext cx="173736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71600" y="4392906"/>
            <a:ext cx="1828800" cy="369332"/>
          </a:xfrm>
          <a:prstGeom prst="rect">
            <a:avLst/>
          </a:prstGeom>
          <a:noFill/>
        </p:spPr>
        <p:txBody>
          <a:bodyPr wrap="square">
            <a:spAutoFit/>
          </a:bodyPr>
          <a:lstStyle/>
          <a:p>
            <a:pPr algn="l"/>
            <a:r>
              <a:rPr sz="1800" b="1" i="0" dirty="0" err="1">
                <a:solidFill>
                  <a:srgbClr val="1A56AA"/>
                </a:solidFill>
              </a:rPr>
              <a:t>プロンプト比較</a:t>
            </a:r>
            <a:endParaRPr sz="1800" b="1" i="0" dirty="0">
              <a:solidFill>
                <a:srgbClr val="1A56AA"/>
              </a:solidFill>
            </a:endParaRPr>
          </a:p>
        </p:txBody>
      </p:sp>
      <p:sp>
        <p:nvSpPr>
          <p:cNvPr id="23" name="TextBox 22"/>
          <p:cNvSpPr txBox="1"/>
          <p:nvPr/>
        </p:nvSpPr>
        <p:spPr>
          <a:xfrm>
            <a:off x="3291840" y="4384864"/>
            <a:ext cx="8686800" cy="594360"/>
          </a:xfrm>
          <a:prstGeom prst="rect">
            <a:avLst/>
          </a:prstGeom>
          <a:noFill/>
        </p:spPr>
        <p:txBody>
          <a:bodyPr wrap="square">
            <a:spAutoFit/>
          </a:bodyPr>
          <a:lstStyle/>
          <a:p>
            <a:pPr algn="l"/>
            <a:r>
              <a:rPr sz="2000" b="0" i="0" dirty="0" err="1">
                <a:solidFill>
                  <a:srgbClr val="1A1A2E"/>
                </a:solidFill>
              </a:rPr>
              <a:t>確信度の引き出し方（表現形式）によって結果は変わるか</a:t>
            </a:r>
            <a:endParaRPr sz="2000" b="0" i="0" dirty="0">
              <a:solidFill>
                <a:srgbClr val="1A1A2E"/>
              </a:solidFill>
            </a:endParaRPr>
          </a:p>
        </p:txBody>
      </p:sp>
      <p:sp>
        <p:nvSpPr>
          <p:cNvPr id="24" name="Rectangle 23"/>
          <p:cNvSpPr/>
          <p:nvPr/>
        </p:nvSpPr>
        <p:spPr>
          <a:xfrm>
            <a:off x="365760" y="4992624"/>
            <a:ext cx="914400" cy="65836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5129729"/>
            <a:ext cx="914400" cy="594360"/>
          </a:xfrm>
          <a:prstGeom prst="rect">
            <a:avLst/>
          </a:prstGeom>
          <a:noFill/>
        </p:spPr>
        <p:txBody>
          <a:bodyPr wrap="square">
            <a:spAutoFit/>
          </a:bodyPr>
          <a:lstStyle/>
          <a:p>
            <a:pPr algn="ctr"/>
            <a:r>
              <a:rPr sz="1800" b="1" i="0" dirty="0">
                <a:solidFill>
                  <a:srgbClr val="FFFFFF"/>
                </a:solidFill>
              </a:rPr>
              <a:t>RQ4</a:t>
            </a:r>
          </a:p>
        </p:txBody>
      </p:sp>
      <p:sp>
        <p:nvSpPr>
          <p:cNvPr id="26" name="Rectangle 25"/>
          <p:cNvSpPr/>
          <p:nvPr/>
        </p:nvSpPr>
        <p:spPr>
          <a:xfrm>
            <a:off x="1417320" y="4992624"/>
            <a:ext cx="1737360" cy="6583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645920" y="5143507"/>
            <a:ext cx="1645920" cy="594360"/>
          </a:xfrm>
          <a:prstGeom prst="rect">
            <a:avLst/>
          </a:prstGeom>
          <a:noFill/>
        </p:spPr>
        <p:txBody>
          <a:bodyPr wrap="square">
            <a:spAutoFit/>
          </a:bodyPr>
          <a:lstStyle/>
          <a:p>
            <a:pPr algn="l"/>
            <a:r>
              <a:rPr sz="1800" b="1" i="0" dirty="0" err="1">
                <a:solidFill>
                  <a:srgbClr val="1A56AA"/>
                </a:solidFill>
              </a:rPr>
              <a:t>言語比較</a:t>
            </a:r>
            <a:endParaRPr sz="1800" b="1" i="0" dirty="0">
              <a:solidFill>
                <a:srgbClr val="1A56AA"/>
              </a:solidFill>
            </a:endParaRPr>
          </a:p>
        </p:txBody>
      </p:sp>
      <p:sp>
        <p:nvSpPr>
          <p:cNvPr id="28" name="TextBox 27"/>
          <p:cNvSpPr txBox="1"/>
          <p:nvPr/>
        </p:nvSpPr>
        <p:spPr>
          <a:xfrm>
            <a:off x="3291840" y="5152651"/>
            <a:ext cx="8686800" cy="594360"/>
          </a:xfrm>
          <a:prstGeom prst="rect">
            <a:avLst/>
          </a:prstGeom>
          <a:noFill/>
        </p:spPr>
        <p:txBody>
          <a:bodyPr wrap="square">
            <a:spAutoFit/>
          </a:bodyPr>
          <a:lstStyle/>
          <a:p>
            <a:pPr algn="l"/>
            <a:r>
              <a:rPr sz="2000" b="0" i="0" dirty="0" err="1">
                <a:solidFill>
                  <a:srgbClr val="1A1A2E"/>
                </a:solidFill>
              </a:rPr>
              <a:t>同一タスクを日本語</a:t>
            </a:r>
            <a:r>
              <a:rPr sz="2000" b="0" i="0" dirty="0">
                <a:solidFill>
                  <a:srgbClr val="1A1A2E"/>
                </a:solidFill>
              </a:rPr>
              <a:t> vs </a:t>
            </a:r>
            <a:r>
              <a:rPr sz="2000" b="0" i="0" dirty="0" err="1">
                <a:solidFill>
                  <a:srgbClr val="1A1A2E"/>
                </a:solidFill>
              </a:rPr>
              <a:t>英語で与えた場合に差はあるか</a:t>
            </a:r>
            <a:endParaRPr sz="2000" b="0" i="0" dirty="0">
              <a:solidFill>
                <a:srgbClr val="1A1A2E"/>
              </a:solidFill>
            </a:endParaRPr>
          </a:p>
        </p:txBody>
      </p:sp>
      <p:sp>
        <p:nvSpPr>
          <p:cNvPr id="29" name="Rectangle 28"/>
          <p:cNvSpPr/>
          <p:nvPr/>
        </p:nvSpPr>
        <p:spPr>
          <a:xfrm>
            <a:off x="365760" y="5833872"/>
            <a:ext cx="11457432" cy="56692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58825" y="5931106"/>
            <a:ext cx="11430000" cy="384721"/>
          </a:xfrm>
          <a:prstGeom prst="rect">
            <a:avLst/>
          </a:prstGeom>
          <a:noFill/>
        </p:spPr>
        <p:txBody>
          <a:bodyPr wrap="square">
            <a:spAutoFit/>
          </a:bodyPr>
          <a:lstStyle/>
          <a:p>
            <a:pPr algn="l"/>
            <a:r>
              <a:rPr sz="1900" b="1" i="0" dirty="0" err="1">
                <a:solidFill>
                  <a:srgbClr val="FFFFFF"/>
                </a:solidFill>
              </a:rPr>
              <a:t>本研究：Tian</a:t>
            </a:r>
            <a:r>
              <a:rPr sz="1900" b="1" i="0" dirty="0">
                <a:solidFill>
                  <a:srgbClr val="FFFFFF"/>
                </a:solidFill>
              </a:rPr>
              <a:t> 2023・Xiong 2024 </a:t>
            </a:r>
            <a:r>
              <a:rPr sz="1900" b="1" i="0" dirty="0" err="1">
                <a:solidFill>
                  <a:srgbClr val="FFFFFF"/>
                </a:solidFill>
              </a:rPr>
              <a:t>の成果を日本語環境で再検証</a:t>
            </a:r>
            <a:r>
              <a:rPr sz="1900" b="1" i="0" dirty="0">
                <a:solidFill>
                  <a:srgbClr val="FFFFFF"/>
                </a:solidFill>
              </a:rPr>
              <a:t> → </a:t>
            </a:r>
            <a:r>
              <a:rPr sz="1900" b="1" i="0" dirty="0" err="1">
                <a:solidFill>
                  <a:srgbClr val="FFFFFF"/>
                </a:solidFill>
              </a:rPr>
              <a:t>英語と同様の改善が得られるか</a:t>
            </a:r>
            <a:r>
              <a:rPr sz="1900" b="1" i="0" dirty="0">
                <a:solidFill>
                  <a:srgbClr val="FFFFFF"/>
                </a:solidFil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今回の進捗サマリー（4項目）</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8 / 26</a:t>
            </a:r>
          </a:p>
        </p:txBody>
      </p:sp>
      <p:sp>
        <p:nvSpPr>
          <p:cNvPr id="5" name="Rectangle 4"/>
          <p:cNvSpPr/>
          <p:nvPr/>
        </p:nvSpPr>
        <p:spPr>
          <a:xfrm>
            <a:off x="365760" y="1005840"/>
            <a:ext cx="640080" cy="109728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303020"/>
            <a:ext cx="640080" cy="914400"/>
          </a:xfrm>
          <a:prstGeom prst="rect">
            <a:avLst/>
          </a:prstGeom>
          <a:noFill/>
        </p:spPr>
        <p:txBody>
          <a:bodyPr wrap="square">
            <a:spAutoFit/>
          </a:bodyPr>
          <a:lstStyle/>
          <a:p>
            <a:pPr algn="ctr"/>
            <a:r>
              <a:rPr sz="2600" b="1" i="0" dirty="0">
                <a:solidFill>
                  <a:srgbClr val="FFFFFF"/>
                </a:solidFill>
              </a:rPr>
              <a:t>①</a:t>
            </a:r>
          </a:p>
        </p:txBody>
      </p:sp>
      <p:sp>
        <p:nvSpPr>
          <p:cNvPr id="7" name="Rectangle 6"/>
          <p:cNvSpPr/>
          <p:nvPr/>
        </p:nvSpPr>
        <p:spPr>
          <a:xfrm>
            <a:off x="1143000" y="1005840"/>
            <a:ext cx="2194560" cy="10972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88720" y="1355674"/>
            <a:ext cx="2103120" cy="914400"/>
          </a:xfrm>
          <a:prstGeom prst="rect">
            <a:avLst/>
          </a:prstGeom>
          <a:noFill/>
        </p:spPr>
        <p:txBody>
          <a:bodyPr wrap="square">
            <a:spAutoFit/>
          </a:bodyPr>
          <a:lstStyle/>
          <a:p>
            <a:pPr algn="ctr"/>
            <a:r>
              <a:rPr sz="2200" b="1" i="0" dirty="0" err="1">
                <a:solidFill>
                  <a:srgbClr val="1A56AA"/>
                </a:solidFill>
              </a:rPr>
              <a:t>評価指標</a:t>
            </a:r>
            <a:endParaRPr sz="2200" b="1" i="0" dirty="0">
              <a:solidFill>
                <a:srgbClr val="1A56AA"/>
              </a:solidFill>
            </a:endParaRPr>
          </a:p>
        </p:txBody>
      </p:sp>
      <p:sp>
        <p:nvSpPr>
          <p:cNvPr id="9" name="TextBox 8"/>
          <p:cNvSpPr txBox="1"/>
          <p:nvPr/>
        </p:nvSpPr>
        <p:spPr>
          <a:xfrm>
            <a:off x="3520440" y="1355674"/>
            <a:ext cx="8412480" cy="914400"/>
          </a:xfrm>
          <a:prstGeom prst="rect">
            <a:avLst/>
          </a:prstGeom>
          <a:noFill/>
        </p:spPr>
        <p:txBody>
          <a:bodyPr wrap="square">
            <a:spAutoFit/>
          </a:bodyPr>
          <a:lstStyle/>
          <a:p>
            <a:pPr algn="l"/>
            <a:r>
              <a:rPr sz="2300" b="0" i="0" dirty="0" err="1">
                <a:solidFill>
                  <a:srgbClr val="1A1A2E"/>
                </a:solidFill>
              </a:rPr>
              <a:t>ECE（主</a:t>
            </a:r>
            <a:r>
              <a:rPr sz="2300" b="0" i="0" dirty="0">
                <a:solidFill>
                  <a:srgbClr val="1A1A2E"/>
                </a:solidFill>
              </a:rPr>
              <a:t>）＋ Brier </a:t>
            </a:r>
            <a:r>
              <a:rPr sz="2300" b="0" i="0" dirty="0" err="1">
                <a:solidFill>
                  <a:srgbClr val="1A1A2E"/>
                </a:solidFill>
              </a:rPr>
              <a:t>Score（副</a:t>
            </a:r>
            <a:r>
              <a:rPr sz="2300" b="0" i="0" dirty="0">
                <a:solidFill>
                  <a:srgbClr val="1A1A2E"/>
                </a:solidFill>
              </a:rPr>
              <a:t>）＋ </a:t>
            </a:r>
            <a:r>
              <a:rPr sz="2300" b="0" i="0" dirty="0" err="1">
                <a:solidFill>
                  <a:srgbClr val="1A1A2E"/>
                </a:solidFill>
              </a:rPr>
              <a:t>AUROC（補助）に決定</a:t>
            </a:r>
            <a:endParaRPr sz="2300" b="0" i="0" dirty="0">
              <a:solidFill>
                <a:srgbClr val="1A1A2E"/>
              </a:solidFill>
            </a:endParaRPr>
          </a:p>
        </p:txBody>
      </p:sp>
      <p:sp>
        <p:nvSpPr>
          <p:cNvPr id="10" name="Rectangle 9"/>
          <p:cNvSpPr/>
          <p:nvPr/>
        </p:nvSpPr>
        <p:spPr>
          <a:xfrm>
            <a:off x="365760" y="2331720"/>
            <a:ext cx="640080" cy="109728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2628900"/>
            <a:ext cx="640080" cy="914400"/>
          </a:xfrm>
          <a:prstGeom prst="rect">
            <a:avLst/>
          </a:prstGeom>
          <a:noFill/>
        </p:spPr>
        <p:txBody>
          <a:bodyPr wrap="square">
            <a:spAutoFit/>
          </a:bodyPr>
          <a:lstStyle/>
          <a:p>
            <a:pPr algn="ctr"/>
            <a:r>
              <a:rPr sz="2600" b="1" i="0" dirty="0">
                <a:solidFill>
                  <a:srgbClr val="FFFFFF"/>
                </a:solidFill>
              </a:rPr>
              <a:t>②</a:t>
            </a:r>
          </a:p>
        </p:txBody>
      </p:sp>
      <p:sp>
        <p:nvSpPr>
          <p:cNvPr id="12" name="Rectangle 11"/>
          <p:cNvSpPr/>
          <p:nvPr/>
        </p:nvSpPr>
        <p:spPr>
          <a:xfrm>
            <a:off x="1143000" y="2331720"/>
            <a:ext cx="2194560" cy="10972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88720" y="2654300"/>
            <a:ext cx="2103120" cy="914400"/>
          </a:xfrm>
          <a:prstGeom prst="rect">
            <a:avLst/>
          </a:prstGeom>
          <a:noFill/>
        </p:spPr>
        <p:txBody>
          <a:bodyPr wrap="square">
            <a:spAutoFit/>
          </a:bodyPr>
          <a:lstStyle/>
          <a:p>
            <a:pPr algn="ctr"/>
            <a:r>
              <a:rPr sz="2200" b="1" i="0" dirty="0" err="1">
                <a:solidFill>
                  <a:srgbClr val="1A56AA"/>
                </a:solidFill>
              </a:rPr>
              <a:t>データセット</a:t>
            </a:r>
            <a:endParaRPr sz="2200" b="1" i="0" dirty="0">
              <a:solidFill>
                <a:srgbClr val="1A56AA"/>
              </a:solidFill>
            </a:endParaRPr>
          </a:p>
        </p:txBody>
      </p:sp>
      <p:sp>
        <p:nvSpPr>
          <p:cNvPr id="14" name="TextBox 13"/>
          <p:cNvSpPr txBox="1"/>
          <p:nvPr/>
        </p:nvSpPr>
        <p:spPr>
          <a:xfrm>
            <a:off x="3520440" y="2651966"/>
            <a:ext cx="8412480" cy="800219"/>
          </a:xfrm>
          <a:prstGeom prst="rect">
            <a:avLst/>
          </a:prstGeom>
          <a:noFill/>
        </p:spPr>
        <p:txBody>
          <a:bodyPr wrap="square">
            <a:spAutoFit/>
          </a:bodyPr>
          <a:lstStyle/>
          <a:p>
            <a:pPr algn="l"/>
            <a:r>
              <a:rPr sz="2300" b="0" i="0" strike="sngStrike" dirty="0">
                <a:solidFill>
                  <a:srgbClr val="1A1A2E"/>
                </a:solidFill>
              </a:rPr>
              <a:t>4ドメイン × 250問 = 計 1,000問 </a:t>
            </a:r>
            <a:r>
              <a:rPr sz="2300" b="0" i="0" strike="sngStrike" dirty="0" err="1">
                <a:solidFill>
                  <a:srgbClr val="1A1A2E"/>
                </a:solidFill>
              </a:rPr>
              <a:t>に確定</a:t>
            </a:r>
            <a:br>
              <a:rPr lang="en-US" sz="2300" b="0" i="0" dirty="0">
                <a:solidFill>
                  <a:srgbClr val="1A1A2E"/>
                </a:solidFill>
              </a:rPr>
            </a:br>
            <a:r>
              <a:rPr lang="ja-JP" altLang="en-US" sz="2300" b="0" i="0" dirty="0">
                <a:solidFill>
                  <a:srgbClr val="1A1A2E"/>
                </a:solidFill>
              </a:rPr>
              <a:t>→このスライド作りながら少ないなと思ったので再検討</a:t>
            </a:r>
            <a:endParaRPr sz="2300" b="0" i="0" dirty="0">
              <a:solidFill>
                <a:srgbClr val="1A1A2E"/>
              </a:solidFill>
            </a:endParaRPr>
          </a:p>
        </p:txBody>
      </p:sp>
      <p:sp>
        <p:nvSpPr>
          <p:cNvPr id="15" name="Rectangle 14"/>
          <p:cNvSpPr/>
          <p:nvPr/>
        </p:nvSpPr>
        <p:spPr>
          <a:xfrm>
            <a:off x="365760" y="3657600"/>
            <a:ext cx="640080" cy="109728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3943110"/>
            <a:ext cx="640080" cy="914400"/>
          </a:xfrm>
          <a:prstGeom prst="rect">
            <a:avLst/>
          </a:prstGeom>
          <a:noFill/>
        </p:spPr>
        <p:txBody>
          <a:bodyPr wrap="square">
            <a:spAutoFit/>
          </a:bodyPr>
          <a:lstStyle/>
          <a:p>
            <a:pPr algn="ctr"/>
            <a:r>
              <a:rPr sz="2600" b="1" i="0" dirty="0">
                <a:solidFill>
                  <a:srgbClr val="FFFFFF"/>
                </a:solidFill>
              </a:rPr>
              <a:t>③</a:t>
            </a:r>
          </a:p>
        </p:txBody>
      </p:sp>
      <p:sp>
        <p:nvSpPr>
          <p:cNvPr id="17" name="Rectangle 16"/>
          <p:cNvSpPr/>
          <p:nvPr/>
        </p:nvSpPr>
        <p:spPr>
          <a:xfrm>
            <a:off x="1143000" y="3657600"/>
            <a:ext cx="2194560" cy="10972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88720" y="3980180"/>
            <a:ext cx="2103120" cy="914400"/>
          </a:xfrm>
          <a:prstGeom prst="rect">
            <a:avLst/>
          </a:prstGeom>
          <a:noFill/>
        </p:spPr>
        <p:txBody>
          <a:bodyPr wrap="square">
            <a:spAutoFit/>
          </a:bodyPr>
          <a:lstStyle/>
          <a:p>
            <a:pPr algn="ctr"/>
            <a:r>
              <a:rPr sz="2200" b="1" i="0" dirty="0" err="1">
                <a:solidFill>
                  <a:srgbClr val="1A56AA"/>
                </a:solidFill>
              </a:rPr>
              <a:t>正答判定</a:t>
            </a:r>
            <a:endParaRPr sz="2200" b="1" i="0" dirty="0">
              <a:solidFill>
                <a:srgbClr val="1A56AA"/>
              </a:solidFill>
            </a:endParaRPr>
          </a:p>
        </p:txBody>
      </p:sp>
      <p:sp>
        <p:nvSpPr>
          <p:cNvPr id="19" name="TextBox 18"/>
          <p:cNvSpPr txBox="1"/>
          <p:nvPr/>
        </p:nvSpPr>
        <p:spPr>
          <a:xfrm>
            <a:off x="3520440" y="3980180"/>
            <a:ext cx="8412480" cy="914400"/>
          </a:xfrm>
          <a:prstGeom prst="rect">
            <a:avLst/>
          </a:prstGeom>
          <a:noFill/>
        </p:spPr>
        <p:txBody>
          <a:bodyPr wrap="square">
            <a:spAutoFit/>
          </a:bodyPr>
          <a:lstStyle/>
          <a:p>
            <a:pPr algn="l"/>
            <a:r>
              <a:rPr sz="2300" b="0" i="0" dirty="0" err="1">
                <a:solidFill>
                  <a:srgbClr val="1A1A2E"/>
                </a:solidFill>
              </a:rPr>
              <a:t>タスク別に最適手法を選定（翻訳のみ</a:t>
            </a:r>
            <a:r>
              <a:rPr sz="2300" b="0" i="0" dirty="0">
                <a:solidFill>
                  <a:srgbClr val="1A1A2E"/>
                </a:solidFill>
              </a:rPr>
              <a:t> COMET </a:t>
            </a:r>
            <a:r>
              <a:rPr sz="2300" b="0" i="0" dirty="0" err="1">
                <a:solidFill>
                  <a:srgbClr val="1A1A2E"/>
                </a:solidFill>
              </a:rPr>
              <a:t>閾値</a:t>
            </a:r>
            <a:r>
              <a:rPr sz="2300" b="0" i="0" dirty="0">
                <a:solidFill>
                  <a:srgbClr val="1A1A2E"/>
                </a:solidFill>
              </a:rPr>
              <a:t>）</a:t>
            </a:r>
          </a:p>
        </p:txBody>
      </p:sp>
      <p:sp>
        <p:nvSpPr>
          <p:cNvPr id="20" name="Rectangle 19"/>
          <p:cNvSpPr/>
          <p:nvPr/>
        </p:nvSpPr>
        <p:spPr>
          <a:xfrm>
            <a:off x="365760" y="4983480"/>
            <a:ext cx="640080" cy="109728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5292330"/>
            <a:ext cx="640080" cy="914400"/>
          </a:xfrm>
          <a:prstGeom prst="rect">
            <a:avLst/>
          </a:prstGeom>
          <a:noFill/>
        </p:spPr>
        <p:txBody>
          <a:bodyPr wrap="square">
            <a:spAutoFit/>
          </a:bodyPr>
          <a:lstStyle/>
          <a:p>
            <a:pPr algn="ctr"/>
            <a:r>
              <a:rPr sz="2600" b="1" i="0" dirty="0">
                <a:solidFill>
                  <a:srgbClr val="FFFFFF"/>
                </a:solidFill>
              </a:rPr>
              <a:t>④</a:t>
            </a:r>
          </a:p>
        </p:txBody>
      </p:sp>
      <p:sp>
        <p:nvSpPr>
          <p:cNvPr id="22" name="Rectangle 21"/>
          <p:cNvSpPr/>
          <p:nvPr/>
        </p:nvSpPr>
        <p:spPr>
          <a:xfrm>
            <a:off x="1143000" y="4983480"/>
            <a:ext cx="2194560" cy="10972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188720" y="5292330"/>
            <a:ext cx="2103120" cy="430887"/>
          </a:xfrm>
          <a:prstGeom prst="rect">
            <a:avLst/>
          </a:prstGeom>
          <a:noFill/>
        </p:spPr>
        <p:txBody>
          <a:bodyPr wrap="square">
            <a:spAutoFit/>
          </a:bodyPr>
          <a:lstStyle/>
          <a:p>
            <a:pPr algn="ctr"/>
            <a:r>
              <a:rPr sz="2200" b="1" i="0" strike="sngStrike" dirty="0" err="1">
                <a:solidFill>
                  <a:srgbClr val="1A56AA"/>
                </a:solidFill>
              </a:rPr>
              <a:t>プロンプト</a:t>
            </a:r>
            <a:endParaRPr sz="2200" b="1" i="0" strike="sngStrike" dirty="0">
              <a:solidFill>
                <a:srgbClr val="1A56AA"/>
              </a:solidFill>
            </a:endParaRPr>
          </a:p>
        </p:txBody>
      </p:sp>
      <p:sp>
        <p:nvSpPr>
          <p:cNvPr id="24" name="TextBox 23"/>
          <p:cNvSpPr txBox="1"/>
          <p:nvPr/>
        </p:nvSpPr>
        <p:spPr>
          <a:xfrm>
            <a:off x="3520440" y="5292330"/>
            <a:ext cx="8412480" cy="800219"/>
          </a:xfrm>
          <a:prstGeom prst="rect">
            <a:avLst/>
          </a:prstGeom>
          <a:noFill/>
        </p:spPr>
        <p:txBody>
          <a:bodyPr wrap="square">
            <a:spAutoFit/>
          </a:bodyPr>
          <a:lstStyle/>
          <a:p>
            <a:pPr algn="l"/>
            <a:r>
              <a:rPr sz="2300" b="0" i="0" strike="sngStrike" dirty="0">
                <a:solidFill>
                  <a:srgbClr val="1A1A2E"/>
                </a:solidFill>
              </a:rPr>
              <a:t>3条件（一段階数値 / </a:t>
            </a:r>
            <a:r>
              <a:rPr sz="2300" b="0" i="0" strike="sngStrike" dirty="0" err="1">
                <a:solidFill>
                  <a:srgbClr val="1A1A2E"/>
                </a:solidFill>
              </a:rPr>
              <a:t>二段階</a:t>
            </a:r>
            <a:r>
              <a:rPr sz="2300" b="0" i="0" strike="sngStrike" dirty="0">
                <a:solidFill>
                  <a:srgbClr val="1A1A2E"/>
                </a:solidFill>
              </a:rPr>
              <a:t> / </a:t>
            </a:r>
            <a:r>
              <a:rPr sz="2300" b="0" i="0" strike="sngStrike" dirty="0" err="1">
                <a:solidFill>
                  <a:srgbClr val="1A1A2E"/>
                </a:solidFill>
              </a:rPr>
              <a:t>言語表現）の設計完了</a:t>
            </a:r>
            <a:br>
              <a:rPr lang="en-US" sz="2300" b="0" i="0" strike="sngStrike" dirty="0">
                <a:solidFill>
                  <a:srgbClr val="1A1A2E"/>
                </a:solidFill>
              </a:rPr>
            </a:br>
            <a:r>
              <a:rPr lang="ja-JP" altLang="en-US" sz="2300" b="0" i="0" dirty="0">
                <a:solidFill>
                  <a:srgbClr val="1A1A2E"/>
                </a:solidFill>
              </a:rPr>
              <a:t>→次回言います！ごめんなさい！</a:t>
            </a:r>
            <a:endParaRPr sz="2300" b="0" i="0" dirty="0">
              <a:solidFill>
                <a:srgbClr val="1A1A2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進捗①：採用した評価指標（概要）</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10 / 26</a:t>
            </a:r>
          </a:p>
        </p:txBody>
      </p:sp>
      <p:sp>
        <p:nvSpPr>
          <p:cNvPr id="5" name="TextBox 4"/>
          <p:cNvSpPr txBox="1"/>
          <p:nvPr/>
        </p:nvSpPr>
        <p:spPr>
          <a:xfrm>
            <a:off x="9069859" y="635282"/>
            <a:ext cx="3000221" cy="338554"/>
          </a:xfrm>
          <a:prstGeom prst="rect">
            <a:avLst/>
          </a:prstGeom>
          <a:noFill/>
        </p:spPr>
        <p:txBody>
          <a:bodyPr wrap="square">
            <a:spAutoFit/>
          </a:bodyPr>
          <a:lstStyle/>
          <a:p>
            <a:pPr algn="l"/>
            <a:r>
              <a:rPr sz="1600" b="0" i="1" dirty="0">
                <a:solidFill>
                  <a:srgbClr val="555555"/>
                </a:solidFill>
              </a:rPr>
              <a:t>→ </a:t>
            </a:r>
            <a:r>
              <a:rPr sz="1600" b="0" i="1" dirty="0" err="1">
                <a:solidFill>
                  <a:srgbClr val="555555"/>
                </a:solidFill>
              </a:rPr>
              <a:t>詳細は次のスライドで説明</a:t>
            </a:r>
            <a:endParaRPr sz="1600" b="0" i="1" dirty="0">
              <a:solidFill>
                <a:srgbClr val="555555"/>
              </a:solidFill>
            </a:endParaRPr>
          </a:p>
        </p:txBody>
      </p:sp>
      <p:sp>
        <p:nvSpPr>
          <p:cNvPr id="6" name="Rectangle 5"/>
          <p:cNvSpPr/>
          <p:nvPr/>
        </p:nvSpPr>
        <p:spPr>
          <a:xfrm>
            <a:off x="365760" y="1005840"/>
            <a:ext cx="3657600" cy="82296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005840"/>
            <a:ext cx="3657600" cy="822960"/>
          </a:xfrm>
          <a:prstGeom prst="rect">
            <a:avLst/>
          </a:prstGeom>
          <a:noFill/>
        </p:spPr>
        <p:txBody>
          <a:bodyPr wrap="square">
            <a:spAutoFit/>
          </a:bodyPr>
          <a:lstStyle/>
          <a:p>
            <a:pPr algn="ctr"/>
            <a:r>
              <a:rPr sz="2200" b="1" i="0">
                <a:solidFill>
                  <a:srgbClr val="FFFFFF"/>
                </a:solidFill>
              </a:rPr>
              <a:t>ECE
（主指標）</a:t>
            </a:r>
          </a:p>
        </p:txBody>
      </p:sp>
      <p:sp>
        <p:nvSpPr>
          <p:cNvPr id="8" name="Rectangle 7"/>
          <p:cNvSpPr/>
          <p:nvPr/>
        </p:nvSpPr>
        <p:spPr>
          <a:xfrm>
            <a:off x="365760" y="1874519"/>
            <a:ext cx="3657600" cy="41148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920240"/>
            <a:ext cx="3474720" cy="777240"/>
          </a:xfrm>
          <a:prstGeom prst="rect">
            <a:avLst/>
          </a:prstGeom>
          <a:noFill/>
        </p:spPr>
        <p:txBody>
          <a:bodyPr wrap="square">
            <a:spAutoFit/>
          </a:bodyPr>
          <a:lstStyle/>
          <a:p>
            <a:pPr algn="l"/>
            <a:r>
              <a:rPr sz="1800" b="0" i="1">
                <a:solidFill>
                  <a:srgbClr val="555555"/>
                </a:solidFill>
              </a:rPr>
              <a:t>期待キャリブレーション誤差
Expected Calibration Error</a:t>
            </a:r>
          </a:p>
        </p:txBody>
      </p:sp>
      <p:sp>
        <p:nvSpPr>
          <p:cNvPr id="10" name="TextBox 9"/>
          <p:cNvSpPr txBox="1"/>
          <p:nvPr/>
        </p:nvSpPr>
        <p:spPr>
          <a:xfrm>
            <a:off x="457200" y="2743200"/>
            <a:ext cx="3474720" cy="548640"/>
          </a:xfrm>
          <a:prstGeom prst="rect">
            <a:avLst/>
          </a:prstGeom>
          <a:noFill/>
        </p:spPr>
        <p:txBody>
          <a:bodyPr wrap="square">
            <a:spAutoFit/>
          </a:bodyPr>
          <a:lstStyle/>
          <a:p>
            <a:pPr algn="l"/>
            <a:r>
              <a:rPr sz="1900" b="1" i="0">
                <a:solidFill>
                  <a:srgbClr val="1A1A2E"/>
                </a:solidFill>
              </a:rPr>
              <a:t>値: 0.0〜1.0（低いほど良）</a:t>
            </a:r>
          </a:p>
        </p:txBody>
      </p:sp>
      <p:sp>
        <p:nvSpPr>
          <p:cNvPr id="11" name="TextBox 10"/>
          <p:cNvSpPr txBox="1"/>
          <p:nvPr/>
        </p:nvSpPr>
        <p:spPr>
          <a:xfrm>
            <a:off x="365760" y="3337560"/>
            <a:ext cx="3566160" cy="1477328"/>
          </a:xfrm>
          <a:prstGeom prst="rect">
            <a:avLst/>
          </a:prstGeom>
          <a:noFill/>
        </p:spPr>
        <p:txBody>
          <a:bodyPr wrap="square">
            <a:spAutoFit/>
          </a:bodyPr>
          <a:lstStyle/>
          <a:p>
            <a:pPr algn="l"/>
            <a:r>
              <a:rPr sz="1800" b="0" i="0" dirty="0" err="1">
                <a:solidFill>
                  <a:srgbClr val="1A1A2E"/>
                </a:solidFill>
              </a:rPr>
              <a:t>先行研究</a:t>
            </a:r>
            <a:r>
              <a:rPr sz="1800" b="0" i="0" dirty="0">
                <a:solidFill>
                  <a:srgbClr val="1A1A2E"/>
                </a:solidFill>
              </a:rPr>
              <a:t> [3][4] </a:t>
            </a:r>
            <a:r>
              <a:rPr sz="1800" b="0" i="0" dirty="0" err="1">
                <a:solidFill>
                  <a:srgbClr val="1A1A2E"/>
                </a:solidFill>
              </a:rPr>
              <a:t>と完全に比較可能</a:t>
            </a:r>
            <a:r>
              <a:rPr lang="ja-JP" altLang="en-US" dirty="0">
                <a:solidFill>
                  <a:srgbClr val="1A1A2E"/>
                </a:solidFill>
              </a:rPr>
              <a:t>（</a:t>
            </a:r>
            <a:r>
              <a:rPr lang="ja-JP" altLang="en-US" sz="1800" b="0" i="0" dirty="0">
                <a:solidFill>
                  <a:srgbClr val="1A1A2E"/>
                </a:solidFill>
              </a:rPr>
              <a:t>正直一番重要</a:t>
            </a:r>
            <a:r>
              <a:rPr lang="ja-JP" altLang="en-US" dirty="0">
                <a:solidFill>
                  <a:srgbClr val="1A1A2E"/>
                </a:solidFill>
              </a:rPr>
              <a:t>）</a:t>
            </a:r>
            <a:endParaRPr lang="en-US" altLang="ja-JP" dirty="0">
              <a:solidFill>
                <a:srgbClr val="1A1A2E"/>
              </a:solidFill>
            </a:endParaRPr>
          </a:p>
          <a:p>
            <a:pPr algn="l"/>
            <a:endParaRPr lang="en-US" sz="1800" b="0" i="0" dirty="0">
              <a:solidFill>
                <a:srgbClr val="1A1A2E"/>
              </a:solidFill>
            </a:endParaRPr>
          </a:p>
          <a:p>
            <a:pPr algn="l"/>
            <a:r>
              <a:rPr sz="1800" b="0" i="0" dirty="0">
                <a:solidFill>
                  <a:srgbClr val="1A1A2E"/>
                </a:solidFill>
              </a:rPr>
              <a:t>「</a:t>
            </a:r>
            <a:r>
              <a:rPr sz="1800" b="0" i="0" dirty="0" err="1">
                <a:solidFill>
                  <a:srgbClr val="1A1A2E"/>
                </a:solidFill>
              </a:rPr>
              <a:t>確信度と正答率のズレ</a:t>
            </a:r>
            <a:r>
              <a:rPr sz="1800" b="0" i="0" dirty="0">
                <a:solidFill>
                  <a:srgbClr val="1A1A2E"/>
                </a:solidFill>
              </a:rPr>
              <a:t>」</a:t>
            </a:r>
            <a:br>
              <a:rPr lang="en-US" sz="1800" b="0" i="0" dirty="0">
                <a:solidFill>
                  <a:srgbClr val="1A1A2E"/>
                </a:solidFill>
              </a:rPr>
            </a:br>
            <a:r>
              <a:rPr sz="1800" b="0" i="0" dirty="0" err="1">
                <a:solidFill>
                  <a:srgbClr val="1A1A2E"/>
                </a:solidFill>
              </a:rPr>
              <a:t>を直感的に表現</a:t>
            </a:r>
            <a:endParaRPr sz="1800" b="0" i="0" dirty="0">
              <a:solidFill>
                <a:srgbClr val="1A1A2E"/>
              </a:solidFill>
            </a:endParaRPr>
          </a:p>
        </p:txBody>
      </p:sp>
      <p:sp>
        <p:nvSpPr>
          <p:cNvPr id="12" name="Rectangle 11"/>
          <p:cNvSpPr/>
          <p:nvPr/>
        </p:nvSpPr>
        <p:spPr>
          <a:xfrm>
            <a:off x="4297680" y="1005840"/>
            <a:ext cx="3657600" cy="822960"/>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97680" y="1005840"/>
            <a:ext cx="3657600" cy="822960"/>
          </a:xfrm>
          <a:prstGeom prst="rect">
            <a:avLst/>
          </a:prstGeom>
          <a:noFill/>
        </p:spPr>
        <p:txBody>
          <a:bodyPr wrap="square">
            <a:spAutoFit/>
          </a:bodyPr>
          <a:lstStyle/>
          <a:p>
            <a:pPr algn="ctr"/>
            <a:r>
              <a:rPr sz="2200" b="1" i="0">
                <a:solidFill>
                  <a:srgbClr val="FFFFFF"/>
                </a:solidFill>
              </a:rPr>
              <a:t>Brier Score
（副指標）</a:t>
            </a:r>
          </a:p>
        </p:txBody>
      </p:sp>
      <p:sp>
        <p:nvSpPr>
          <p:cNvPr id="14" name="Rectangle 13"/>
          <p:cNvSpPr/>
          <p:nvPr/>
        </p:nvSpPr>
        <p:spPr>
          <a:xfrm>
            <a:off x="4297680" y="1874519"/>
            <a:ext cx="3657600" cy="41148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89120" y="1920240"/>
            <a:ext cx="3474720" cy="369332"/>
          </a:xfrm>
          <a:prstGeom prst="rect">
            <a:avLst/>
          </a:prstGeom>
          <a:noFill/>
        </p:spPr>
        <p:txBody>
          <a:bodyPr wrap="square">
            <a:spAutoFit/>
          </a:bodyPr>
          <a:lstStyle/>
          <a:p>
            <a:pPr algn="l"/>
            <a:r>
              <a:rPr sz="1800" b="0" i="1" dirty="0" err="1">
                <a:solidFill>
                  <a:srgbClr val="555555"/>
                </a:solidFill>
              </a:rPr>
              <a:t>ブライ</a:t>
            </a:r>
            <a:r>
              <a:rPr lang="ja-JP" altLang="en-US" i="1" dirty="0">
                <a:solidFill>
                  <a:srgbClr val="555555"/>
                </a:solidFill>
              </a:rPr>
              <a:t>ア</a:t>
            </a:r>
            <a:r>
              <a:rPr sz="1800" b="0" i="1" dirty="0" err="1">
                <a:solidFill>
                  <a:srgbClr val="555555"/>
                </a:solidFill>
              </a:rPr>
              <a:t>スコア</a:t>
            </a:r>
            <a:endParaRPr sz="1800" b="0" i="1" dirty="0">
              <a:solidFill>
                <a:srgbClr val="555555"/>
              </a:solidFill>
            </a:endParaRPr>
          </a:p>
        </p:txBody>
      </p:sp>
      <p:sp>
        <p:nvSpPr>
          <p:cNvPr id="16" name="TextBox 15"/>
          <p:cNvSpPr txBox="1"/>
          <p:nvPr/>
        </p:nvSpPr>
        <p:spPr>
          <a:xfrm>
            <a:off x="4389120" y="2743200"/>
            <a:ext cx="3474720" cy="548640"/>
          </a:xfrm>
          <a:prstGeom prst="rect">
            <a:avLst/>
          </a:prstGeom>
          <a:noFill/>
        </p:spPr>
        <p:txBody>
          <a:bodyPr wrap="square">
            <a:spAutoFit/>
          </a:bodyPr>
          <a:lstStyle/>
          <a:p>
            <a:pPr algn="l"/>
            <a:r>
              <a:rPr sz="1900" b="1" i="0">
                <a:solidFill>
                  <a:srgbClr val="1A1A2E"/>
                </a:solidFill>
              </a:rPr>
              <a:t>値: 0.0〜1.0（低いほど良）</a:t>
            </a:r>
          </a:p>
        </p:txBody>
      </p:sp>
      <p:sp>
        <p:nvSpPr>
          <p:cNvPr id="17" name="TextBox 16"/>
          <p:cNvSpPr txBox="1"/>
          <p:nvPr/>
        </p:nvSpPr>
        <p:spPr>
          <a:xfrm>
            <a:off x="4389120" y="3337560"/>
            <a:ext cx="3474720" cy="1754326"/>
          </a:xfrm>
          <a:prstGeom prst="rect">
            <a:avLst/>
          </a:prstGeom>
          <a:noFill/>
        </p:spPr>
        <p:txBody>
          <a:bodyPr wrap="square">
            <a:spAutoFit/>
          </a:bodyPr>
          <a:lstStyle/>
          <a:p>
            <a:pPr algn="l"/>
            <a:r>
              <a:rPr sz="1800" b="0" i="0" dirty="0">
                <a:solidFill>
                  <a:srgbClr val="1A1A2E"/>
                </a:solidFill>
              </a:rPr>
              <a:t>Proper Scoring Rule</a:t>
            </a:r>
            <a:r>
              <a:rPr lang="ja-JP" altLang="en-US" sz="1800" b="0" i="0" dirty="0">
                <a:solidFill>
                  <a:srgbClr val="1A1A2E"/>
                </a:solidFill>
              </a:rPr>
              <a:t>である</a:t>
            </a:r>
            <a:endParaRPr lang="en-US" altLang="ja-JP" sz="1800" b="0" i="0" dirty="0">
              <a:solidFill>
                <a:srgbClr val="1A1A2E"/>
              </a:solidFill>
            </a:endParaRPr>
          </a:p>
          <a:p>
            <a:pPr algn="l"/>
            <a:endParaRPr lang="en-US" dirty="0">
              <a:solidFill>
                <a:srgbClr val="1A1A2E"/>
              </a:solidFill>
            </a:endParaRPr>
          </a:p>
          <a:p>
            <a:pPr algn="l"/>
            <a:r>
              <a:rPr sz="1800" b="0" i="0" dirty="0" err="1">
                <a:solidFill>
                  <a:srgbClr val="1A1A2E"/>
                </a:solidFill>
              </a:rPr>
              <a:t>理論的保証が強</a:t>
            </a:r>
            <a:r>
              <a:rPr lang="ja-JP" altLang="en-US" sz="1800" b="0" i="0" dirty="0">
                <a:solidFill>
                  <a:srgbClr val="1A1A2E"/>
                </a:solidFill>
              </a:rPr>
              <a:t>く </a:t>
            </a:r>
            <a:br>
              <a:rPr lang="en-US" altLang="ja-JP" sz="1800" b="0" i="0" dirty="0">
                <a:solidFill>
                  <a:srgbClr val="1A1A2E"/>
                </a:solidFill>
              </a:rPr>
            </a:br>
            <a:r>
              <a:rPr sz="1800" b="0" i="0" dirty="0">
                <a:solidFill>
                  <a:srgbClr val="1A1A2E"/>
                </a:solidFill>
              </a:rPr>
              <a:t>ECE </a:t>
            </a:r>
            <a:r>
              <a:rPr sz="1800" b="0" i="0" dirty="0" err="1">
                <a:solidFill>
                  <a:srgbClr val="1A1A2E"/>
                </a:solidFill>
              </a:rPr>
              <a:t>の弱点を補完</a:t>
            </a:r>
            <a:br>
              <a:rPr lang="en-US" sz="1800" b="0" i="0" dirty="0">
                <a:solidFill>
                  <a:srgbClr val="1A1A2E"/>
                </a:solidFill>
              </a:rPr>
            </a:br>
            <a:br>
              <a:rPr lang="en-US" sz="1800" b="0" i="0" dirty="0">
                <a:solidFill>
                  <a:srgbClr val="1A1A2E"/>
                </a:solidFill>
              </a:rPr>
            </a:br>
            <a:r>
              <a:rPr lang="ja-JP" altLang="en-US" dirty="0">
                <a:solidFill>
                  <a:srgbClr val="1A1A2E"/>
                </a:solidFill>
              </a:rPr>
              <a:t>先行</a:t>
            </a:r>
            <a:r>
              <a:rPr lang="ja-JP" altLang="en-US" sz="1800" b="0" i="0" dirty="0">
                <a:solidFill>
                  <a:srgbClr val="1A1A2E"/>
                </a:solidFill>
              </a:rPr>
              <a:t>研究にもあり、比較可能</a:t>
            </a:r>
            <a:endParaRPr lang="en-US" sz="1800" b="0" i="0" dirty="0">
              <a:solidFill>
                <a:srgbClr val="1A1A2E"/>
              </a:solidFill>
            </a:endParaRPr>
          </a:p>
        </p:txBody>
      </p:sp>
      <p:sp>
        <p:nvSpPr>
          <p:cNvPr id="18" name="Rectangle 17"/>
          <p:cNvSpPr/>
          <p:nvPr/>
        </p:nvSpPr>
        <p:spPr>
          <a:xfrm>
            <a:off x="8229600" y="1005840"/>
            <a:ext cx="36576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0" y="1005840"/>
            <a:ext cx="3657600" cy="822960"/>
          </a:xfrm>
          <a:prstGeom prst="rect">
            <a:avLst/>
          </a:prstGeom>
          <a:noFill/>
        </p:spPr>
        <p:txBody>
          <a:bodyPr wrap="square">
            <a:spAutoFit/>
          </a:bodyPr>
          <a:lstStyle/>
          <a:p>
            <a:pPr algn="ctr"/>
            <a:r>
              <a:rPr sz="2200" b="1" i="0">
                <a:solidFill>
                  <a:srgbClr val="FFFFFF"/>
                </a:solidFill>
              </a:rPr>
              <a:t>AUROC
（補助指標）</a:t>
            </a:r>
          </a:p>
        </p:txBody>
      </p:sp>
      <p:sp>
        <p:nvSpPr>
          <p:cNvPr id="20" name="Rectangle 19"/>
          <p:cNvSpPr/>
          <p:nvPr/>
        </p:nvSpPr>
        <p:spPr>
          <a:xfrm>
            <a:off x="8229600" y="1874519"/>
            <a:ext cx="3657600" cy="41148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1920240"/>
            <a:ext cx="3474720" cy="777240"/>
          </a:xfrm>
          <a:prstGeom prst="rect">
            <a:avLst/>
          </a:prstGeom>
          <a:noFill/>
        </p:spPr>
        <p:txBody>
          <a:bodyPr wrap="square">
            <a:spAutoFit/>
          </a:bodyPr>
          <a:lstStyle/>
          <a:p>
            <a:pPr algn="l"/>
            <a:r>
              <a:rPr sz="1800" b="0" i="1">
                <a:solidFill>
                  <a:srgbClr val="555555"/>
                </a:solidFill>
              </a:rPr>
              <a:t>ROC曲線下面積
Area Under ROC Curve</a:t>
            </a:r>
          </a:p>
        </p:txBody>
      </p:sp>
      <p:sp>
        <p:nvSpPr>
          <p:cNvPr id="22" name="TextBox 21"/>
          <p:cNvSpPr txBox="1"/>
          <p:nvPr/>
        </p:nvSpPr>
        <p:spPr>
          <a:xfrm>
            <a:off x="8321040" y="2743200"/>
            <a:ext cx="3474720" cy="548640"/>
          </a:xfrm>
          <a:prstGeom prst="rect">
            <a:avLst/>
          </a:prstGeom>
          <a:noFill/>
        </p:spPr>
        <p:txBody>
          <a:bodyPr wrap="square">
            <a:spAutoFit/>
          </a:bodyPr>
          <a:lstStyle/>
          <a:p>
            <a:pPr algn="l"/>
            <a:r>
              <a:rPr sz="1900" b="1" i="0">
                <a:solidFill>
                  <a:srgbClr val="1A1A2E"/>
                </a:solidFill>
              </a:rPr>
              <a:t>値: 0.5〜1.0（高いほど良）</a:t>
            </a:r>
          </a:p>
        </p:txBody>
      </p:sp>
      <p:sp>
        <p:nvSpPr>
          <p:cNvPr id="23" name="TextBox 22"/>
          <p:cNvSpPr txBox="1"/>
          <p:nvPr/>
        </p:nvSpPr>
        <p:spPr>
          <a:xfrm>
            <a:off x="8321040" y="3337560"/>
            <a:ext cx="3474720" cy="1200329"/>
          </a:xfrm>
          <a:prstGeom prst="rect">
            <a:avLst/>
          </a:prstGeom>
          <a:noFill/>
        </p:spPr>
        <p:txBody>
          <a:bodyPr wrap="square">
            <a:spAutoFit/>
          </a:bodyPr>
          <a:lstStyle/>
          <a:p>
            <a:pPr algn="l"/>
            <a:r>
              <a:rPr sz="1800" b="0" i="0" dirty="0" err="1">
                <a:solidFill>
                  <a:srgbClr val="1A1A2E"/>
                </a:solidFill>
              </a:rPr>
              <a:t>識別能力を独立に評価</a:t>
            </a:r>
            <a:r>
              <a:rPr sz="1800" b="0" i="0" dirty="0">
                <a:solidFill>
                  <a:srgbClr val="1A1A2E"/>
                </a:solidFill>
              </a:rPr>
              <a:t> [4]
ECE と直交する性質（相関≈0）</a:t>
            </a:r>
            <a:endParaRPr lang="en-US" sz="1800" b="0" i="0" dirty="0">
              <a:solidFill>
                <a:srgbClr val="1A1A2E"/>
              </a:solidFill>
            </a:endParaRPr>
          </a:p>
          <a:p>
            <a:pPr algn="l"/>
            <a:endParaRPr lang="en-US" dirty="0">
              <a:solidFill>
                <a:srgbClr val="1A1A2E"/>
              </a:solidFill>
            </a:endParaRPr>
          </a:p>
          <a:p>
            <a:pPr algn="l"/>
            <a:r>
              <a:rPr lang="ja-JP" altLang="en-US" dirty="0">
                <a:solidFill>
                  <a:srgbClr val="1A1A2E"/>
                </a:solidFill>
              </a:rPr>
              <a:t>先行研究にもあり比較可能</a:t>
            </a:r>
            <a:endParaRPr sz="1800" b="0" i="0" dirty="0">
              <a:solidFill>
                <a:srgbClr val="1A1A2E"/>
              </a:solidFill>
            </a:endParaRPr>
          </a:p>
        </p:txBody>
      </p:sp>
      <p:sp>
        <p:nvSpPr>
          <p:cNvPr id="24" name="Rectangle 23"/>
          <p:cNvSpPr/>
          <p:nvPr/>
        </p:nvSpPr>
        <p:spPr>
          <a:xfrm>
            <a:off x="365760" y="6035040"/>
            <a:ext cx="11457432" cy="7772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920" y="6062472"/>
            <a:ext cx="3657600" cy="384048"/>
          </a:xfrm>
          <a:prstGeom prst="rect">
            <a:avLst/>
          </a:prstGeom>
          <a:noFill/>
        </p:spPr>
        <p:txBody>
          <a:bodyPr wrap="square">
            <a:spAutoFit/>
          </a:bodyPr>
          <a:lstStyle/>
          <a:p>
            <a:pPr algn="l"/>
            <a:r>
              <a:rPr sz="1800" b="1" i="0">
                <a:solidFill>
                  <a:srgbClr val="E84C3C"/>
                </a:solidFill>
              </a:rPr>
              <a:t>★ Proper Scoring Rule（PSR）とは</a:t>
            </a:r>
          </a:p>
        </p:txBody>
      </p:sp>
      <p:sp>
        <p:nvSpPr>
          <p:cNvPr id="26" name="TextBox 25"/>
          <p:cNvSpPr txBox="1"/>
          <p:nvPr/>
        </p:nvSpPr>
        <p:spPr>
          <a:xfrm>
            <a:off x="4297680" y="6035038"/>
            <a:ext cx="7680960" cy="830997"/>
          </a:xfrm>
          <a:prstGeom prst="rect">
            <a:avLst/>
          </a:prstGeom>
          <a:noFill/>
        </p:spPr>
        <p:txBody>
          <a:bodyPr wrap="square">
            <a:spAutoFit/>
          </a:bodyPr>
          <a:lstStyle/>
          <a:p>
            <a:pPr algn="l"/>
            <a:r>
              <a:rPr sz="1600" b="0" i="0" dirty="0">
                <a:solidFill>
                  <a:srgbClr val="1A1A2E"/>
                </a:solidFill>
              </a:rPr>
              <a:t>「</a:t>
            </a:r>
            <a:r>
              <a:rPr sz="1600" b="0" i="0" dirty="0" err="1">
                <a:solidFill>
                  <a:srgbClr val="1A1A2E"/>
                </a:solidFill>
              </a:rPr>
              <a:t>自分の真の確率的信念を正直に報告することが、最良スコアになる」性質を</a:t>
            </a:r>
            <a:br>
              <a:rPr lang="en-US" sz="1600" b="0" i="0" dirty="0">
                <a:solidFill>
                  <a:srgbClr val="1A1A2E"/>
                </a:solidFill>
              </a:rPr>
            </a:br>
            <a:r>
              <a:rPr sz="1600" b="0" i="0" dirty="0" err="1">
                <a:solidFill>
                  <a:srgbClr val="1A1A2E"/>
                </a:solidFill>
              </a:rPr>
              <a:t>持つ指標。本当に</a:t>
            </a:r>
            <a:r>
              <a:rPr sz="1600" b="0" i="0" dirty="0">
                <a:solidFill>
                  <a:srgbClr val="1A1A2E"/>
                </a:solidFill>
              </a:rPr>
              <a:t> 70% </a:t>
            </a:r>
            <a:r>
              <a:rPr sz="1600" b="0" i="0" dirty="0" err="1">
                <a:solidFill>
                  <a:srgbClr val="1A1A2E"/>
                </a:solidFill>
              </a:rPr>
              <a:t>確信なら</a:t>
            </a:r>
            <a:r>
              <a:rPr sz="1600" b="0" i="0" dirty="0">
                <a:solidFill>
                  <a:srgbClr val="1A1A2E"/>
                </a:solidFill>
              </a:rPr>
              <a:t> 0.7 </a:t>
            </a:r>
            <a:r>
              <a:rPr sz="1600" b="0" i="0" dirty="0" err="1">
                <a:solidFill>
                  <a:srgbClr val="1A1A2E"/>
                </a:solidFill>
              </a:rPr>
              <a:t>と答えるのが最適。Brier</a:t>
            </a:r>
            <a:r>
              <a:rPr sz="1600" b="0" i="0" dirty="0">
                <a:solidFill>
                  <a:srgbClr val="1A1A2E"/>
                </a:solidFill>
              </a:rPr>
              <a:t> Score と Log-loss が PSR。ECE は PSR </a:t>
            </a:r>
            <a:r>
              <a:rPr sz="1600" b="0" i="0" dirty="0" err="1">
                <a:solidFill>
                  <a:srgbClr val="1A1A2E"/>
                </a:solidFill>
              </a:rPr>
              <a:t>ではない（定数予測でも</a:t>
            </a:r>
            <a:r>
              <a:rPr sz="1600" b="0" i="0" dirty="0">
                <a:solidFill>
                  <a:srgbClr val="1A1A2E"/>
                </a:solidFill>
              </a:rPr>
              <a:t> 0 </a:t>
            </a:r>
            <a:r>
              <a:rPr sz="1600" b="0" i="0" dirty="0" err="1">
                <a:solidFill>
                  <a:srgbClr val="1A1A2E"/>
                </a:solidFill>
              </a:rPr>
              <a:t>になりうる</a:t>
            </a:r>
            <a:r>
              <a:rPr sz="1600" b="0" i="0" dirty="0">
                <a:solidFill>
                  <a:srgbClr val="1A1A2E"/>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ECE（期待キャリブレーション誤差）の詳細</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11 / 26</a:t>
            </a:r>
          </a:p>
        </p:txBody>
      </p:sp>
      <p:sp>
        <p:nvSpPr>
          <p:cNvPr id="5" name="Rectangle 4"/>
          <p:cNvSpPr/>
          <p:nvPr/>
        </p:nvSpPr>
        <p:spPr>
          <a:xfrm>
            <a:off x="443484" y="822959"/>
            <a:ext cx="11457432" cy="2913603"/>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914400"/>
            <a:ext cx="1828800" cy="457200"/>
          </a:xfrm>
          <a:prstGeom prst="rect">
            <a:avLst/>
          </a:prstGeom>
          <a:noFill/>
        </p:spPr>
        <p:txBody>
          <a:bodyPr wrap="square">
            <a:spAutoFit/>
          </a:bodyPr>
          <a:lstStyle/>
          <a:p>
            <a:pPr algn="l"/>
            <a:r>
              <a:rPr sz="2000" b="1" i="0">
                <a:solidFill>
                  <a:srgbClr val="1A56AA"/>
                </a:solidFill>
              </a:rPr>
              <a:t>数式</a:t>
            </a:r>
          </a:p>
        </p:txBody>
      </p:sp>
      <p:sp>
        <p:nvSpPr>
          <p:cNvPr id="8" name="TextBox 7"/>
          <p:cNvSpPr txBox="1"/>
          <p:nvPr/>
        </p:nvSpPr>
        <p:spPr>
          <a:xfrm>
            <a:off x="9577197" y="1572327"/>
            <a:ext cx="2245995" cy="384721"/>
          </a:xfrm>
          <a:prstGeom prst="rect">
            <a:avLst/>
          </a:prstGeom>
          <a:noFill/>
        </p:spPr>
        <p:txBody>
          <a:bodyPr wrap="square">
            <a:spAutoFit/>
          </a:bodyPr>
          <a:lstStyle/>
          <a:p>
            <a:pPr algn="l"/>
            <a:r>
              <a:rPr sz="1900" b="0" dirty="0">
                <a:solidFill>
                  <a:srgbClr val="555555"/>
                </a:solidFill>
              </a:rPr>
              <a:t>（m = 1, 2, ...</a:t>
            </a:r>
            <a:r>
              <a:rPr lang="en-US" altLang="ja-JP" sz="1900" b="0" dirty="0">
                <a:solidFill>
                  <a:srgbClr val="555555"/>
                </a:solidFill>
              </a:rPr>
              <a:t>,</a:t>
            </a:r>
            <a:r>
              <a:rPr lang="ja-JP" altLang="en-US" sz="1900" b="0" dirty="0">
                <a:solidFill>
                  <a:srgbClr val="555555"/>
                </a:solidFill>
              </a:rPr>
              <a:t> </a:t>
            </a:r>
            <a:r>
              <a:rPr lang="en-US" sz="1900" b="0" dirty="0">
                <a:solidFill>
                  <a:srgbClr val="555555"/>
                </a:solidFill>
              </a:rPr>
              <a:t>M</a:t>
            </a:r>
            <a:r>
              <a:rPr sz="1900" b="0" dirty="0">
                <a:solidFill>
                  <a:srgbClr val="555555"/>
                </a:solidFill>
              </a:rPr>
              <a:t>）</a:t>
            </a:r>
          </a:p>
        </p:txBody>
      </p:sp>
      <p:sp>
        <p:nvSpPr>
          <p:cNvPr id="9" name="TextBox 8"/>
          <p:cNvSpPr txBox="1"/>
          <p:nvPr/>
        </p:nvSpPr>
        <p:spPr>
          <a:xfrm>
            <a:off x="548640" y="2056210"/>
            <a:ext cx="8614410" cy="1618392"/>
          </a:xfrm>
          <a:prstGeom prst="rect">
            <a:avLst/>
          </a:prstGeom>
          <a:noFill/>
        </p:spPr>
        <p:txBody>
          <a:bodyPr wrap="square">
            <a:spAutoFit/>
          </a:bodyPr>
          <a:lstStyle/>
          <a:p>
            <a:pPr>
              <a:spcBef>
                <a:spcPts val="500"/>
              </a:spcBef>
            </a:pPr>
            <a:r>
              <a:rPr sz="1900" dirty="0">
                <a:solidFill>
                  <a:srgbClr val="1A1A2E"/>
                </a:solidFill>
              </a:rPr>
              <a:t>Bₘ  : </a:t>
            </a:r>
            <a:r>
              <a:rPr sz="1900" dirty="0" err="1">
                <a:solidFill>
                  <a:srgbClr val="1A1A2E"/>
                </a:solidFill>
              </a:rPr>
              <a:t>ビン</a:t>
            </a:r>
            <a:r>
              <a:rPr sz="1900" dirty="0">
                <a:solidFill>
                  <a:srgbClr val="1A1A2E"/>
                </a:solidFill>
              </a:rPr>
              <a:t> m </a:t>
            </a:r>
            <a:r>
              <a:rPr sz="1900" dirty="0" err="1">
                <a:solidFill>
                  <a:srgbClr val="1A1A2E"/>
                </a:solidFill>
              </a:rPr>
              <a:t>に属するサンプルの集合</a:t>
            </a:r>
            <a:br>
              <a:rPr lang="en-US" sz="1900" dirty="0">
                <a:solidFill>
                  <a:srgbClr val="1A1A2E"/>
                </a:solidFill>
              </a:rPr>
            </a:br>
            <a:r>
              <a:rPr sz="1900" dirty="0">
                <a:solidFill>
                  <a:srgbClr val="1A1A2E"/>
                </a:solidFill>
              </a:rPr>
              <a:t>n : </a:t>
            </a:r>
            <a:r>
              <a:rPr sz="1900" dirty="0" err="1">
                <a:solidFill>
                  <a:srgbClr val="1A1A2E"/>
                </a:solidFill>
              </a:rPr>
              <a:t>全サンプル数</a:t>
            </a:r>
            <a:br>
              <a:rPr lang="en-US" sz="1900" dirty="0">
                <a:solidFill>
                  <a:srgbClr val="1A1A2E"/>
                </a:solidFill>
              </a:rPr>
            </a:br>
            <a:r>
              <a:rPr sz="1900" dirty="0">
                <a:solidFill>
                  <a:srgbClr val="1A1A2E"/>
                </a:solidFill>
              </a:rPr>
              <a:t>acc(Bₘ)  : </a:t>
            </a:r>
            <a:r>
              <a:rPr sz="1900" dirty="0" err="1">
                <a:solidFill>
                  <a:srgbClr val="1A1A2E"/>
                </a:solidFill>
              </a:rPr>
              <a:t>ビン</a:t>
            </a:r>
            <a:r>
              <a:rPr sz="1900" dirty="0">
                <a:solidFill>
                  <a:srgbClr val="1A1A2E"/>
                </a:solidFill>
              </a:rPr>
              <a:t> m </a:t>
            </a:r>
            <a:r>
              <a:rPr sz="1900" dirty="0" err="1">
                <a:solidFill>
                  <a:srgbClr val="1A1A2E"/>
                </a:solidFill>
              </a:rPr>
              <a:t>内の正答率</a:t>
            </a:r>
            <a:br>
              <a:rPr lang="en-US" sz="1900" dirty="0">
                <a:solidFill>
                  <a:srgbClr val="1A1A2E"/>
                </a:solidFill>
              </a:rPr>
            </a:br>
            <a:r>
              <a:rPr sz="1900" dirty="0">
                <a:solidFill>
                  <a:srgbClr val="1A1A2E"/>
                </a:solidFill>
              </a:rPr>
              <a:t>conf(Bₘ) : </a:t>
            </a:r>
            <a:r>
              <a:rPr sz="1900" dirty="0" err="1">
                <a:solidFill>
                  <a:srgbClr val="1A1A2E"/>
                </a:solidFill>
              </a:rPr>
              <a:t>ビン</a:t>
            </a:r>
            <a:r>
              <a:rPr sz="1900" dirty="0">
                <a:solidFill>
                  <a:srgbClr val="1A1A2E"/>
                </a:solidFill>
              </a:rPr>
              <a:t> m </a:t>
            </a:r>
            <a:r>
              <a:rPr sz="1900" dirty="0" err="1">
                <a:solidFill>
                  <a:srgbClr val="1A1A2E"/>
                </a:solidFill>
              </a:rPr>
              <a:t>内の平均確信度</a:t>
            </a:r>
            <a:endParaRPr sz="1900" dirty="0">
              <a:solidFill>
                <a:srgbClr val="1A1A2E"/>
              </a:solidFill>
            </a:endParaRPr>
          </a:p>
          <a:p>
            <a:pPr>
              <a:spcBef>
                <a:spcPts val="500"/>
              </a:spcBef>
            </a:pPr>
            <a:r>
              <a:rPr lang="en-US" sz="1900" dirty="0">
                <a:solidFill>
                  <a:srgbClr val="1A1A2E"/>
                </a:solidFill>
              </a:rPr>
              <a:t>M</a:t>
            </a:r>
            <a:r>
              <a:rPr lang="ja-JP" altLang="en-US" sz="1900" dirty="0">
                <a:solidFill>
                  <a:srgbClr val="1A1A2E"/>
                </a:solidFill>
              </a:rPr>
              <a:t>：ビン数（例：</a:t>
            </a:r>
            <a:r>
              <a:rPr sz="1900" dirty="0">
                <a:solidFill>
                  <a:srgbClr val="1A1A2E"/>
                </a:solidFill>
              </a:rPr>
              <a:t>M = 10</a:t>
            </a:r>
            <a:r>
              <a:rPr lang="ja-JP" altLang="en-US" sz="1900" dirty="0">
                <a:solidFill>
                  <a:srgbClr val="1A1A2E"/>
                </a:solidFill>
              </a:rPr>
              <a:t>のとき</a:t>
            </a:r>
            <a:r>
              <a:rPr sz="1900" dirty="0" err="1">
                <a:solidFill>
                  <a:srgbClr val="1A1A2E"/>
                </a:solidFill>
              </a:rPr>
              <a:t>確信度</a:t>
            </a:r>
            <a:r>
              <a:rPr sz="1900" dirty="0">
                <a:solidFill>
                  <a:srgbClr val="1A1A2E"/>
                </a:solidFill>
              </a:rPr>
              <a:t> 0.0〜1.0 を 0.1 </a:t>
            </a:r>
            <a:r>
              <a:rPr sz="1900" dirty="0" err="1">
                <a:solidFill>
                  <a:srgbClr val="1A1A2E"/>
                </a:solidFill>
              </a:rPr>
              <a:t>刻みの等幅ビンで分割</a:t>
            </a:r>
            <a:r>
              <a:rPr sz="1900" dirty="0">
                <a:solidFill>
                  <a:srgbClr val="1A1A2E"/>
                </a:solidFill>
              </a:rPr>
              <a:t>）</a:t>
            </a:r>
          </a:p>
        </p:txBody>
      </p:sp>
      <p:sp>
        <p:nvSpPr>
          <p:cNvPr id="10" name="Rectangle 9"/>
          <p:cNvSpPr/>
          <p:nvPr/>
        </p:nvSpPr>
        <p:spPr>
          <a:xfrm>
            <a:off x="365760" y="3886200"/>
            <a:ext cx="3657600" cy="12344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931920"/>
            <a:ext cx="3474720" cy="457200"/>
          </a:xfrm>
          <a:prstGeom prst="rect">
            <a:avLst/>
          </a:prstGeom>
          <a:noFill/>
        </p:spPr>
        <p:txBody>
          <a:bodyPr wrap="square">
            <a:spAutoFit/>
          </a:bodyPr>
          <a:lstStyle/>
          <a:p>
            <a:pPr algn="l"/>
            <a:r>
              <a:rPr sz="2000" b="1" i="0">
                <a:solidFill>
                  <a:srgbClr val="1A56AA"/>
                </a:solidFill>
              </a:rPr>
              <a:t>値の範囲と解釈</a:t>
            </a:r>
          </a:p>
        </p:txBody>
      </p:sp>
      <p:sp>
        <p:nvSpPr>
          <p:cNvPr id="12" name="TextBox 11"/>
          <p:cNvSpPr txBox="1"/>
          <p:nvPr/>
        </p:nvSpPr>
        <p:spPr>
          <a:xfrm>
            <a:off x="337185" y="4278885"/>
            <a:ext cx="3897630" cy="830997"/>
          </a:xfrm>
          <a:prstGeom prst="rect">
            <a:avLst/>
          </a:prstGeom>
          <a:noFill/>
        </p:spPr>
        <p:txBody>
          <a:bodyPr wrap="square">
            <a:spAutoFit/>
          </a:bodyPr>
          <a:lstStyle/>
          <a:p>
            <a:pPr algn="l"/>
            <a:r>
              <a:rPr sz="1600" b="0" i="0" dirty="0">
                <a:solidFill>
                  <a:srgbClr val="1A1A2E"/>
                </a:solidFill>
              </a:rPr>
              <a:t>0.0 = </a:t>
            </a:r>
            <a:r>
              <a:rPr sz="1600" b="0" i="0" dirty="0" err="1">
                <a:solidFill>
                  <a:srgbClr val="1A1A2E"/>
                </a:solidFill>
              </a:rPr>
              <a:t>完全キャリブレーション</a:t>
            </a:r>
            <a:r>
              <a:rPr sz="1600" b="0" i="0" dirty="0">
                <a:solidFill>
                  <a:srgbClr val="1A1A2E"/>
                </a:solidFill>
              </a:rPr>
              <a:t>
0.1 = </a:t>
            </a:r>
            <a:r>
              <a:rPr sz="1600" b="0" i="0" dirty="0" err="1">
                <a:solidFill>
                  <a:srgbClr val="1A1A2E"/>
                </a:solidFill>
              </a:rPr>
              <a:t>確信度が正答率から平均</a:t>
            </a:r>
            <a:r>
              <a:rPr sz="1600" b="0" i="0" dirty="0">
                <a:solidFill>
                  <a:srgbClr val="1A1A2E"/>
                </a:solidFill>
              </a:rPr>
              <a:t> 10% </a:t>
            </a:r>
            <a:r>
              <a:rPr sz="1600" b="0" i="0" dirty="0" err="1">
                <a:solidFill>
                  <a:srgbClr val="1A1A2E"/>
                </a:solidFill>
              </a:rPr>
              <a:t>ズレ</a:t>
            </a:r>
            <a:r>
              <a:rPr sz="1600" b="0" i="0" dirty="0">
                <a:solidFill>
                  <a:srgbClr val="1A1A2E"/>
                </a:solidFill>
              </a:rPr>
              <a:t>
（</a:t>
            </a:r>
            <a:r>
              <a:rPr lang="ja-JP" altLang="en-US" sz="1600" b="0" i="0" dirty="0">
                <a:solidFill>
                  <a:srgbClr val="1A1A2E"/>
                </a:solidFill>
              </a:rPr>
              <a:t>値は</a:t>
            </a:r>
            <a:r>
              <a:rPr lang="en-US" sz="1600" b="0" i="0" dirty="0">
                <a:solidFill>
                  <a:srgbClr val="1A1A2E"/>
                </a:solidFill>
              </a:rPr>
              <a:t>0~1</a:t>
            </a:r>
            <a:r>
              <a:rPr lang="ja-JP" altLang="en-US" sz="1600" dirty="0">
                <a:solidFill>
                  <a:srgbClr val="1A1A2E"/>
                </a:solidFill>
              </a:rPr>
              <a:t>の範囲、</a:t>
            </a:r>
            <a:r>
              <a:rPr sz="1600" b="0" i="0" dirty="0" err="1">
                <a:solidFill>
                  <a:srgbClr val="1A1A2E"/>
                </a:solidFill>
              </a:rPr>
              <a:t>低いほど良い</a:t>
            </a:r>
            <a:r>
              <a:rPr sz="1600" b="0" i="0" dirty="0">
                <a:solidFill>
                  <a:srgbClr val="1A1A2E"/>
                </a:solidFill>
              </a:rPr>
              <a:t>）</a:t>
            </a:r>
          </a:p>
        </p:txBody>
      </p:sp>
      <p:sp>
        <p:nvSpPr>
          <p:cNvPr id="13" name="Rectangle 12"/>
          <p:cNvSpPr/>
          <p:nvPr/>
        </p:nvSpPr>
        <p:spPr>
          <a:xfrm>
            <a:off x="4206240" y="3886200"/>
            <a:ext cx="7589520" cy="12344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97680" y="3931920"/>
            <a:ext cx="7315200" cy="457200"/>
          </a:xfrm>
          <a:prstGeom prst="rect">
            <a:avLst/>
          </a:prstGeom>
          <a:noFill/>
        </p:spPr>
        <p:txBody>
          <a:bodyPr wrap="square">
            <a:spAutoFit/>
          </a:bodyPr>
          <a:lstStyle/>
          <a:p>
            <a:pPr algn="l"/>
            <a:r>
              <a:rPr sz="2000" b="1" i="0">
                <a:solidFill>
                  <a:srgbClr val="1A56AA"/>
                </a:solidFill>
              </a:rPr>
              <a:t>採用理由</a:t>
            </a:r>
          </a:p>
        </p:txBody>
      </p:sp>
      <p:sp>
        <p:nvSpPr>
          <p:cNvPr id="15" name="TextBox 14"/>
          <p:cNvSpPr txBox="1"/>
          <p:nvPr/>
        </p:nvSpPr>
        <p:spPr>
          <a:xfrm>
            <a:off x="4360545" y="4199942"/>
            <a:ext cx="7315200" cy="959237"/>
          </a:xfrm>
          <a:prstGeom prst="rect">
            <a:avLst/>
          </a:prstGeom>
          <a:noFill/>
        </p:spPr>
        <p:txBody>
          <a:bodyPr wrap="square">
            <a:spAutoFit/>
          </a:bodyPr>
          <a:lstStyle/>
          <a:p>
            <a:pPr>
              <a:spcBef>
                <a:spcPts val="500"/>
              </a:spcBef>
            </a:pPr>
            <a:r>
              <a:rPr sz="1600" dirty="0">
                <a:solidFill>
                  <a:srgbClr val="1A1A2E"/>
                </a:solidFill>
              </a:rPr>
              <a:t>① Tian 2023 [3]・Xiong 2024 [4] </a:t>
            </a:r>
            <a:r>
              <a:rPr sz="1600" dirty="0" err="1">
                <a:solidFill>
                  <a:srgbClr val="1A1A2E"/>
                </a:solidFill>
              </a:rPr>
              <a:t>と同一指標</a:t>
            </a:r>
            <a:r>
              <a:rPr sz="1600" dirty="0">
                <a:solidFill>
                  <a:srgbClr val="1A1A2E"/>
                </a:solidFill>
              </a:rPr>
              <a:t> → </a:t>
            </a:r>
            <a:r>
              <a:rPr sz="1600" b="1" dirty="0" err="1">
                <a:solidFill>
                  <a:srgbClr val="1A1A2E"/>
                </a:solidFill>
              </a:rPr>
              <a:t>先行研究の数値と直接比較可能</a:t>
            </a:r>
            <a:endParaRPr sz="1600" b="1" dirty="0">
              <a:solidFill>
                <a:srgbClr val="1A1A2E"/>
              </a:solidFill>
            </a:endParaRPr>
          </a:p>
          <a:p>
            <a:pPr>
              <a:spcBef>
                <a:spcPts val="500"/>
              </a:spcBef>
            </a:pPr>
            <a:r>
              <a:rPr sz="1600" dirty="0">
                <a:solidFill>
                  <a:srgbClr val="1A1A2E"/>
                </a:solidFill>
              </a:rPr>
              <a:t>② 「</a:t>
            </a:r>
            <a:r>
              <a:rPr sz="1600" dirty="0" err="1">
                <a:solidFill>
                  <a:srgbClr val="1A1A2E"/>
                </a:solidFill>
              </a:rPr>
              <a:t>確信度と正答率の平均ズレ」という本研究の核心的問いに直接対応</a:t>
            </a:r>
            <a:endParaRPr sz="1600" dirty="0">
              <a:solidFill>
                <a:srgbClr val="1A1A2E"/>
              </a:solidFill>
            </a:endParaRPr>
          </a:p>
          <a:p>
            <a:pPr>
              <a:spcBef>
                <a:spcPts val="500"/>
              </a:spcBef>
            </a:pPr>
            <a:r>
              <a:rPr lang="ja-JP" altLang="en-US" sz="1600" dirty="0">
                <a:solidFill>
                  <a:srgbClr val="1A1A2E"/>
                </a:solidFill>
              </a:rPr>
              <a:t>（</a:t>
            </a:r>
            <a:r>
              <a:rPr sz="1600" dirty="0">
                <a:solidFill>
                  <a:srgbClr val="1A1A2E"/>
                </a:solidFill>
              </a:rPr>
              <a:t>③ ECE=0.10 </a:t>
            </a:r>
            <a:r>
              <a:rPr sz="1600" dirty="0" err="1">
                <a:solidFill>
                  <a:srgbClr val="1A1A2E"/>
                </a:solidFill>
              </a:rPr>
              <a:t>なら「平均</a:t>
            </a:r>
            <a:r>
              <a:rPr sz="1600" dirty="0">
                <a:solidFill>
                  <a:srgbClr val="1A1A2E"/>
                </a:solidFill>
              </a:rPr>
              <a:t> 10% </a:t>
            </a:r>
            <a:r>
              <a:rPr sz="1600" dirty="0" err="1">
                <a:solidFill>
                  <a:srgbClr val="1A1A2E"/>
                </a:solidFill>
              </a:rPr>
              <a:t>ズレ</a:t>
            </a:r>
            <a:r>
              <a:rPr sz="1600" dirty="0">
                <a:solidFill>
                  <a:srgbClr val="1A1A2E"/>
                </a:solidFill>
              </a:rPr>
              <a:t>」</a:t>
            </a:r>
            <a:r>
              <a:rPr lang="ja-JP" altLang="en-US" sz="1600" dirty="0">
                <a:solidFill>
                  <a:srgbClr val="1A1A2E"/>
                </a:solidFill>
              </a:rPr>
              <a:t>のように</a:t>
            </a:r>
            <a:r>
              <a:rPr sz="1600" dirty="0" err="1">
                <a:solidFill>
                  <a:srgbClr val="1A1A2E"/>
                </a:solidFill>
              </a:rPr>
              <a:t>直感的に</a:t>
            </a:r>
            <a:r>
              <a:rPr lang="ja-JP" altLang="en-US" sz="1600" dirty="0">
                <a:solidFill>
                  <a:srgbClr val="1A1A2E"/>
                </a:solidFill>
              </a:rPr>
              <a:t>理解</a:t>
            </a:r>
            <a:r>
              <a:rPr sz="1600" dirty="0" err="1">
                <a:solidFill>
                  <a:srgbClr val="1A1A2E"/>
                </a:solidFill>
              </a:rPr>
              <a:t>できる</a:t>
            </a:r>
            <a:r>
              <a:rPr lang="ja-JP" altLang="en-US" sz="1600" dirty="0">
                <a:solidFill>
                  <a:srgbClr val="1A1A2E"/>
                </a:solidFill>
              </a:rPr>
              <a:t>）</a:t>
            </a:r>
            <a:endParaRPr sz="1600" dirty="0">
              <a:solidFill>
                <a:srgbClr val="1A1A2E"/>
              </a:solidFill>
            </a:endParaRPr>
          </a:p>
        </p:txBody>
      </p:sp>
      <p:sp>
        <p:nvSpPr>
          <p:cNvPr id="16" name="Rectangle 15"/>
          <p:cNvSpPr/>
          <p:nvPr/>
        </p:nvSpPr>
        <p:spPr>
          <a:xfrm>
            <a:off x="365760" y="5257800"/>
            <a:ext cx="11457432" cy="15544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5303520"/>
            <a:ext cx="3657600" cy="457200"/>
          </a:xfrm>
          <a:prstGeom prst="rect">
            <a:avLst/>
          </a:prstGeom>
          <a:noFill/>
        </p:spPr>
        <p:txBody>
          <a:bodyPr wrap="square">
            <a:spAutoFit/>
          </a:bodyPr>
          <a:lstStyle/>
          <a:p>
            <a:pPr algn="l"/>
            <a:r>
              <a:rPr sz="2000" b="1" i="0">
                <a:solidFill>
                  <a:srgbClr val="1A56AA"/>
                </a:solidFill>
              </a:rPr>
              <a:t>出典と注意点</a:t>
            </a:r>
          </a:p>
        </p:txBody>
      </p:sp>
      <p:sp>
        <p:nvSpPr>
          <p:cNvPr id="18" name="TextBox 17"/>
          <p:cNvSpPr txBox="1"/>
          <p:nvPr/>
        </p:nvSpPr>
        <p:spPr>
          <a:xfrm>
            <a:off x="457200" y="5662963"/>
            <a:ext cx="11430000" cy="1051570"/>
          </a:xfrm>
          <a:prstGeom prst="rect">
            <a:avLst/>
          </a:prstGeom>
          <a:noFill/>
        </p:spPr>
        <p:txBody>
          <a:bodyPr wrap="square">
            <a:spAutoFit/>
          </a:bodyPr>
          <a:lstStyle/>
          <a:p>
            <a:pPr>
              <a:spcBef>
                <a:spcPts val="500"/>
              </a:spcBef>
            </a:pPr>
            <a:r>
              <a:rPr sz="1800" dirty="0" err="1">
                <a:solidFill>
                  <a:srgbClr val="1A1A2E"/>
                </a:solidFill>
              </a:rPr>
              <a:t>出典</a:t>
            </a:r>
            <a:r>
              <a:rPr sz="1800" dirty="0">
                <a:solidFill>
                  <a:srgbClr val="1A1A2E"/>
                </a:solidFill>
              </a:rPr>
              <a:t>: Guo, C. et al. (2017). On Calibration of Modern Neural Networks. ICML. [2]</a:t>
            </a:r>
          </a:p>
          <a:p>
            <a:pPr>
              <a:spcBef>
                <a:spcPts val="500"/>
              </a:spcBef>
            </a:pPr>
            <a:r>
              <a:rPr sz="1800" dirty="0" err="1">
                <a:solidFill>
                  <a:srgbClr val="1A1A2E"/>
                </a:solidFill>
              </a:rPr>
              <a:t>注意</a:t>
            </a:r>
            <a:r>
              <a:rPr sz="1800" dirty="0">
                <a:solidFill>
                  <a:srgbClr val="1A1A2E"/>
                </a:solidFill>
              </a:rPr>
              <a:t>: ECE は Proper Scoring Rule </a:t>
            </a:r>
            <a:r>
              <a:rPr sz="1800" dirty="0" err="1">
                <a:solidFill>
                  <a:srgbClr val="1A1A2E"/>
                </a:solidFill>
              </a:rPr>
              <a:t>ではない（定数予測でも</a:t>
            </a:r>
            <a:r>
              <a:rPr sz="1800" dirty="0">
                <a:solidFill>
                  <a:srgbClr val="1A1A2E"/>
                </a:solidFill>
              </a:rPr>
              <a:t> 0 </a:t>
            </a:r>
            <a:r>
              <a:rPr sz="1800" dirty="0" err="1">
                <a:solidFill>
                  <a:srgbClr val="1A1A2E"/>
                </a:solidFill>
              </a:rPr>
              <a:t>になりうる</a:t>
            </a:r>
            <a:r>
              <a:rPr sz="1800" dirty="0">
                <a:solidFill>
                  <a:srgbClr val="1A1A2E"/>
                </a:solidFill>
              </a:rPr>
              <a:t>）→ </a:t>
            </a:r>
            <a:r>
              <a:rPr lang="ja-JP" altLang="en-US" sz="1800" dirty="0">
                <a:solidFill>
                  <a:srgbClr val="1A1A2E"/>
                </a:solidFill>
              </a:rPr>
              <a:t>そこは</a:t>
            </a:r>
            <a:r>
              <a:rPr sz="1800" dirty="0">
                <a:solidFill>
                  <a:srgbClr val="1A1A2E"/>
                </a:solidFill>
              </a:rPr>
              <a:t>Brier Score </a:t>
            </a:r>
            <a:r>
              <a:rPr lang="ja-JP" altLang="en-US" sz="1800" dirty="0">
                <a:solidFill>
                  <a:srgbClr val="1A1A2E"/>
                </a:solidFill>
              </a:rPr>
              <a:t>比較</a:t>
            </a:r>
            <a:r>
              <a:rPr sz="1800" dirty="0" err="1">
                <a:solidFill>
                  <a:srgbClr val="1A1A2E"/>
                </a:solidFill>
              </a:rPr>
              <a:t>で補完</a:t>
            </a:r>
            <a:endParaRPr sz="1800" dirty="0">
              <a:solidFill>
                <a:srgbClr val="1A1A2E"/>
              </a:solidFill>
            </a:endParaRPr>
          </a:p>
          <a:p>
            <a:pPr>
              <a:spcBef>
                <a:spcPts val="500"/>
              </a:spcBef>
            </a:pPr>
            <a:r>
              <a:rPr sz="1800" dirty="0" err="1">
                <a:solidFill>
                  <a:srgbClr val="1A1A2E"/>
                </a:solidFill>
              </a:rPr>
              <a:t>注意</a:t>
            </a:r>
            <a:r>
              <a:rPr sz="1800" dirty="0">
                <a:solidFill>
                  <a:srgbClr val="1A1A2E"/>
                </a:solidFill>
              </a:rPr>
              <a:t>: </a:t>
            </a:r>
            <a:r>
              <a:rPr lang="ja-JP" altLang="en-US" sz="1800" dirty="0">
                <a:solidFill>
                  <a:srgbClr val="1A1A2E"/>
                </a:solidFill>
              </a:rPr>
              <a:t>結果が</a:t>
            </a:r>
            <a:r>
              <a:rPr sz="1800" dirty="0" err="1">
                <a:solidFill>
                  <a:srgbClr val="1A1A2E"/>
                </a:solidFill>
              </a:rPr>
              <a:t>ビン数（M）に依存</a:t>
            </a:r>
            <a:r>
              <a:rPr lang="ja-JP" altLang="en-US" sz="1800" dirty="0">
                <a:solidFill>
                  <a:srgbClr val="1A1A2E"/>
                </a:solidFill>
              </a:rPr>
              <a:t>するため、</a:t>
            </a:r>
            <a:r>
              <a:rPr sz="1800" dirty="0" err="1">
                <a:solidFill>
                  <a:srgbClr val="1A1A2E"/>
                </a:solidFill>
              </a:rPr>
              <a:t>本研究では</a:t>
            </a:r>
            <a:r>
              <a:rPr sz="1800" dirty="0">
                <a:solidFill>
                  <a:srgbClr val="1A1A2E"/>
                </a:solidFill>
              </a:rPr>
              <a:t> M=10 </a:t>
            </a:r>
            <a:r>
              <a:rPr sz="1800" dirty="0" err="1">
                <a:solidFill>
                  <a:srgbClr val="1A1A2E"/>
                </a:solidFill>
              </a:rPr>
              <a:t>に固定し先行研究と条件を揃える</a:t>
            </a:r>
            <a:endParaRPr sz="1800" dirty="0">
              <a:solidFill>
                <a:srgbClr val="1A1A2E"/>
              </a:solidFill>
            </a:endParaRPr>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EBED5F32-D593-45E3-D94C-DFC2E68ADFEB}"/>
                  </a:ext>
                </a:extLst>
              </p:cNvPr>
              <p:cNvSpPr txBox="1"/>
              <p:nvPr/>
            </p:nvSpPr>
            <p:spPr>
              <a:xfrm>
                <a:off x="548640" y="1349530"/>
                <a:ext cx="8386335" cy="5010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i="1" smtClean="0">
                          <a:latin typeface="Cambria Math" panose="02040503050406030204" pitchFamily="18" charset="0"/>
                        </a:rPr>
                        <m:t>𝐸𝐶𝐸</m:t>
                      </m:r>
                      <m:r>
                        <a:rPr kumimoji="1" lang="en-US" altLang="ja-JP" sz="3200" i="1" smtClean="0">
                          <a:latin typeface="Cambria Math" panose="02040503050406030204" pitchFamily="18" charset="0"/>
                        </a:rPr>
                        <m:t>=</m:t>
                      </m:r>
                      <m:sSubSup>
                        <m:sSubSupPr>
                          <m:ctrlPr>
                            <a:rPr kumimoji="1" lang="el-GR" altLang="ja-JP" sz="3200" i="1">
                              <a:latin typeface="Cambria Math" panose="02040503050406030204" pitchFamily="18" charset="0"/>
                            </a:rPr>
                          </m:ctrlPr>
                        </m:sSubSupPr>
                        <m:e>
                          <m:r>
                            <a:rPr kumimoji="1" lang="el-GR" altLang="ja-JP" sz="3200" i="1">
                              <a:latin typeface="Cambria Math" panose="02040503050406030204" pitchFamily="18" charset="0"/>
                            </a:rPr>
                            <m:t>𝛴</m:t>
                          </m:r>
                        </m:e>
                        <m:sub>
                          <m:r>
                            <a:rPr kumimoji="1" lang="en-US" altLang="ja-JP" sz="3200" i="1">
                              <a:latin typeface="Cambria Math" panose="02040503050406030204" pitchFamily="18" charset="0"/>
                            </a:rPr>
                            <m:t>𝑚</m:t>
                          </m:r>
                          <m:r>
                            <a:rPr kumimoji="1" lang="en-US" altLang="ja-JP" sz="3200" i="1">
                              <a:latin typeface="Cambria Math" panose="02040503050406030204" pitchFamily="18" charset="0"/>
                            </a:rPr>
                            <m:t>=1</m:t>
                          </m:r>
                        </m:sub>
                        <m:sup>
                          <m:r>
                            <a:rPr kumimoji="1" lang="en-US" altLang="ja-JP" sz="3200" i="1">
                              <a:latin typeface="Cambria Math" panose="02040503050406030204" pitchFamily="18" charset="0"/>
                            </a:rPr>
                            <m:t>𝑀</m:t>
                          </m:r>
                        </m:sup>
                      </m:sSubSup>
                      <m:d>
                        <m:dPr>
                          <m:ctrlPr>
                            <a:rPr kumimoji="1" lang="en-US" altLang="ja-JP" sz="3200" i="1">
                              <a:latin typeface="Cambria Math" panose="02040503050406030204" pitchFamily="18" charset="0"/>
                            </a:rPr>
                          </m:ctrlPr>
                        </m:dPr>
                        <m:e>
                          <m:d>
                            <m:dPr>
                              <m:begChr m:val="|"/>
                              <m:endChr m:val="|"/>
                              <m:ctrlPr>
                                <a:rPr kumimoji="1" lang="en-US" altLang="ja-JP" sz="3200" i="1">
                                  <a:latin typeface="Cambria Math" panose="02040503050406030204" pitchFamily="18" charset="0"/>
                                </a:rPr>
                              </m:ctrlPr>
                            </m:d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𝐵</m:t>
                                  </m:r>
                                </m:e>
                                <m:sub>
                                  <m:r>
                                    <a:rPr kumimoji="1" lang="en-US" altLang="ja-JP" sz="3200" i="1">
                                      <a:latin typeface="Cambria Math" panose="02040503050406030204" pitchFamily="18" charset="0"/>
                                    </a:rPr>
                                    <m:t>𝑚</m:t>
                                  </m:r>
                                </m:sub>
                              </m:sSub>
                            </m:e>
                          </m:d>
                          <m:r>
                            <m:rPr>
                              <m:lit/>
                            </m:rPr>
                            <a:rPr kumimoji="1" lang="en-US" altLang="ja-JP" sz="3200" i="1">
                              <a:latin typeface="Cambria Math" panose="02040503050406030204" pitchFamily="18" charset="0"/>
                            </a:rPr>
                            <m:t>/</m:t>
                          </m:r>
                          <m:r>
                            <a:rPr kumimoji="1" lang="en-US" altLang="ja-JP" sz="3200" i="1">
                              <a:latin typeface="Cambria Math" panose="02040503050406030204" pitchFamily="18" charset="0"/>
                            </a:rPr>
                            <m:t>𝑛</m:t>
                          </m:r>
                        </m:e>
                      </m:d>
                      <m:r>
                        <a:rPr kumimoji="1" lang="en-US" altLang="ja-JP" sz="3200" i="1">
                          <a:latin typeface="Cambria Math" panose="02040503050406030204" pitchFamily="18" charset="0"/>
                        </a:rPr>
                        <m:t>×</m:t>
                      </m:r>
                      <m:d>
                        <m:dPr>
                          <m:begChr m:val="|"/>
                          <m:endChr m:val="|"/>
                          <m:ctrlPr>
                            <a:rPr kumimoji="1" lang="en-US" altLang="ja-JP" sz="3200" i="1">
                              <a:latin typeface="Cambria Math" panose="02040503050406030204" pitchFamily="18" charset="0"/>
                            </a:rPr>
                          </m:ctrlPr>
                        </m:dPr>
                        <m:e>
                          <m:r>
                            <a:rPr kumimoji="1" lang="en-US" altLang="ja-JP" sz="3200" i="1">
                              <a:latin typeface="Cambria Math" panose="02040503050406030204" pitchFamily="18" charset="0"/>
                            </a:rPr>
                            <m:t>𝑎𝑐𝑐</m:t>
                          </m:r>
                          <m:d>
                            <m:dPr>
                              <m:ctrlPr>
                                <a:rPr kumimoji="1" lang="en-US" altLang="ja-JP" sz="3200" i="1">
                                  <a:latin typeface="Cambria Math" panose="02040503050406030204" pitchFamily="18" charset="0"/>
                                </a:rPr>
                              </m:ctrlPr>
                            </m:d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𝐵</m:t>
                                  </m:r>
                                </m:e>
                                <m:sub>
                                  <m:r>
                                    <a:rPr kumimoji="1" lang="en-US" altLang="ja-JP" sz="3200" i="1">
                                      <a:latin typeface="Cambria Math" panose="02040503050406030204" pitchFamily="18" charset="0"/>
                                    </a:rPr>
                                    <m:t>𝑚</m:t>
                                  </m:r>
                                </m:sub>
                              </m:sSub>
                            </m:e>
                          </m:d>
                          <m:r>
                            <a:rPr kumimoji="1" lang="en-US" altLang="ja-JP" sz="3200" i="1">
                              <a:latin typeface="Cambria Math" panose="02040503050406030204" pitchFamily="18" charset="0"/>
                            </a:rPr>
                            <m:t>−</m:t>
                          </m:r>
                          <m:r>
                            <a:rPr kumimoji="1" lang="en-US" altLang="ja-JP" sz="3200" i="1">
                              <a:latin typeface="Cambria Math" panose="02040503050406030204" pitchFamily="18" charset="0"/>
                            </a:rPr>
                            <m:t>𝑐𝑜𝑛𝑓</m:t>
                          </m:r>
                          <m:d>
                            <m:dPr>
                              <m:ctrlPr>
                                <a:rPr kumimoji="1" lang="en-US" altLang="ja-JP" sz="3200" i="1">
                                  <a:latin typeface="Cambria Math" panose="02040503050406030204" pitchFamily="18" charset="0"/>
                                </a:rPr>
                              </m:ctrlPr>
                            </m:d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𝐵</m:t>
                                  </m:r>
                                </m:e>
                                <m:sub>
                                  <m:r>
                                    <a:rPr kumimoji="1" lang="en-US" altLang="ja-JP" sz="3200" i="1">
                                      <a:latin typeface="Cambria Math" panose="02040503050406030204" pitchFamily="18" charset="0"/>
                                    </a:rPr>
                                    <m:t>𝑚</m:t>
                                  </m:r>
                                </m:sub>
                              </m:sSub>
                            </m:e>
                          </m:d>
                        </m:e>
                      </m:d>
                    </m:oMath>
                  </m:oMathPara>
                </a14:m>
                <a:endParaRPr kumimoji="1" lang="ja-JP" altLang="en-US" sz="3200" dirty="0"/>
              </a:p>
            </p:txBody>
          </p:sp>
        </mc:Choice>
        <mc:Fallback xmlns="">
          <p:sp>
            <p:nvSpPr>
              <p:cNvPr id="22" name="テキスト ボックス 21">
                <a:extLst>
                  <a:ext uri="{FF2B5EF4-FFF2-40B4-BE49-F238E27FC236}">
                    <a16:creationId xmlns:a16="http://schemas.microsoft.com/office/drawing/2014/main" id="{EBED5F32-D593-45E3-D94C-DFC2E68ADFEB}"/>
                  </a:ext>
                </a:extLst>
              </p:cNvPr>
              <p:cNvSpPr txBox="1">
                <a:spLocks noRot="1" noChangeAspect="1" noMove="1" noResize="1" noEditPoints="1" noAdjustHandles="1" noChangeArrowheads="1" noChangeShapeType="1" noTextEdit="1"/>
              </p:cNvSpPr>
              <p:nvPr/>
            </p:nvSpPr>
            <p:spPr>
              <a:xfrm>
                <a:off x="548640" y="1349530"/>
                <a:ext cx="8386335" cy="501035"/>
              </a:xfrm>
              <a:prstGeom prst="rect">
                <a:avLst/>
              </a:prstGeom>
              <a:blipFill>
                <a:blip r:embed="rId2"/>
                <a:stretch>
                  <a:fillRect/>
                </a:stretch>
              </a:blipFill>
            </p:spPr>
            <p:txBody>
              <a:bodyPr/>
              <a:lstStyle/>
              <a:p>
                <a:r>
                  <a:rPr lang="ja-JP"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553998"/>
          </a:xfrm>
          <a:prstGeom prst="rect">
            <a:avLst/>
          </a:prstGeom>
          <a:noFill/>
        </p:spPr>
        <p:txBody>
          <a:bodyPr wrap="square">
            <a:spAutoFit/>
          </a:bodyPr>
          <a:lstStyle/>
          <a:p>
            <a:pPr algn="l"/>
            <a:r>
              <a:rPr sz="3000" b="1" i="0" dirty="0">
                <a:solidFill>
                  <a:srgbClr val="1A1A2E"/>
                </a:solidFill>
              </a:rPr>
              <a:t>Brier </a:t>
            </a:r>
            <a:r>
              <a:rPr sz="3000" b="1" i="0" dirty="0" err="1">
                <a:solidFill>
                  <a:srgbClr val="1A1A2E"/>
                </a:solidFill>
              </a:rPr>
              <a:t>Score（ブライ</a:t>
            </a:r>
            <a:r>
              <a:rPr lang="ja-JP" altLang="en-US" sz="3000" b="1" dirty="0">
                <a:solidFill>
                  <a:srgbClr val="1A1A2E"/>
                </a:solidFill>
              </a:rPr>
              <a:t>ア</a:t>
            </a:r>
            <a:r>
              <a:rPr sz="3000" b="1" i="0" dirty="0" err="1">
                <a:solidFill>
                  <a:srgbClr val="1A1A2E"/>
                </a:solidFill>
              </a:rPr>
              <a:t>スコア）の詳細</a:t>
            </a:r>
            <a:endParaRPr sz="3000" b="1" i="0" dirty="0">
              <a:solidFill>
                <a:srgbClr val="1A1A2E"/>
              </a:solidFill>
            </a:endParaRP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12 / 26</a:t>
            </a:r>
          </a:p>
        </p:txBody>
      </p:sp>
      <p:sp>
        <p:nvSpPr>
          <p:cNvPr id="5" name="Rectangle 4"/>
          <p:cNvSpPr/>
          <p:nvPr/>
        </p:nvSpPr>
        <p:spPr>
          <a:xfrm>
            <a:off x="365760" y="868680"/>
            <a:ext cx="11457432" cy="226771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914400"/>
            <a:ext cx="1828800" cy="457200"/>
          </a:xfrm>
          <a:prstGeom prst="rect">
            <a:avLst/>
          </a:prstGeom>
          <a:noFill/>
        </p:spPr>
        <p:txBody>
          <a:bodyPr wrap="square">
            <a:spAutoFit/>
          </a:bodyPr>
          <a:lstStyle/>
          <a:p>
            <a:pPr algn="l"/>
            <a:r>
              <a:rPr sz="2000" b="1" i="0">
                <a:solidFill>
                  <a:srgbClr val="1A56AA"/>
                </a:solidFill>
              </a:rPr>
              <a:t>数式</a:t>
            </a:r>
          </a:p>
        </p:txBody>
      </p:sp>
      <p:sp>
        <p:nvSpPr>
          <p:cNvPr id="8" name="TextBox 7"/>
          <p:cNvSpPr txBox="1"/>
          <p:nvPr/>
        </p:nvSpPr>
        <p:spPr>
          <a:xfrm>
            <a:off x="9507855" y="1978382"/>
            <a:ext cx="2379345" cy="384721"/>
          </a:xfrm>
          <a:prstGeom prst="rect">
            <a:avLst/>
          </a:prstGeom>
          <a:noFill/>
        </p:spPr>
        <p:txBody>
          <a:bodyPr wrap="square">
            <a:spAutoFit/>
          </a:bodyPr>
          <a:lstStyle/>
          <a:p>
            <a:pPr algn="l"/>
            <a:r>
              <a:rPr sz="1900" b="0" dirty="0">
                <a:solidFill>
                  <a:srgbClr val="555555"/>
                </a:solidFill>
              </a:rPr>
              <a:t>（</a:t>
            </a:r>
            <a:r>
              <a:rPr sz="1900" b="0" dirty="0" err="1">
                <a:solidFill>
                  <a:srgbClr val="555555"/>
                </a:solidFill>
              </a:rPr>
              <a:t>i</a:t>
            </a:r>
            <a:r>
              <a:rPr sz="1900" b="0" dirty="0">
                <a:solidFill>
                  <a:srgbClr val="555555"/>
                </a:solidFill>
              </a:rPr>
              <a:t> = 1, 2, ..., N）</a:t>
            </a:r>
          </a:p>
        </p:txBody>
      </p:sp>
      <p:sp>
        <p:nvSpPr>
          <p:cNvPr id="9" name="TextBox 8"/>
          <p:cNvSpPr txBox="1"/>
          <p:nvPr/>
        </p:nvSpPr>
        <p:spPr>
          <a:xfrm>
            <a:off x="822960" y="2111246"/>
            <a:ext cx="10972800" cy="1015663"/>
          </a:xfrm>
          <a:prstGeom prst="rect">
            <a:avLst/>
          </a:prstGeom>
          <a:noFill/>
        </p:spPr>
        <p:txBody>
          <a:bodyPr wrap="square">
            <a:spAutoFit/>
          </a:bodyPr>
          <a:lstStyle/>
          <a:p>
            <a:pPr>
              <a:spcBef>
                <a:spcPts val="500"/>
              </a:spcBef>
            </a:pPr>
            <a:r>
              <a:rPr lang="en-US" sz="2000" dirty="0">
                <a:solidFill>
                  <a:srgbClr val="1A1A2E"/>
                </a:solidFill>
              </a:rPr>
              <a:t>N</a:t>
            </a:r>
            <a:r>
              <a:rPr lang="ja-JP" altLang="en-US" sz="2000" dirty="0">
                <a:solidFill>
                  <a:srgbClr val="1A1A2E"/>
                </a:solidFill>
              </a:rPr>
              <a:t>：データ数</a:t>
            </a:r>
            <a:br>
              <a:rPr lang="en-US" sz="2000" dirty="0">
                <a:solidFill>
                  <a:srgbClr val="1A1A2E"/>
                </a:solidFill>
              </a:rPr>
            </a:br>
            <a:r>
              <a:rPr sz="2000" dirty="0">
                <a:solidFill>
                  <a:srgbClr val="1A1A2E"/>
                </a:solidFill>
              </a:rPr>
              <a:t>pᵢ : モデルの確信度（0.0〜1.0</a:t>
            </a:r>
            <a:r>
              <a:rPr lang="ja-JP" altLang="en-US" sz="2000" dirty="0">
                <a:solidFill>
                  <a:srgbClr val="1A1A2E"/>
                </a:solidFill>
              </a:rPr>
              <a:t>）　</a:t>
            </a:r>
            <a:br>
              <a:rPr lang="en-US" altLang="ja-JP" sz="2000" dirty="0">
                <a:solidFill>
                  <a:srgbClr val="1A1A2E"/>
                </a:solidFill>
              </a:rPr>
            </a:br>
            <a:r>
              <a:rPr sz="2000" dirty="0">
                <a:solidFill>
                  <a:srgbClr val="1A1A2E"/>
                </a:solidFill>
              </a:rPr>
              <a:t>yᵢ : </a:t>
            </a:r>
            <a:r>
              <a:rPr sz="2000" dirty="0" err="1">
                <a:solidFill>
                  <a:srgbClr val="1A1A2E"/>
                </a:solidFill>
              </a:rPr>
              <a:t>正誤ラベル（正解</a:t>
            </a:r>
            <a:r>
              <a:rPr sz="2000" dirty="0">
                <a:solidFill>
                  <a:srgbClr val="1A1A2E"/>
                </a:solidFill>
              </a:rPr>
              <a:t>=1, </a:t>
            </a:r>
            <a:r>
              <a:rPr sz="2000" dirty="0" err="1">
                <a:solidFill>
                  <a:srgbClr val="1A1A2E"/>
                </a:solidFill>
              </a:rPr>
              <a:t>不正解</a:t>
            </a:r>
            <a:r>
              <a:rPr sz="2000" dirty="0">
                <a:solidFill>
                  <a:srgbClr val="1A1A2E"/>
                </a:solidFill>
              </a:rPr>
              <a:t>=0）</a:t>
            </a:r>
          </a:p>
        </p:txBody>
      </p:sp>
      <p:sp>
        <p:nvSpPr>
          <p:cNvPr id="10" name="Rectangle 9"/>
          <p:cNvSpPr/>
          <p:nvPr/>
        </p:nvSpPr>
        <p:spPr>
          <a:xfrm>
            <a:off x="365760" y="3246120"/>
            <a:ext cx="11457432" cy="18288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291840"/>
            <a:ext cx="11430000" cy="400110"/>
          </a:xfrm>
          <a:prstGeom prst="rect">
            <a:avLst/>
          </a:prstGeom>
          <a:noFill/>
        </p:spPr>
        <p:txBody>
          <a:bodyPr wrap="square">
            <a:spAutoFit/>
          </a:bodyPr>
          <a:lstStyle/>
          <a:p>
            <a:pPr algn="l"/>
            <a:r>
              <a:rPr sz="2000" b="1" i="0" dirty="0">
                <a:solidFill>
                  <a:srgbClr val="1A56AA"/>
                </a:solidFill>
              </a:rPr>
              <a:t>Murphy (1973) </a:t>
            </a:r>
            <a:r>
              <a:rPr sz="2000" b="1" i="0" dirty="0" err="1">
                <a:solidFill>
                  <a:srgbClr val="1A56AA"/>
                </a:solidFill>
              </a:rPr>
              <a:t>分解</a:t>
            </a:r>
            <a:r>
              <a:rPr sz="2000" b="1" i="0" dirty="0">
                <a:solidFill>
                  <a:srgbClr val="1A56AA"/>
                </a:solidFill>
              </a:rPr>
              <a:t>  ──  BS = REL − RES + UNC</a:t>
            </a:r>
            <a:r>
              <a:rPr lang="en-US" sz="2000" b="1" i="0" dirty="0">
                <a:solidFill>
                  <a:srgbClr val="1A56AA"/>
                </a:solidFill>
              </a:rPr>
              <a:t> </a:t>
            </a:r>
            <a:r>
              <a:rPr lang="ja-JP" altLang="en-US" sz="2000" b="1" i="0" dirty="0">
                <a:solidFill>
                  <a:srgbClr val="1A56AA"/>
                </a:solidFill>
              </a:rPr>
              <a:t>→使えるか要検討（気象分野でしか使われていない？）</a:t>
            </a:r>
            <a:endParaRPr sz="2000" b="1" i="0" dirty="0">
              <a:solidFill>
                <a:srgbClr val="1A56AA"/>
              </a:solidFill>
            </a:endParaRPr>
          </a:p>
        </p:txBody>
      </p:sp>
      <p:sp>
        <p:nvSpPr>
          <p:cNvPr id="12" name="Rectangle 11"/>
          <p:cNvSpPr/>
          <p:nvPr/>
        </p:nvSpPr>
        <p:spPr>
          <a:xfrm>
            <a:off x="457200" y="3840480"/>
            <a:ext cx="3566160" cy="105156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3949446"/>
            <a:ext cx="3383280" cy="411480"/>
          </a:xfrm>
          <a:prstGeom prst="rect">
            <a:avLst/>
          </a:prstGeom>
          <a:noFill/>
        </p:spPr>
        <p:txBody>
          <a:bodyPr wrap="square">
            <a:spAutoFit/>
          </a:bodyPr>
          <a:lstStyle/>
          <a:p>
            <a:pPr algn="l"/>
            <a:r>
              <a:rPr sz="1700" b="1" i="0">
                <a:solidFill>
                  <a:srgbClr val="FFFFFF"/>
                </a:solidFill>
              </a:rPr>
              <a:t>REL（Reliability）</a:t>
            </a:r>
          </a:p>
        </p:txBody>
      </p:sp>
      <p:sp>
        <p:nvSpPr>
          <p:cNvPr id="14" name="TextBox 13"/>
          <p:cNvSpPr txBox="1"/>
          <p:nvPr/>
        </p:nvSpPr>
        <p:spPr>
          <a:xfrm>
            <a:off x="492633" y="4239934"/>
            <a:ext cx="3383280" cy="584775"/>
          </a:xfrm>
          <a:prstGeom prst="rect">
            <a:avLst/>
          </a:prstGeom>
          <a:noFill/>
        </p:spPr>
        <p:txBody>
          <a:bodyPr wrap="square">
            <a:spAutoFit/>
          </a:bodyPr>
          <a:lstStyle/>
          <a:p>
            <a:r>
              <a:rPr sz="1600" b="0" i="0" dirty="0" err="1">
                <a:solidFill>
                  <a:srgbClr val="FFFFFF"/>
                </a:solidFill>
              </a:rPr>
              <a:t>キャリブレーション誤差</a:t>
            </a:r>
            <a:br>
              <a:rPr lang="en-US" sz="1600" b="0" i="0" dirty="0">
                <a:solidFill>
                  <a:srgbClr val="FFFFFF"/>
                </a:solidFill>
              </a:rPr>
            </a:br>
            <a:r>
              <a:rPr lang="ja-JP" altLang="en-US" sz="1600" i="1" dirty="0">
                <a:solidFill>
                  <a:srgbClr val="FFFFFF"/>
                </a:solidFill>
              </a:rPr>
              <a:t>小さいほど良い</a:t>
            </a:r>
          </a:p>
        </p:txBody>
      </p:sp>
      <p:sp>
        <p:nvSpPr>
          <p:cNvPr id="16" name="Rectangle 15"/>
          <p:cNvSpPr/>
          <p:nvPr/>
        </p:nvSpPr>
        <p:spPr>
          <a:xfrm>
            <a:off x="4343400" y="3840480"/>
            <a:ext cx="3566160" cy="105156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434840" y="3886200"/>
            <a:ext cx="3383280" cy="411480"/>
          </a:xfrm>
          <a:prstGeom prst="rect">
            <a:avLst/>
          </a:prstGeom>
          <a:noFill/>
        </p:spPr>
        <p:txBody>
          <a:bodyPr wrap="square">
            <a:spAutoFit/>
          </a:bodyPr>
          <a:lstStyle/>
          <a:p>
            <a:pPr algn="l"/>
            <a:r>
              <a:rPr sz="1700" b="1" i="0">
                <a:solidFill>
                  <a:srgbClr val="FFFFFF"/>
                </a:solidFill>
              </a:rPr>
              <a:t>RES（Resolution）</a:t>
            </a:r>
          </a:p>
        </p:txBody>
      </p:sp>
      <p:sp>
        <p:nvSpPr>
          <p:cNvPr id="18" name="TextBox 17"/>
          <p:cNvSpPr txBox="1"/>
          <p:nvPr/>
        </p:nvSpPr>
        <p:spPr>
          <a:xfrm>
            <a:off x="4366486" y="4126267"/>
            <a:ext cx="4093796" cy="1077218"/>
          </a:xfrm>
          <a:prstGeom prst="rect">
            <a:avLst/>
          </a:prstGeom>
          <a:noFill/>
        </p:spPr>
        <p:txBody>
          <a:bodyPr wrap="square">
            <a:spAutoFit/>
          </a:bodyPr>
          <a:lstStyle/>
          <a:p>
            <a:r>
              <a:rPr sz="1600" b="0" i="0" dirty="0" err="1">
                <a:solidFill>
                  <a:srgbClr val="FFFFFF"/>
                </a:solidFill>
              </a:rPr>
              <a:t>識別能力</a:t>
            </a:r>
            <a:br>
              <a:rPr lang="en-US" sz="1600" b="0" i="0" dirty="0">
                <a:solidFill>
                  <a:srgbClr val="FFFFFF"/>
                </a:solidFill>
              </a:rPr>
            </a:br>
            <a:r>
              <a:rPr sz="1600" b="0" i="0" dirty="0">
                <a:solidFill>
                  <a:srgbClr val="FFFFFF"/>
                </a:solidFill>
              </a:rPr>
              <a:t>（</a:t>
            </a:r>
            <a:r>
              <a:rPr sz="1600" b="0" i="0" dirty="0" err="1">
                <a:solidFill>
                  <a:srgbClr val="FFFFFF"/>
                </a:solidFill>
              </a:rPr>
              <a:t>正解・不正解を区別する能力</a:t>
            </a:r>
            <a:r>
              <a:rPr sz="1600" b="0" i="0" dirty="0">
                <a:solidFill>
                  <a:srgbClr val="FFFFFF"/>
                </a:solidFill>
              </a:rPr>
              <a:t>）</a:t>
            </a:r>
            <a:br>
              <a:rPr lang="en-US" sz="1600" b="0" i="0" dirty="0">
                <a:solidFill>
                  <a:srgbClr val="FFFFFF"/>
                </a:solidFill>
              </a:rPr>
            </a:br>
            <a:r>
              <a:rPr lang="ja-JP" altLang="en-US" sz="1600" i="1" dirty="0">
                <a:solidFill>
                  <a:srgbClr val="FFFFFF"/>
                </a:solidFill>
              </a:rPr>
              <a:t>大きいほど良い</a:t>
            </a:r>
          </a:p>
          <a:p>
            <a:pPr algn="l"/>
            <a:endParaRPr sz="1600" b="0" i="0" dirty="0">
              <a:solidFill>
                <a:srgbClr val="FFFFFF"/>
              </a:solidFill>
            </a:endParaRPr>
          </a:p>
        </p:txBody>
      </p:sp>
      <p:sp>
        <p:nvSpPr>
          <p:cNvPr id="20" name="Rectangle 19"/>
          <p:cNvSpPr/>
          <p:nvPr/>
        </p:nvSpPr>
        <p:spPr>
          <a:xfrm>
            <a:off x="8229600" y="3840480"/>
            <a:ext cx="3566160" cy="105156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21040" y="3886200"/>
            <a:ext cx="3383280" cy="411480"/>
          </a:xfrm>
          <a:prstGeom prst="rect">
            <a:avLst/>
          </a:prstGeom>
          <a:noFill/>
        </p:spPr>
        <p:txBody>
          <a:bodyPr wrap="square">
            <a:spAutoFit/>
          </a:bodyPr>
          <a:lstStyle/>
          <a:p>
            <a:pPr algn="l"/>
            <a:r>
              <a:rPr sz="1700" b="1" i="0">
                <a:solidFill>
                  <a:srgbClr val="FFFFFF"/>
                </a:solidFill>
              </a:rPr>
              <a:t>UNC（Uncertainty）</a:t>
            </a:r>
          </a:p>
        </p:txBody>
      </p:sp>
      <p:sp>
        <p:nvSpPr>
          <p:cNvPr id="22" name="TextBox 21"/>
          <p:cNvSpPr txBox="1"/>
          <p:nvPr/>
        </p:nvSpPr>
        <p:spPr>
          <a:xfrm>
            <a:off x="8353044" y="4200374"/>
            <a:ext cx="3383280" cy="457200"/>
          </a:xfrm>
          <a:prstGeom prst="rect">
            <a:avLst/>
          </a:prstGeom>
          <a:noFill/>
        </p:spPr>
        <p:txBody>
          <a:bodyPr wrap="square">
            <a:spAutoFit/>
          </a:bodyPr>
          <a:lstStyle/>
          <a:p>
            <a:pPr algn="l"/>
            <a:r>
              <a:rPr sz="1700" b="0" i="0" dirty="0" err="1">
                <a:solidFill>
                  <a:srgbClr val="FFFFFF"/>
                </a:solidFill>
              </a:rPr>
              <a:t>データ固有の不確実性</a:t>
            </a:r>
            <a:endParaRPr sz="1700" b="0" i="0" dirty="0">
              <a:solidFill>
                <a:srgbClr val="FFFFFF"/>
              </a:solidFill>
            </a:endParaRPr>
          </a:p>
        </p:txBody>
      </p:sp>
      <p:sp>
        <p:nvSpPr>
          <p:cNvPr id="23" name="TextBox 22"/>
          <p:cNvSpPr txBox="1"/>
          <p:nvPr/>
        </p:nvSpPr>
        <p:spPr>
          <a:xfrm>
            <a:off x="8321040" y="4526280"/>
            <a:ext cx="3383280" cy="182880"/>
          </a:xfrm>
          <a:prstGeom prst="rect">
            <a:avLst/>
          </a:prstGeom>
          <a:noFill/>
        </p:spPr>
        <p:txBody>
          <a:bodyPr wrap="square">
            <a:spAutoFit/>
          </a:bodyPr>
          <a:lstStyle/>
          <a:p>
            <a:pPr algn="l"/>
            <a:r>
              <a:rPr sz="1600" b="0" i="1" dirty="0" err="1">
                <a:solidFill>
                  <a:srgbClr val="FFFFFF"/>
                </a:solidFill>
              </a:rPr>
              <a:t>制御不能（固定値</a:t>
            </a:r>
            <a:r>
              <a:rPr sz="1600" b="0" i="1" dirty="0">
                <a:solidFill>
                  <a:srgbClr val="FFFFFF"/>
                </a:solidFill>
              </a:rPr>
              <a:t>）</a:t>
            </a:r>
          </a:p>
        </p:txBody>
      </p:sp>
      <p:sp>
        <p:nvSpPr>
          <p:cNvPr id="24" name="Rectangle 23"/>
          <p:cNvSpPr/>
          <p:nvPr/>
        </p:nvSpPr>
        <p:spPr>
          <a:xfrm>
            <a:off x="365760" y="5166360"/>
            <a:ext cx="5303520" cy="15087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5212080"/>
            <a:ext cx="5120640" cy="457200"/>
          </a:xfrm>
          <a:prstGeom prst="rect">
            <a:avLst/>
          </a:prstGeom>
          <a:noFill/>
        </p:spPr>
        <p:txBody>
          <a:bodyPr wrap="square">
            <a:spAutoFit/>
          </a:bodyPr>
          <a:lstStyle/>
          <a:p>
            <a:pPr algn="l"/>
            <a:r>
              <a:rPr sz="2000" b="1" i="0">
                <a:solidFill>
                  <a:srgbClr val="1A56AA"/>
                </a:solidFill>
              </a:rPr>
              <a:t>値の範囲と解釈</a:t>
            </a:r>
          </a:p>
        </p:txBody>
      </p:sp>
      <p:sp>
        <p:nvSpPr>
          <p:cNvPr id="26" name="TextBox 25"/>
          <p:cNvSpPr txBox="1"/>
          <p:nvPr/>
        </p:nvSpPr>
        <p:spPr>
          <a:xfrm>
            <a:off x="484505" y="5622881"/>
            <a:ext cx="5120640" cy="1015663"/>
          </a:xfrm>
          <a:prstGeom prst="rect">
            <a:avLst/>
          </a:prstGeom>
          <a:noFill/>
        </p:spPr>
        <p:txBody>
          <a:bodyPr wrap="square">
            <a:spAutoFit/>
          </a:bodyPr>
          <a:lstStyle/>
          <a:p>
            <a:pPr algn="l"/>
            <a:r>
              <a:rPr sz="2000" b="0" i="0" dirty="0">
                <a:solidFill>
                  <a:srgbClr val="1A1A2E"/>
                </a:solidFill>
              </a:rPr>
              <a:t>0.0 = </a:t>
            </a:r>
            <a:r>
              <a:rPr sz="2000" b="0" i="0" dirty="0" err="1">
                <a:solidFill>
                  <a:srgbClr val="1A1A2E"/>
                </a:solidFill>
              </a:rPr>
              <a:t>完全予測</a:t>
            </a:r>
            <a:endParaRPr lang="en-US" sz="2000" dirty="0">
              <a:solidFill>
                <a:srgbClr val="1A1A2E"/>
              </a:solidFill>
            </a:endParaRPr>
          </a:p>
          <a:p>
            <a:pPr algn="l"/>
            <a:r>
              <a:rPr sz="2000" b="0" i="0" dirty="0">
                <a:solidFill>
                  <a:srgbClr val="1A1A2E"/>
                </a:solidFill>
              </a:rPr>
              <a:t>0.25 = </a:t>
            </a:r>
            <a:r>
              <a:rPr sz="2000" b="0" i="0" dirty="0" err="1">
                <a:solidFill>
                  <a:srgbClr val="1A1A2E"/>
                </a:solidFill>
              </a:rPr>
              <a:t>ランダム予測に相当</a:t>
            </a:r>
            <a:r>
              <a:rPr lang="en-US" sz="2000" b="0" i="0" dirty="0">
                <a:solidFill>
                  <a:srgbClr val="1A1A2E"/>
                </a:solidFill>
              </a:rPr>
              <a:t>(=0.5*0.5)</a:t>
            </a:r>
            <a:r>
              <a:rPr sz="2000" b="0" i="0" dirty="0">
                <a:solidFill>
                  <a:srgbClr val="1A1A2E"/>
                </a:solidFill>
              </a:rPr>
              <a:t>
（</a:t>
            </a:r>
            <a:r>
              <a:rPr lang="ja-JP" altLang="en-US" sz="2000" b="0" i="0" dirty="0">
                <a:solidFill>
                  <a:srgbClr val="1A1A2E"/>
                </a:solidFill>
              </a:rPr>
              <a:t>値は</a:t>
            </a:r>
            <a:r>
              <a:rPr lang="en-US" sz="2000" b="0" i="0" dirty="0">
                <a:solidFill>
                  <a:srgbClr val="1A1A2E"/>
                </a:solidFill>
              </a:rPr>
              <a:t>0~1</a:t>
            </a:r>
            <a:r>
              <a:rPr lang="ja-JP" altLang="en-US" sz="2000" b="0" i="0" dirty="0">
                <a:solidFill>
                  <a:srgbClr val="1A1A2E"/>
                </a:solidFill>
              </a:rPr>
              <a:t>の範囲、</a:t>
            </a:r>
            <a:r>
              <a:rPr sz="2000" b="0" i="0" dirty="0" err="1">
                <a:solidFill>
                  <a:srgbClr val="1A1A2E"/>
                </a:solidFill>
              </a:rPr>
              <a:t>低いほど良い</a:t>
            </a:r>
            <a:r>
              <a:rPr sz="2000" b="0" i="0" dirty="0">
                <a:solidFill>
                  <a:srgbClr val="1A1A2E"/>
                </a:solidFill>
              </a:rPr>
              <a:t>）</a:t>
            </a:r>
          </a:p>
        </p:txBody>
      </p:sp>
      <p:sp>
        <p:nvSpPr>
          <p:cNvPr id="27" name="Rectangle 26"/>
          <p:cNvSpPr/>
          <p:nvPr/>
        </p:nvSpPr>
        <p:spPr>
          <a:xfrm>
            <a:off x="5852160" y="5166360"/>
            <a:ext cx="5943600" cy="15087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943600" y="5212080"/>
            <a:ext cx="5760720" cy="457200"/>
          </a:xfrm>
          <a:prstGeom prst="rect">
            <a:avLst/>
          </a:prstGeom>
          <a:noFill/>
        </p:spPr>
        <p:txBody>
          <a:bodyPr wrap="square">
            <a:spAutoFit/>
          </a:bodyPr>
          <a:lstStyle/>
          <a:p>
            <a:pPr algn="l"/>
            <a:r>
              <a:rPr sz="2000" b="1" i="0">
                <a:solidFill>
                  <a:srgbClr val="1A56AA"/>
                </a:solidFill>
              </a:rPr>
              <a:t>採用理由</a:t>
            </a:r>
          </a:p>
        </p:txBody>
      </p:sp>
      <p:sp>
        <p:nvSpPr>
          <p:cNvPr id="29" name="TextBox 28"/>
          <p:cNvSpPr txBox="1"/>
          <p:nvPr/>
        </p:nvSpPr>
        <p:spPr>
          <a:xfrm>
            <a:off x="5943600" y="5530547"/>
            <a:ext cx="5669280" cy="1200329"/>
          </a:xfrm>
          <a:prstGeom prst="rect">
            <a:avLst/>
          </a:prstGeom>
          <a:noFill/>
        </p:spPr>
        <p:txBody>
          <a:bodyPr wrap="square">
            <a:spAutoFit/>
          </a:bodyPr>
          <a:lstStyle/>
          <a:p>
            <a:pPr algn="l"/>
            <a:r>
              <a:rPr sz="1800" b="0" i="0" dirty="0">
                <a:solidFill>
                  <a:srgbClr val="1A1A2E"/>
                </a:solidFill>
              </a:rPr>
              <a:t>① Proper Scoring Rule → ECE </a:t>
            </a:r>
            <a:r>
              <a:rPr sz="1800" b="0" i="0" dirty="0" err="1">
                <a:solidFill>
                  <a:srgbClr val="1A1A2E"/>
                </a:solidFill>
              </a:rPr>
              <a:t>の理論的弱点を補完</a:t>
            </a:r>
            <a:r>
              <a:rPr sz="1800" b="0" i="0" dirty="0">
                <a:solidFill>
                  <a:srgbClr val="1A1A2E"/>
                </a:solidFill>
              </a:rPr>
              <a:t>
② </a:t>
            </a:r>
            <a:r>
              <a:rPr sz="1800" b="0" i="0" dirty="0" err="1">
                <a:solidFill>
                  <a:srgbClr val="1A1A2E"/>
                </a:solidFill>
              </a:rPr>
              <a:t>ビン数に依存しない独立測定が得られる</a:t>
            </a:r>
            <a:r>
              <a:rPr sz="1800" b="0" i="0" dirty="0">
                <a:solidFill>
                  <a:srgbClr val="1A1A2E"/>
                </a:solidFill>
              </a:rPr>
              <a:t>
③ Murphy </a:t>
            </a:r>
            <a:r>
              <a:rPr sz="1800" b="0" i="0" dirty="0" err="1">
                <a:solidFill>
                  <a:srgbClr val="1A1A2E"/>
                </a:solidFill>
              </a:rPr>
              <a:t>分解で「なぜズレるか」を分離して分析できる</a:t>
            </a:r>
            <a:r>
              <a:rPr lang="ja-JP" altLang="en-US" sz="1800" b="0" i="0" dirty="0">
                <a:solidFill>
                  <a:srgbClr val="1A1A2E"/>
                </a:solidFill>
              </a:rPr>
              <a:t>（かも？）</a:t>
            </a:r>
            <a:endParaRPr sz="1800" b="0" i="0" dirty="0">
              <a:solidFill>
                <a:srgbClr val="1A1A2E"/>
              </a:solidFill>
            </a:endParaRPr>
          </a:p>
        </p:txBody>
      </p: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36B7538A-53CA-24A8-06AB-E50EB27FE518}"/>
                  </a:ext>
                </a:extLst>
              </p:cNvPr>
              <p:cNvSpPr txBox="1"/>
              <p:nvPr/>
            </p:nvSpPr>
            <p:spPr>
              <a:xfrm>
                <a:off x="2211705" y="1313803"/>
                <a:ext cx="5154232" cy="5195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i="1" smtClean="0">
                          <a:latin typeface="Cambria Math" panose="02040503050406030204" pitchFamily="18" charset="0"/>
                        </a:rPr>
                        <m:t>𝐵𝑆</m:t>
                      </m:r>
                      <m:r>
                        <a:rPr kumimoji="1" lang="en-US" altLang="ja-JP" sz="3200" i="1" smtClean="0">
                          <a:latin typeface="Cambria Math" panose="02040503050406030204" pitchFamily="18" charset="0"/>
                        </a:rPr>
                        <m:t>=</m:t>
                      </m:r>
                      <m:d>
                        <m:dPr>
                          <m:ctrlPr>
                            <a:rPr kumimoji="1" lang="en-US" altLang="ja-JP" sz="3200" i="1">
                              <a:latin typeface="Cambria Math" panose="02040503050406030204" pitchFamily="18" charset="0"/>
                            </a:rPr>
                          </m:ctrlPr>
                        </m:dPr>
                        <m:e>
                          <m:r>
                            <a:rPr kumimoji="1" lang="en-US" altLang="ja-JP" sz="3200" i="1">
                              <a:latin typeface="Cambria Math" panose="02040503050406030204" pitchFamily="18" charset="0"/>
                            </a:rPr>
                            <m:t>1</m:t>
                          </m:r>
                          <m:r>
                            <m:rPr>
                              <m:lit/>
                            </m:rPr>
                            <a:rPr kumimoji="1" lang="en-US" altLang="ja-JP" sz="3200" i="1">
                              <a:latin typeface="Cambria Math" panose="02040503050406030204" pitchFamily="18" charset="0"/>
                            </a:rPr>
                            <m:t>/</m:t>
                          </m:r>
                          <m:r>
                            <a:rPr kumimoji="1" lang="en-US" altLang="ja-JP" sz="3200" i="1">
                              <a:latin typeface="Cambria Math" panose="02040503050406030204" pitchFamily="18" charset="0"/>
                            </a:rPr>
                            <m:t>𝑁</m:t>
                          </m:r>
                        </m:e>
                      </m:d>
                      <m:r>
                        <a:rPr kumimoji="1" lang="en-US" altLang="ja-JP" sz="3200" i="1">
                          <a:latin typeface="Cambria Math" panose="02040503050406030204" pitchFamily="18" charset="0"/>
                        </a:rPr>
                        <m:t>×</m:t>
                      </m:r>
                      <m:sSubSup>
                        <m:sSubSupPr>
                          <m:ctrlPr>
                            <a:rPr kumimoji="1" lang="el-GR" altLang="ja-JP" sz="3200" i="1">
                              <a:latin typeface="Cambria Math" panose="02040503050406030204" pitchFamily="18" charset="0"/>
                            </a:rPr>
                          </m:ctrlPr>
                        </m:sSubSupPr>
                        <m:e>
                          <m:r>
                            <a:rPr kumimoji="1" lang="el-GR" altLang="ja-JP" sz="3200" i="1">
                              <a:latin typeface="Cambria Math" panose="02040503050406030204" pitchFamily="18" charset="0"/>
                            </a:rPr>
                            <m:t>𝛴</m:t>
                          </m:r>
                        </m:e>
                        <m:sub>
                          <m:r>
                            <a:rPr kumimoji="1" lang="en-US" altLang="ja-JP" sz="3200" i="1">
                              <a:latin typeface="Cambria Math" panose="02040503050406030204" pitchFamily="18" charset="0"/>
                            </a:rPr>
                            <m:t>𝑖</m:t>
                          </m:r>
                          <m:r>
                            <a:rPr kumimoji="1" lang="en-US" altLang="ja-JP" sz="3200" i="1">
                              <a:latin typeface="Cambria Math" panose="02040503050406030204" pitchFamily="18" charset="0"/>
                            </a:rPr>
                            <m:t>=1</m:t>
                          </m:r>
                        </m:sub>
                        <m:sup>
                          <m:r>
                            <a:rPr kumimoji="1" lang="en-US" altLang="ja-JP" sz="3200" i="1">
                              <a:latin typeface="Cambria Math" panose="02040503050406030204" pitchFamily="18" charset="0"/>
                            </a:rPr>
                            <m:t>𝑁</m:t>
                          </m:r>
                        </m:sup>
                      </m:sSubSup>
                      <m:sSup>
                        <m:sSupPr>
                          <m:ctrlPr>
                            <a:rPr kumimoji="1" lang="en-US" altLang="ja-JP" sz="3200" i="1">
                              <a:latin typeface="Cambria Math" panose="02040503050406030204" pitchFamily="18" charset="0"/>
                            </a:rPr>
                          </m:ctrlPr>
                        </m:sSupPr>
                        <m:e>
                          <m:d>
                            <m:dPr>
                              <m:ctrlPr>
                                <a:rPr kumimoji="1" lang="en-US" altLang="ja-JP" sz="3200" i="1">
                                  <a:latin typeface="Cambria Math" panose="02040503050406030204" pitchFamily="18" charset="0"/>
                                </a:rPr>
                              </m:ctrlPr>
                            </m:dPr>
                            <m:e>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𝑝</m:t>
                                  </m:r>
                                </m:e>
                                <m:sub>
                                  <m:r>
                                    <a:rPr kumimoji="1" lang="en-US" altLang="ja-JP" sz="3200" i="1">
                                      <a:latin typeface="Cambria Math" panose="02040503050406030204" pitchFamily="18" charset="0"/>
                                    </a:rPr>
                                    <m:t>𝑖</m:t>
                                  </m:r>
                                </m:sub>
                              </m:sSub>
                              <m:r>
                                <a:rPr kumimoji="1" lang="en-US" altLang="ja-JP" sz="3200" i="1">
                                  <a:latin typeface="Cambria Math" panose="02040503050406030204" pitchFamily="18" charset="0"/>
                                </a:rPr>
                                <m:t>−</m:t>
                              </m:r>
                              <m:sSub>
                                <m:sSubPr>
                                  <m:ctrlPr>
                                    <a:rPr kumimoji="1" lang="en-US" altLang="ja-JP" sz="3200" i="1">
                                      <a:latin typeface="Cambria Math" panose="02040503050406030204" pitchFamily="18" charset="0"/>
                                    </a:rPr>
                                  </m:ctrlPr>
                                </m:sSubPr>
                                <m:e>
                                  <m:r>
                                    <a:rPr kumimoji="1" lang="en-US" altLang="ja-JP" sz="3200" i="1">
                                      <a:latin typeface="Cambria Math" panose="02040503050406030204" pitchFamily="18" charset="0"/>
                                    </a:rPr>
                                    <m:t>𝑦</m:t>
                                  </m:r>
                                </m:e>
                                <m:sub>
                                  <m:r>
                                    <a:rPr kumimoji="1" lang="en-US" altLang="ja-JP" sz="3200" i="1">
                                      <a:latin typeface="Cambria Math" panose="02040503050406030204" pitchFamily="18" charset="0"/>
                                    </a:rPr>
                                    <m:t>𝑖</m:t>
                                  </m:r>
                                </m:sub>
                              </m:sSub>
                            </m:e>
                          </m:d>
                        </m:e>
                        <m:sup>
                          <m:r>
                            <a:rPr kumimoji="1" lang="en-US" altLang="ja-JP" sz="3200" i="1">
                              <a:latin typeface="Cambria Math" panose="02040503050406030204" pitchFamily="18" charset="0"/>
                            </a:rPr>
                            <m:t>2</m:t>
                          </m:r>
                        </m:sup>
                      </m:sSup>
                    </m:oMath>
                  </m:oMathPara>
                </a14:m>
                <a:endParaRPr kumimoji="1" lang="ja-JP" altLang="en-US" sz="3200" dirty="0"/>
              </a:p>
            </p:txBody>
          </p:sp>
        </mc:Choice>
        <mc:Fallback xmlns="">
          <p:sp>
            <p:nvSpPr>
              <p:cNvPr id="31" name="テキスト ボックス 30">
                <a:extLst>
                  <a:ext uri="{FF2B5EF4-FFF2-40B4-BE49-F238E27FC236}">
                    <a16:creationId xmlns:a16="http://schemas.microsoft.com/office/drawing/2014/main" id="{36B7538A-53CA-24A8-06AB-E50EB27FE518}"/>
                  </a:ext>
                </a:extLst>
              </p:cNvPr>
              <p:cNvSpPr txBox="1">
                <a:spLocks noRot="1" noChangeAspect="1" noMove="1" noResize="1" noEditPoints="1" noAdjustHandles="1" noChangeArrowheads="1" noChangeShapeType="1" noTextEdit="1"/>
              </p:cNvSpPr>
              <p:nvPr/>
            </p:nvSpPr>
            <p:spPr>
              <a:xfrm>
                <a:off x="2211705" y="1313803"/>
                <a:ext cx="5154232" cy="519501"/>
              </a:xfrm>
              <a:prstGeom prst="rect">
                <a:avLst/>
              </a:prstGeom>
              <a:blipFill>
                <a:blip r:embed="rId2"/>
                <a:stretch>
                  <a:fillRect/>
                </a:stretch>
              </a:blipFill>
            </p:spPr>
            <p:txBody>
              <a:bodyPr/>
              <a:lstStyle/>
              <a:p>
                <a:r>
                  <a:rPr lang="ja-JP"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AUROC（ROC 曲線下面積）の詳細</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13 / 26</a:t>
            </a:r>
          </a:p>
        </p:txBody>
      </p:sp>
      <p:sp>
        <p:nvSpPr>
          <p:cNvPr id="5" name="TextBox 4"/>
          <p:cNvSpPr txBox="1"/>
          <p:nvPr/>
        </p:nvSpPr>
        <p:spPr>
          <a:xfrm>
            <a:off x="457200" y="868680"/>
            <a:ext cx="11430000" cy="457200"/>
          </a:xfrm>
          <a:prstGeom prst="rect">
            <a:avLst/>
          </a:prstGeom>
          <a:noFill/>
        </p:spPr>
        <p:txBody>
          <a:bodyPr wrap="square">
            <a:spAutoFit/>
          </a:bodyPr>
          <a:lstStyle/>
          <a:p>
            <a:pPr algn="l"/>
            <a:r>
              <a:rPr sz="1900" b="0" i="1">
                <a:solidFill>
                  <a:srgbClr val="555555"/>
                </a:solidFill>
              </a:rPr>
              <a:t>AUROC = Area Under the Receiver Operating Characteristic Curve</a:t>
            </a:r>
          </a:p>
        </p:txBody>
      </p:sp>
      <p:sp>
        <p:nvSpPr>
          <p:cNvPr id="6" name="Rectangle 5"/>
          <p:cNvSpPr/>
          <p:nvPr/>
        </p:nvSpPr>
        <p:spPr>
          <a:xfrm>
            <a:off x="365760" y="1389888"/>
            <a:ext cx="11457432" cy="15087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435608"/>
            <a:ext cx="1828800" cy="411480"/>
          </a:xfrm>
          <a:prstGeom prst="rect">
            <a:avLst/>
          </a:prstGeom>
          <a:noFill/>
        </p:spPr>
        <p:txBody>
          <a:bodyPr wrap="square">
            <a:spAutoFit/>
          </a:bodyPr>
          <a:lstStyle/>
          <a:p>
            <a:pPr algn="l"/>
            <a:r>
              <a:rPr sz="2000" b="1" i="0">
                <a:solidFill>
                  <a:srgbClr val="1A56AA"/>
                </a:solidFill>
              </a:rPr>
              <a:t>数式</a:t>
            </a:r>
          </a:p>
        </p:txBody>
      </p:sp>
      <mc:AlternateContent xmlns:mc="http://schemas.openxmlformats.org/markup-compatibility/2006" xmlns:a14="http://schemas.microsoft.com/office/drawing/2010/main">
        <mc:Choice Requires="a14">
          <p:sp>
            <p:nvSpPr>
              <p:cNvPr id="8" name="TextBox 7"/>
              <p:cNvSpPr txBox="1"/>
              <p:nvPr/>
            </p:nvSpPr>
            <p:spPr>
              <a:xfrm>
                <a:off x="2057400" y="1557040"/>
                <a:ext cx="7315200" cy="523220"/>
              </a:xfrm>
              <a:prstGeom prst="rect">
                <a:avLst/>
              </a:prstGeom>
              <a:noFill/>
            </p:spPr>
            <p:txBody>
              <a:bodyPr wrap="square">
                <a:spAutoFit/>
              </a:bodyPr>
              <a:lstStyle/>
              <a:p>
                <a:pPr algn="l"/>
                <a14:m>
                  <m:oMathPara xmlns:m="http://schemas.openxmlformats.org/officeDocument/2006/math">
                    <m:oMathParaPr>
                      <m:jc m:val="centerGroup"/>
                    </m:oMathParaPr>
                    <m:oMath xmlns:m="http://schemas.openxmlformats.org/officeDocument/2006/math">
                      <m:r>
                        <m:rPr>
                          <m:sty m:val="p"/>
                        </m:rPr>
                        <a:rPr lang="en-US" altLang="ja-JP" sz="2800" b="1" i="1" smtClean="0">
                          <a:solidFill>
                            <a:srgbClr val="1A1A2E"/>
                          </a:solidFill>
                          <a:latin typeface="Cambria Math" panose="02040503050406030204" pitchFamily="18" charset="0"/>
                        </a:rPr>
                        <m:t>AUROC</m:t>
                      </m:r>
                      <m:r>
                        <a:rPr lang="en-US" altLang="ja-JP" sz="2800" b="1" i="1" smtClean="0">
                          <a:solidFill>
                            <a:srgbClr val="1A1A2E"/>
                          </a:solidFill>
                          <a:latin typeface="Cambria Math" panose="02040503050406030204" pitchFamily="18" charset="0"/>
                        </a:rPr>
                        <m:t>=</m:t>
                      </m:r>
                      <m:r>
                        <m:rPr>
                          <m:sty m:val="p"/>
                        </m:rPr>
                        <a:rPr lang="en-US" altLang="ja-JP" sz="2800" b="1" i="1" smtClean="0">
                          <a:solidFill>
                            <a:srgbClr val="1A1A2E"/>
                          </a:solidFill>
                          <a:latin typeface="Cambria Math" panose="02040503050406030204" pitchFamily="18" charset="0"/>
                        </a:rPr>
                        <m:t>P</m:t>
                      </m:r>
                      <m:r>
                        <a:rPr lang="en-US" altLang="ja-JP" sz="2800" b="1" i="1" smtClean="0">
                          <a:solidFill>
                            <a:srgbClr val="1A1A2E"/>
                          </a:solidFill>
                          <a:latin typeface="Cambria Math" panose="02040503050406030204" pitchFamily="18" charset="0"/>
                        </a:rPr>
                        <m:t>(</m:t>
                      </m:r>
                      <m:sSup>
                        <m:sSupPr>
                          <m:ctrlPr>
                            <a:rPr lang="en-US" altLang="ja-JP" sz="2800" b="1" i="1" smtClean="0">
                              <a:solidFill>
                                <a:srgbClr val="1A1A2E"/>
                              </a:solidFill>
                              <a:latin typeface="Cambria Math" panose="02040503050406030204" pitchFamily="18" charset="0"/>
                            </a:rPr>
                          </m:ctrlPr>
                        </m:sSupPr>
                        <m:e>
                          <m:r>
                            <m:rPr>
                              <m:sty m:val="p"/>
                            </m:rPr>
                            <a:rPr lang="en-US" altLang="ja-JP" sz="2800" b="1" i="1" smtClean="0">
                              <a:solidFill>
                                <a:srgbClr val="1A1A2E"/>
                              </a:solidFill>
                              <a:latin typeface="Cambria Math" panose="02040503050406030204" pitchFamily="18" charset="0"/>
                            </a:rPr>
                            <m:t>p</m:t>
                          </m:r>
                        </m:e>
                        <m:sup>
                          <m:r>
                            <a:rPr lang="en-US" altLang="ja-JP" sz="2800" b="1" i="1" smtClean="0">
                              <a:solidFill>
                                <a:srgbClr val="1A1A2E"/>
                              </a:solidFill>
                              <a:latin typeface="Cambria Math" panose="02040503050406030204" pitchFamily="18" charset="0"/>
                            </a:rPr>
                            <m:t>+</m:t>
                          </m:r>
                        </m:sup>
                      </m:sSup>
                      <m:r>
                        <a:rPr lang="en-US" altLang="ja-JP" sz="2800" b="1" i="1" smtClean="0">
                          <a:solidFill>
                            <a:srgbClr val="1A1A2E"/>
                          </a:solidFill>
                          <a:latin typeface="Cambria Math" panose="02040503050406030204" pitchFamily="18" charset="0"/>
                        </a:rPr>
                        <m:t>&gt;</m:t>
                      </m:r>
                      <m:sSup>
                        <m:sSupPr>
                          <m:ctrlPr>
                            <a:rPr lang="en-US" altLang="ja-JP" sz="2800" b="1" i="1" smtClean="0">
                              <a:solidFill>
                                <a:srgbClr val="1A1A2E"/>
                              </a:solidFill>
                              <a:latin typeface="Cambria Math" panose="02040503050406030204" pitchFamily="18" charset="0"/>
                            </a:rPr>
                          </m:ctrlPr>
                        </m:sSupPr>
                        <m:e>
                          <m:r>
                            <m:rPr>
                              <m:sty m:val="p"/>
                            </m:rPr>
                            <a:rPr lang="en-US" altLang="ja-JP" sz="2800" b="1" i="1" smtClean="0">
                              <a:solidFill>
                                <a:srgbClr val="1A1A2E"/>
                              </a:solidFill>
                              <a:latin typeface="Cambria Math" panose="02040503050406030204" pitchFamily="18" charset="0"/>
                            </a:rPr>
                            <m:t>p</m:t>
                          </m:r>
                        </m:e>
                        <m:sup>
                          <m:r>
                            <a:rPr lang="en-US" altLang="ja-JP" sz="2800" b="1" i="1" smtClean="0">
                              <a:solidFill>
                                <a:srgbClr val="1A1A2E"/>
                              </a:solidFill>
                              <a:latin typeface="Cambria Math" panose="02040503050406030204" pitchFamily="18" charset="0"/>
                            </a:rPr>
                            <m:t>−</m:t>
                          </m:r>
                        </m:sup>
                      </m:sSup>
                      <m:r>
                        <a:rPr lang="en-US" altLang="ja-JP" sz="2800" b="1" i="1" smtClean="0">
                          <a:solidFill>
                            <a:srgbClr val="1A1A2E"/>
                          </a:solidFill>
                          <a:latin typeface="Cambria Math" panose="02040503050406030204" pitchFamily="18" charset="0"/>
                        </a:rPr>
                        <m:t>)</m:t>
                      </m:r>
                    </m:oMath>
                  </m:oMathPara>
                </a14:m>
                <a:endParaRPr sz="2800" b="1" i="0" dirty="0">
                  <a:solidFill>
                    <a:srgbClr val="1A1A2E"/>
                  </a:solidFill>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2057400" y="1557040"/>
                <a:ext cx="7315200" cy="523220"/>
              </a:xfrm>
              <a:prstGeom prst="rect">
                <a:avLst/>
              </a:prstGeom>
              <a:blipFill>
                <a:blip r:embed="rId2"/>
                <a:stretch>
                  <a:fillRect/>
                </a:stretch>
              </a:blipFill>
            </p:spPr>
            <p:txBody>
              <a:bodyPr/>
              <a:lstStyle/>
              <a:p>
                <a:r>
                  <a:rPr lang="ja-JP" altLang="en-US">
                    <a:noFill/>
                  </a:rPr>
                  <a:t> </a:t>
                </a:r>
              </a:p>
            </p:txBody>
          </p:sp>
        </mc:Fallback>
      </mc:AlternateContent>
      <p:sp>
        <p:nvSpPr>
          <p:cNvPr id="9" name="TextBox 8"/>
          <p:cNvSpPr txBox="1"/>
          <p:nvPr/>
        </p:nvSpPr>
        <p:spPr>
          <a:xfrm>
            <a:off x="640080" y="2201692"/>
            <a:ext cx="11247120" cy="646331"/>
          </a:xfrm>
          <a:prstGeom prst="rect">
            <a:avLst/>
          </a:prstGeom>
          <a:noFill/>
        </p:spPr>
        <p:txBody>
          <a:bodyPr wrap="square">
            <a:spAutoFit/>
          </a:bodyPr>
          <a:lstStyle/>
          <a:p>
            <a:pPr algn="l"/>
            <a:r>
              <a:rPr sz="1800" b="0" i="0" dirty="0">
                <a:solidFill>
                  <a:srgbClr val="555555"/>
                </a:solidFill>
              </a:rPr>
              <a:t>p⁺ : </a:t>
            </a:r>
            <a:r>
              <a:rPr sz="1800" b="0" i="0" dirty="0" err="1">
                <a:solidFill>
                  <a:srgbClr val="555555"/>
                </a:solidFill>
              </a:rPr>
              <a:t>正解サンプルの確信度</a:t>
            </a:r>
            <a:r>
              <a:rPr sz="1800" b="0" i="0" dirty="0">
                <a:solidFill>
                  <a:srgbClr val="555555"/>
                </a:solidFill>
              </a:rPr>
              <a:t>　　　p⁻ : </a:t>
            </a:r>
            <a:r>
              <a:rPr sz="1800" b="0" i="0" dirty="0" err="1">
                <a:solidFill>
                  <a:srgbClr val="555555"/>
                </a:solidFill>
              </a:rPr>
              <a:t>不正解サンプルの確信度</a:t>
            </a:r>
            <a:r>
              <a:rPr sz="1800" b="0" i="0" dirty="0">
                <a:solidFill>
                  <a:srgbClr val="555555"/>
                </a:solidFill>
              </a:rPr>
              <a:t>
 </a:t>
            </a:r>
            <a:r>
              <a:rPr lang="ja-JP" altLang="en-US" sz="1800" b="0" i="0" dirty="0">
                <a:solidFill>
                  <a:srgbClr val="555555"/>
                </a:solidFill>
              </a:rPr>
              <a:t>（</a:t>
            </a:r>
            <a:r>
              <a:rPr sz="1800" b="0" i="0" dirty="0" err="1">
                <a:solidFill>
                  <a:srgbClr val="555555"/>
                </a:solidFill>
              </a:rPr>
              <a:t>ランダムに選んだ「正解」と「不正解」のペアで、正解側に高い確信度を与える確率</a:t>
            </a:r>
            <a:r>
              <a:rPr lang="ja-JP" altLang="en-US" sz="1800" b="0" i="0" dirty="0">
                <a:solidFill>
                  <a:srgbClr val="555555"/>
                </a:solidFill>
              </a:rPr>
              <a:t>）</a:t>
            </a:r>
            <a:endParaRPr sz="1800" b="0" i="0" dirty="0">
              <a:solidFill>
                <a:srgbClr val="555555"/>
              </a:solidFill>
            </a:endParaRPr>
          </a:p>
        </p:txBody>
      </p:sp>
      <p:sp>
        <p:nvSpPr>
          <p:cNvPr id="10" name="Rectangle 9"/>
          <p:cNvSpPr/>
          <p:nvPr/>
        </p:nvSpPr>
        <p:spPr>
          <a:xfrm>
            <a:off x="365760" y="3035808"/>
            <a:ext cx="5303520" cy="12801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081528"/>
            <a:ext cx="5029200" cy="457200"/>
          </a:xfrm>
          <a:prstGeom prst="rect">
            <a:avLst/>
          </a:prstGeom>
          <a:noFill/>
        </p:spPr>
        <p:txBody>
          <a:bodyPr wrap="square">
            <a:spAutoFit/>
          </a:bodyPr>
          <a:lstStyle/>
          <a:p>
            <a:pPr algn="l"/>
            <a:r>
              <a:rPr sz="2000" b="1" i="0">
                <a:solidFill>
                  <a:srgbClr val="1A56AA"/>
                </a:solidFill>
              </a:rPr>
              <a:t>値の範囲と解釈</a:t>
            </a:r>
          </a:p>
        </p:txBody>
      </p:sp>
      <p:sp>
        <p:nvSpPr>
          <p:cNvPr id="12" name="TextBox 11"/>
          <p:cNvSpPr txBox="1"/>
          <p:nvPr/>
        </p:nvSpPr>
        <p:spPr>
          <a:xfrm>
            <a:off x="484505" y="3458093"/>
            <a:ext cx="5120640" cy="830997"/>
          </a:xfrm>
          <a:prstGeom prst="rect">
            <a:avLst/>
          </a:prstGeom>
          <a:noFill/>
        </p:spPr>
        <p:txBody>
          <a:bodyPr wrap="square">
            <a:spAutoFit/>
          </a:bodyPr>
          <a:lstStyle/>
          <a:p>
            <a:pPr algn="l"/>
            <a:r>
              <a:rPr sz="1600" b="0" i="0" dirty="0">
                <a:solidFill>
                  <a:srgbClr val="1A1A2E"/>
                </a:solidFill>
              </a:rPr>
              <a:t>0.5 = </a:t>
            </a:r>
            <a:r>
              <a:rPr sz="1600" b="0" i="0" dirty="0" err="1">
                <a:solidFill>
                  <a:srgbClr val="1A1A2E"/>
                </a:solidFill>
              </a:rPr>
              <a:t>ランダムと同等（確信度が意味を持たない</a:t>
            </a:r>
            <a:r>
              <a:rPr sz="1600" b="0" i="0" dirty="0">
                <a:solidFill>
                  <a:srgbClr val="1A1A2E"/>
                </a:solidFill>
              </a:rPr>
              <a:t>）
1.0 = </a:t>
            </a:r>
            <a:r>
              <a:rPr sz="1600" b="0" i="0" dirty="0" err="1">
                <a:solidFill>
                  <a:srgbClr val="1A1A2E"/>
                </a:solidFill>
              </a:rPr>
              <a:t>完全に正解・不正解を区別できる</a:t>
            </a:r>
            <a:r>
              <a:rPr sz="1600" b="0" i="0" dirty="0">
                <a:solidFill>
                  <a:srgbClr val="1A1A2E"/>
                </a:solidFill>
              </a:rPr>
              <a:t>
（</a:t>
            </a:r>
            <a:r>
              <a:rPr lang="ja-JP" altLang="en-US" sz="1600" b="0" i="0" dirty="0">
                <a:solidFill>
                  <a:srgbClr val="1A1A2E"/>
                </a:solidFill>
              </a:rPr>
              <a:t>取りうる値は</a:t>
            </a:r>
            <a:r>
              <a:rPr lang="en-US" sz="1600" b="0" i="0" dirty="0">
                <a:solidFill>
                  <a:srgbClr val="1A1A2E"/>
                </a:solidFill>
              </a:rPr>
              <a:t>0.5~1.0</a:t>
            </a:r>
            <a:r>
              <a:rPr lang="ja-JP" altLang="en-US" sz="1600" b="0" i="0" dirty="0">
                <a:solidFill>
                  <a:srgbClr val="1A1A2E"/>
                </a:solidFill>
              </a:rPr>
              <a:t>で、</a:t>
            </a:r>
            <a:r>
              <a:rPr sz="1600" b="0" i="0" dirty="0" err="1">
                <a:solidFill>
                  <a:srgbClr val="1A1A2E"/>
                </a:solidFill>
              </a:rPr>
              <a:t>高いほど良い</a:t>
            </a:r>
            <a:r>
              <a:rPr sz="1600" b="0" i="0" dirty="0">
                <a:solidFill>
                  <a:srgbClr val="1A1A2E"/>
                </a:solidFill>
              </a:rPr>
              <a:t>）</a:t>
            </a:r>
          </a:p>
        </p:txBody>
      </p:sp>
      <p:sp>
        <p:nvSpPr>
          <p:cNvPr id="13" name="Rectangle 12"/>
          <p:cNvSpPr/>
          <p:nvPr/>
        </p:nvSpPr>
        <p:spPr>
          <a:xfrm>
            <a:off x="5852160" y="3035808"/>
            <a:ext cx="5943600" cy="12801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0" y="3081528"/>
            <a:ext cx="5760720" cy="457200"/>
          </a:xfrm>
          <a:prstGeom prst="rect">
            <a:avLst/>
          </a:prstGeom>
          <a:noFill/>
        </p:spPr>
        <p:txBody>
          <a:bodyPr wrap="square">
            <a:spAutoFit/>
          </a:bodyPr>
          <a:lstStyle/>
          <a:p>
            <a:pPr algn="l"/>
            <a:r>
              <a:rPr sz="2000" b="1" i="0">
                <a:solidFill>
                  <a:srgbClr val="1A56AA"/>
                </a:solidFill>
              </a:rPr>
              <a:t>ECE との重要な違い</a:t>
            </a:r>
          </a:p>
        </p:txBody>
      </p:sp>
      <p:sp>
        <p:nvSpPr>
          <p:cNvPr id="15" name="TextBox 14"/>
          <p:cNvSpPr txBox="1"/>
          <p:nvPr/>
        </p:nvSpPr>
        <p:spPr>
          <a:xfrm>
            <a:off x="5943600" y="3415963"/>
            <a:ext cx="5760720" cy="830997"/>
          </a:xfrm>
          <a:prstGeom prst="rect">
            <a:avLst/>
          </a:prstGeom>
          <a:noFill/>
        </p:spPr>
        <p:txBody>
          <a:bodyPr wrap="square">
            <a:spAutoFit/>
          </a:bodyPr>
          <a:lstStyle/>
          <a:p>
            <a:pPr algn="l"/>
            <a:r>
              <a:rPr sz="1600" b="0" i="0" dirty="0">
                <a:solidFill>
                  <a:srgbClr val="1A1A2E"/>
                </a:solidFill>
              </a:rPr>
              <a:t>ECE: 「70% </a:t>
            </a:r>
            <a:r>
              <a:rPr sz="1600" b="0" i="0" dirty="0" err="1">
                <a:solidFill>
                  <a:srgbClr val="1A1A2E"/>
                </a:solidFill>
              </a:rPr>
              <a:t>確信は本当に</a:t>
            </a:r>
            <a:r>
              <a:rPr sz="1600" b="0" i="0" dirty="0">
                <a:solidFill>
                  <a:srgbClr val="1A1A2E"/>
                </a:solidFill>
              </a:rPr>
              <a:t> 70% </a:t>
            </a:r>
            <a:r>
              <a:rPr sz="1600" b="0" i="0" dirty="0" err="1">
                <a:solidFill>
                  <a:srgbClr val="1A1A2E"/>
                </a:solidFill>
              </a:rPr>
              <a:t>正解か</a:t>
            </a:r>
            <a:r>
              <a:rPr sz="1600" b="0" i="0" dirty="0">
                <a:solidFill>
                  <a:srgbClr val="1A1A2E"/>
                </a:solidFill>
              </a:rPr>
              <a:t>？」</a:t>
            </a:r>
            <a:r>
              <a:rPr sz="1600" b="0" i="0" dirty="0" err="1">
                <a:solidFill>
                  <a:srgbClr val="1A1A2E"/>
                </a:solidFill>
              </a:rPr>
              <a:t>絶対値が重要</a:t>
            </a:r>
            <a:r>
              <a:rPr sz="1600" b="0" i="0" dirty="0">
                <a:solidFill>
                  <a:srgbClr val="1A1A2E"/>
                </a:solidFill>
              </a:rPr>
              <a:t>
AUROC: 「</a:t>
            </a:r>
            <a:r>
              <a:rPr sz="1600" b="0" i="0" dirty="0" err="1">
                <a:solidFill>
                  <a:srgbClr val="1A1A2E"/>
                </a:solidFill>
              </a:rPr>
              <a:t>高確信の方が低確信より正しいか</a:t>
            </a:r>
            <a:r>
              <a:rPr sz="1600" b="0" i="0" dirty="0">
                <a:solidFill>
                  <a:srgbClr val="1A1A2E"/>
                </a:solidFill>
              </a:rPr>
              <a:t>？」</a:t>
            </a:r>
            <a:r>
              <a:rPr sz="1600" b="0" i="0" dirty="0" err="1">
                <a:solidFill>
                  <a:srgbClr val="1A1A2E"/>
                </a:solidFill>
              </a:rPr>
              <a:t>順序が重要</a:t>
            </a:r>
            <a:r>
              <a:rPr sz="1600" b="0" i="0" dirty="0">
                <a:solidFill>
                  <a:srgbClr val="1A1A2E"/>
                </a:solidFill>
              </a:rPr>
              <a:t>
→ 両者は独立（相関≈0）。</a:t>
            </a:r>
            <a:r>
              <a:rPr sz="1600" b="0" i="0" dirty="0" err="1">
                <a:solidFill>
                  <a:srgbClr val="1A1A2E"/>
                </a:solidFill>
              </a:rPr>
              <a:t>両方報告することが推奨</a:t>
            </a:r>
            <a:r>
              <a:rPr sz="1600" b="0" i="0" dirty="0">
                <a:solidFill>
                  <a:srgbClr val="1A1A2E"/>
                </a:solidFill>
              </a:rPr>
              <a:t> [4]</a:t>
            </a:r>
          </a:p>
        </p:txBody>
      </p:sp>
      <p:sp>
        <p:nvSpPr>
          <p:cNvPr id="16" name="Rectangle 15"/>
          <p:cNvSpPr/>
          <p:nvPr/>
        </p:nvSpPr>
        <p:spPr>
          <a:xfrm>
            <a:off x="365760" y="4453128"/>
            <a:ext cx="11457432" cy="1874519"/>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498848"/>
            <a:ext cx="3657600" cy="457200"/>
          </a:xfrm>
          <a:prstGeom prst="rect">
            <a:avLst/>
          </a:prstGeom>
          <a:noFill/>
        </p:spPr>
        <p:txBody>
          <a:bodyPr wrap="square">
            <a:spAutoFit/>
          </a:bodyPr>
          <a:lstStyle/>
          <a:p>
            <a:pPr algn="l"/>
            <a:r>
              <a:rPr sz="2000" b="1" i="0">
                <a:solidFill>
                  <a:srgbClr val="1A56AA"/>
                </a:solidFill>
              </a:rPr>
              <a:t>採用理由</a:t>
            </a:r>
          </a:p>
        </p:txBody>
      </p:sp>
      <p:sp>
        <p:nvSpPr>
          <p:cNvPr id="18" name="TextBox 17"/>
          <p:cNvSpPr txBox="1"/>
          <p:nvPr/>
        </p:nvSpPr>
        <p:spPr>
          <a:xfrm>
            <a:off x="470852" y="4828032"/>
            <a:ext cx="11247120" cy="1280160"/>
          </a:xfrm>
          <a:prstGeom prst="rect">
            <a:avLst/>
          </a:prstGeom>
          <a:noFill/>
        </p:spPr>
        <p:txBody>
          <a:bodyPr wrap="square">
            <a:spAutoFit/>
          </a:bodyPr>
          <a:lstStyle/>
          <a:p>
            <a:pPr>
              <a:spcBef>
                <a:spcPts val="500"/>
              </a:spcBef>
            </a:pPr>
            <a:r>
              <a:rPr sz="1900" dirty="0">
                <a:solidFill>
                  <a:srgbClr val="1A1A2E"/>
                </a:solidFill>
              </a:rPr>
              <a:t>① Xiong et al. 2024 [4] が ECE と AUROC </a:t>
            </a:r>
            <a:r>
              <a:rPr sz="1900" dirty="0" err="1">
                <a:solidFill>
                  <a:srgbClr val="1A1A2E"/>
                </a:solidFill>
              </a:rPr>
              <a:t>を同時報告</a:t>
            </a:r>
            <a:r>
              <a:rPr sz="1900" dirty="0">
                <a:solidFill>
                  <a:srgbClr val="1A1A2E"/>
                </a:solidFill>
              </a:rPr>
              <a:t> → </a:t>
            </a:r>
            <a:r>
              <a:rPr sz="1900" dirty="0" err="1">
                <a:solidFill>
                  <a:srgbClr val="1A1A2E"/>
                </a:solidFill>
              </a:rPr>
              <a:t>先行研究と直接比較可能</a:t>
            </a:r>
            <a:endParaRPr sz="1900" dirty="0">
              <a:solidFill>
                <a:srgbClr val="1A1A2E"/>
              </a:solidFill>
            </a:endParaRPr>
          </a:p>
          <a:p>
            <a:pPr>
              <a:spcBef>
                <a:spcPts val="500"/>
              </a:spcBef>
            </a:pPr>
            <a:r>
              <a:rPr sz="1900" dirty="0">
                <a:solidFill>
                  <a:srgbClr val="1A1A2E"/>
                </a:solidFill>
              </a:rPr>
              <a:t>② </a:t>
            </a:r>
            <a:r>
              <a:rPr sz="1900" dirty="0" err="1">
                <a:solidFill>
                  <a:srgbClr val="1A1A2E"/>
                </a:solidFill>
              </a:rPr>
              <a:t>確信度のスケールがズレていても（ECE</a:t>
            </a:r>
            <a:r>
              <a:rPr sz="1900" dirty="0">
                <a:solidFill>
                  <a:srgbClr val="1A1A2E"/>
                </a:solidFill>
              </a:rPr>
              <a:t> </a:t>
            </a:r>
            <a:r>
              <a:rPr sz="1900" dirty="0" err="1">
                <a:solidFill>
                  <a:srgbClr val="1A1A2E"/>
                </a:solidFill>
              </a:rPr>
              <a:t>が高くても</a:t>
            </a:r>
            <a:r>
              <a:rPr sz="1900" dirty="0">
                <a:solidFill>
                  <a:srgbClr val="1A1A2E"/>
                </a:solidFill>
              </a:rPr>
              <a:t>）、</a:t>
            </a:r>
            <a:r>
              <a:rPr sz="1900" dirty="0" err="1">
                <a:solidFill>
                  <a:srgbClr val="1A1A2E"/>
                </a:solidFill>
              </a:rPr>
              <a:t>ランキングが正しい場合に高評価できる</a:t>
            </a:r>
            <a:endParaRPr sz="1900" dirty="0">
              <a:solidFill>
                <a:srgbClr val="1A1A2E"/>
              </a:solidFill>
            </a:endParaRPr>
          </a:p>
          <a:p>
            <a:pPr>
              <a:spcBef>
                <a:spcPts val="500"/>
              </a:spcBef>
            </a:pPr>
            <a:r>
              <a:rPr sz="1900" dirty="0">
                <a:solidFill>
                  <a:srgbClr val="1A1A2E"/>
                </a:solidFill>
              </a:rPr>
              <a:t>③ LLM の verbalized confidence </a:t>
            </a:r>
            <a:r>
              <a:rPr sz="1900" dirty="0" err="1">
                <a:solidFill>
                  <a:srgbClr val="1A1A2E"/>
                </a:solidFill>
              </a:rPr>
              <a:t>は系統的な過信がある</a:t>
            </a:r>
            <a:r>
              <a:rPr sz="1900" dirty="0">
                <a:solidFill>
                  <a:srgbClr val="1A1A2E"/>
                </a:solidFill>
              </a:rPr>
              <a:t> → </a:t>
            </a:r>
            <a:r>
              <a:rPr sz="1900" dirty="0" err="1">
                <a:solidFill>
                  <a:srgbClr val="1A1A2E"/>
                </a:solidFill>
              </a:rPr>
              <a:t>スケール不変の</a:t>
            </a:r>
            <a:r>
              <a:rPr sz="1900" dirty="0">
                <a:solidFill>
                  <a:srgbClr val="1A1A2E"/>
                </a:solidFill>
              </a:rPr>
              <a:t> AUROC </a:t>
            </a:r>
            <a:r>
              <a:rPr sz="1900" dirty="0" err="1">
                <a:solidFill>
                  <a:srgbClr val="1A1A2E"/>
                </a:solidFill>
              </a:rPr>
              <a:t>で補完測定が有効</a:t>
            </a:r>
            <a:endParaRPr sz="1900" dirty="0">
              <a:solidFill>
                <a:srgbClr val="1A1A2E"/>
              </a:solidFill>
            </a:endParaRPr>
          </a:p>
          <a:p>
            <a:pPr>
              <a:spcBef>
                <a:spcPts val="500"/>
              </a:spcBef>
            </a:pPr>
            <a:r>
              <a:rPr sz="1900" dirty="0">
                <a:solidFill>
                  <a:srgbClr val="1A1A2E"/>
                </a:solidFill>
              </a:rPr>
              <a:t>④ Xiong 2024・Mind the Gap 2026 </a:t>
            </a:r>
            <a:r>
              <a:rPr sz="1900" dirty="0" err="1">
                <a:solidFill>
                  <a:srgbClr val="1A1A2E"/>
                </a:solidFill>
              </a:rPr>
              <a:t>等でも</a:t>
            </a:r>
            <a:r>
              <a:rPr sz="1900" dirty="0">
                <a:solidFill>
                  <a:srgbClr val="1A1A2E"/>
                </a:solidFill>
              </a:rPr>
              <a:t> ECE ＋ AUROC </a:t>
            </a:r>
            <a:r>
              <a:rPr sz="1900" dirty="0" err="1">
                <a:solidFill>
                  <a:srgbClr val="1A1A2E"/>
                </a:solidFill>
              </a:rPr>
              <a:t>の組み合わせが推奨されている</a:t>
            </a:r>
            <a:endParaRPr sz="1900" dirty="0">
              <a:solidFill>
                <a:srgbClr val="1A1A2E"/>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553998"/>
          </a:xfrm>
          <a:prstGeom prst="rect">
            <a:avLst/>
          </a:prstGeom>
          <a:noFill/>
        </p:spPr>
        <p:txBody>
          <a:bodyPr wrap="square">
            <a:spAutoFit/>
          </a:bodyPr>
          <a:lstStyle/>
          <a:p>
            <a:pPr algn="l"/>
            <a:r>
              <a:rPr sz="3000" b="1" i="0" dirty="0" err="1">
                <a:solidFill>
                  <a:srgbClr val="1A1A2E"/>
                </a:solidFill>
              </a:rPr>
              <a:t>進捗</a:t>
            </a:r>
            <a:r>
              <a:rPr sz="3000" b="1" i="0" dirty="0">
                <a:solidFill>
                  <a:srgbClr val="1A1A2E"/>
                </a:solidFill>
              </a:rPr>
              <a:t>②</a:t>
            </a:r>
            <a:r>
              <a:rPr lang="ja-JP" altLang="en-US" sz="3000" b="1" dirty="0">
                <a:solidFill>
                  <a:srgbClr val="1A1A2E"/>
                </a:solidFill>
                <a:sym typeface="Wingdings" panose="05000000000000000000" pitchFamily="2" charset="2"/>
              </a:rPr>
              <a:t>現時点での</a:t>
            </a:r>
            <a:r>
              <a:rPr sz="3000" b="1" i="0" dirty="0" err="1">
                <a:solidFill>
                  <a:srgbClr val="1A1A2E"/>
                </a:solidFill>
              </a:rPr>
              <a:t>データセットの選定</a:t>
            </a:r>
            <a:endParaRPr sz="3000" b="1" i="0" dirty="0">
              <a:solidFill>
                <a:srgbClr val="1A1A2E"/>
              </a:solidFill>
            </a:endParaRP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14 / 26</a:t>
            </a:r>
          </a:p>
        </p:txBody>
      </p:sp>
      <p:sp>
        <p:nvSpPr>
          <p:cNvPr id="5" name="TextBox 4"/>
          <p:cNvSpPr txBox="1"/>
          <p:nvPr/>
        </p:nvSpPr>
        <p:spPr>
          <a:xfrm>
            <a:off x="457200" y="841248"/>
            <a:ext cx="10972800" cy="430887"/>
          </a:xfrm>
          <a:prstGeom prst="rect">
            <a:avLst/>
          </a:prstGeom>
          <a:noFill/>
        </p:spPr>
        <p:txBody>
          <a:bodyPr wrap="square">
            <a:spAutoFit/>
          </a:bodyPr>
          <a:lstStyle/>
          <a:p>
            <a:pPr algn="l"/>
            <a:r>
              <a:rPr lang="ja-JP" altLang="en-US" sz="2200" b="1" dirty="0">
                <a:solidFill>
                  <a:srgbClr val="FF0000"/>
                </a:solidFill>
                <a:highlight>
                  <a:srgbClr val="FFFF00"/>
                </a:highlight>
              </a:rPr>
              <a:t>調べた気になっていたが、選考研究に対し量が足りていないのでさらに調査予定</a:t>
            </a:r>
            <a:endParaRPr lang="en-US" altLang="ja-JP" sz="2200" b="1" i="0" dirty="0">
              <a:solidFill>
                <a:srgbClr val="FF0000"/>
              </a:solidFill>
              <a:highlight>
                <a:srgbClr val="FFFF00"/>
              </a:highlight>
            </a:endParaRPr>
          </a:p>
        </p:txBody>
      </p:sp>
      <p:sp>
        <p:nvSpPr>
          <p:cNvPr id="6" name="Rectangle 5"/>
          <p:cNvSpPr/>
          <p:nvPr/>
        </p:nvSpPr>
        <p:spPr>
          <a:xfrm>
            <a:off x="365760" y="1371600"/>
            <a:ext cx="1371600" cy="98755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665521"/>
            <a:ext cx="1371600" cy="868680"/>
          </a:xfrm>
          <a:prstGeom prst="rect">
            <a:avLst/>
          </a:prstGeom>
          <a:noFill/>
        </p:spPr>
        <p:txBody>
          <a:bodyPr wrap="square">
            <a:spAutoFit/>
          </a:bodyPr>
          <a:lstStyle/>
          <a:p>
            <a:pPr algn="ctr"/>
            <a:r>
              <a:rPr sz="2200" b="1" i="0" dirty="0" err="1">
                <a:solidFill>
                  <a:srgbClr val="FFFFFF"/>
                </a:solidFill>
              </a:rPr>
              <a:t>数学</a:t>
            </a:r>
            <a:endParaRPr sz="2200" b="1" i="0" dirty="0">
              <a:solidFill>
                <a:srgbClr val="FFFFFF"/>
              </a:solidFill>
            </a:endParaRPr>
          </a:p>
        </p:txBody>
      </p:sp>
      <p:sp>
        <p:nvSpPr>
          <p:cNvPr id="8" name="Rectangle 7"/>
          <p:cNvSpPr/>
          <p:nvPr/>
        </p:nvSpPr>
        <p:spPr>
          <a:xfrm>
            <a:off x="1874519" y="1371600"/>
            <a:ext cx="10104120" cy="98755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1447800"/>
            <a:ext cx="9875520" cy="411480"/>
          </a:xfrm>
          <a:prstGeom prst="rect">
            <a:avLst/>
          </a:prstGeom>
          <a:noFill/>
        </p:spPr>
        <p:txBody>
          <a:bodyPr wrap="square">
            <a:spAutoFit/>
          </a:bodyPr>
          <a:lstStyle/>
          <a:p>
            <a:pPr algn="l"/>
            <a:r>
              <a:rPr sz="2000" b="1" i="0">
                <a:solidFill>
                  <a:srgbClr val="1A1A2E"/>
                </a:solidFill>
              </a:rPr>
              <a:t>MGSM  ─  GSM8K（英語）の人手翻訳版</a:t>
            </a:r>
          </a:p>
        </p:txBody>
      </p:sp>
      <p:sp>
        <p:nvSpPr>
          <p:cNvPr id="10" name="TextBox 9"/>
          <p:cNvSpPr txBox="1"/>
          <p:nvPr/>
        </p:nvSpPr>
        <p:spPr>
          <a:xfrm>
            <a:off x="1965960" y="1803400"/>
            <a:ext cx="9875520" cy="502920"/>
          </a:xfrm>
          <a:prstGeom prst="rect">
            <a:avLst/>
          </a:prstGeom>
          <a:noFill/>
        </p:spPr>
        <p:txBody>
          <a:bodyPr wrap="square">
            <a:spAutoFit/>
          </a:bodyPr>
          <a:lstStyle/>
          <a:p>
            <a:pPr algn="l"/>
            <a:r>
              <a:rPr sz="1700" b="0" i="0">
                <a:solidFill>
                  <a:srgbClr val="555555"/>
                </a:solidFill>
              </a:rPr>
              <a:t>▸ 先行研究: Tian 2023 [3]・MlingConf 2025 [8] が GSM8K 使用。本研究は日本語対応 MGSM を選択</a:t>
            </a:r>
          </a:p>
        </p:txBody>
      </p:sp>
      <p:sp>
        <p:nvSpPr>
          <p:cNvPr id="11" name="Rectangle 10"/>
          <p:cNvSpPr/>
          <p:nvPr/>
        </p:nvSpPr>
        <p:spPr>
          <a:xfrm>
            <a:off x="365760" y="2542032"/>
            <a:ext cx="1371600" cy="98755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843784"/>
            <a:ext cx="1371600" cy="868680"/>
          </a:xfrm>
          <a:prstGeom prst="rect">
            <a:avLst/>
          </a:prstGeom>
          <a:noFill/>
        </p:spPr>
        <p:txBody>
          <a:bodyPr wrap="square">
            <a:spAutoFit/>
          </a:bodyPr>
          <a:lstStyle/>
          <a:p>
            <a:pPr algn="ctr"/>
            <a:r>
              <a:rPr sz="2200" b="1" i="0" dirty="0" err="1">
                <a:solidFill>
                  <a:srgbClr val="FFFFFF"/>
                </a:solidFill>
              </a:rPr>
              <a:t>常識</a:t>
            </a:r>
            <a:endParaRPr sz="2200" b="1" i="0" dirty="0">
              <a:solidFill>
                <a:srgbClr val="FFFFFF"/>
              </a:solidFill>
            </a:endParaRPr>
          </a:p>
        </p:txBody>
      </p:sp>
      <p:sp>
        <p:nvSpPr>
          <p:cNvPr id="13" name="Rectangle 12"/>
          <p:cNvSpPr/>
          <p:nvPr/>
        </p:nvSpPr>
        <p:spPr>
          <a:xfrm>
            <a:off x="1874519" y="2542032"/>
            <a:ext cx="10104120" cy="98755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965960" y="2618232"/>
            <a:ext cx="9875520" cy="411480"/>
          </a:xfrm>
          <a:prstGeom prst="rect">
            <a:avLst/>
          </a:prstGeom>
          <a:noFill/>
        </p:spPr>
        <p:txBody>
          <a:bodyPr wrap="square">
            <a:spAutoFit/>
          </a:bodyPr>
          <a:lstStyle/>
          <a:p>
            <a:pPr algn="l"/>
            <a:r>
              <a:rPr sz="2000" b="1" i="0">
                <a:solidFill>
                  <a:srgbClr val="1A1A2E"/>
                </a:solidFill>
              </a:rPr>
              <a:t>JCommonsenseQA  ─  日本語ネイティブ作成 5択MC</a:t>
            </a:r>
          </a:p>
        </p:txBody>
      </p:sp>
      <p:sp>
        <p:nvSpPr>
          <p:cNvPr id="15" name="TextBox 14"/>
          <p:cNvSpPr txBox="1"/>
          <p:nvPr/>
        </p:nvSpPr>
        <p:spPr>
          <a:xfrm>
            <a:off x="1874519" y="3035620"/>
            <a:ext cx="10030788" cy="353943"/>
          </a:xfrm>
          <a:prstGeom prst="rect">
            <a:avLst/>
          </a:prstGeom>
          <a:noFill/>
        </p:spPr>
        <p:txBody>
          <a:bodyPr wrap="square">
            <a:spAutoFit/>
          </a:bodyPr>
          <a:lstStyle/>
          <a:p>
            <a:pPr algn="l"/>
            <a:r>
              <a:rPr sz="1700" b="0" i="0" dirty="0">
                <a:solidFill>
                  <a:srgbClr val="555555"/>
                </a:solidFill>
              </a:rPr>
              <a:t>▸ </a:t>
            </a:r>
            <a:r>
              <a:rPr sz="1700" b="0" i="0" dirty="0" err="1">
                <a:solidFill>
                  <a:srgbClr val="555555"/>
                </a:solidFill>
              </a:rPr>
              <a:t>先行研究</a:t>
            </a:r>
            <a:r>
              <a:rPr sz="1700" b="0" i="0" dirty="0">
                <a:solidFill>
                  <a:srgbClr val="555555"/>
                </a:solidFill>
              </a:rPr>
              <a:t>: Xiong 2024 [4] が </a:t>
            </a:r>
            <a:r>
              <a:rPr sz="1700" b="0" i="0" dirty="0" err="1">
                <a:solidFill>
                  <a:srgbClr val="555555"/>
                </a:solidFill>
              </a:rPr>
              <a:t>CommonsenseQA（英語）を使用。日本語対応版</a:t>
            </a:r>
            <a:r>
              <a:rPr sz="1700" b="0" i="0" dirty="0">
                <a:solidFill>
                  <a:srgbClr val="555555"/>
                </a:solidFill>
              </a:rPr>
              <a:t> </a:t>
            </a:r>
            <a:r>
              <a:rPr sz="1700" b="0" i="0" dirty="0" err="1">
                <a:solidFill>
                  <a:srgbClr val="555555"/>
                </a:solidFill>
              </a:rPr>
              <a:t>JCommonsenseQA</a:t>
            </a:r>
            <a:r>
              <a:rPr sz="1700" b="0" i="0" dirty="0">
                <a:solidFill>
                  <a:srgbClr val="555555"/>
                </a:solidFill>
              </a:rPr>
              <a:t> </a:t>
            </a:r>
            <a:r>
              <a:rPr sz="1700" b="0" i="0" dirty="0" err="1">
                <a:solidFill>
                  <a:srgbClr val="555555"/>
                </a:solidFill>
              </a:rPr>
              <a:t>を採用</a:t>
            </a:r>
            <a:endParaRPr sz="1700" b="0" i="0" dirty="0">
              <a:solidFill>
                <a:srgbClr val="555555"/>
              </a:solidFill>
            </a:endParaRPr>
          </a:p>
        </p:txBody>
      </p:sp>
      <p:sp>
        <p:nvSpPr>
          <p:cNvPr id="16" name="Rectangle 15"/>
          <p:cNvSpPr/>
          <p:nvPr/>
        </p:nvSpPr>
        <p:spPr>
          <a:xfrm>
            <a:off x="365760" y="3712464"/>
            <a:ext cx="1371600" cy="98755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014216"/>
            <a:ext cx="1371600" cy="868680"/>
          </a:xfrm>
          <a:prstGeom prst="rect">
            <a:avLst/>
          </a:prstGeom>
          <a:noFill/>
        </p:spPr>
        <p:txBody>
          <a:bodyPr wrap="square">
            <a:spAutoFit/>
          </a:bodyPr>
          <a:lstStyle/>
          <a:p>
            <a:pPr algn="ctr"/>
            <a:r>
              <a:rPr sz="2200" b="1" i="0" dirty="0" err="1">
                <a:solidFill>
                  <a:srgbClr val="FFFFFF"/>
                </a:solidFill>
              </a:rPr>
              <a:t>知識</a:t>
            </a:r>
            <a:endParaRPr sz="2200" b="1" i="0" dirty="0">
              <a:solidFill>
                <a:srgbClr val="FFFFFF"/>
              </a:solidFill>
            </a:endParaRPr>
          </a:p>
        </p:txBody>
      </p:sp>
      <p:sp>
        <p:nvSpPr>
          <p:cNvPr id="18" name="Rectangle 17"/>
          <p:cNvSpPr/>
          <p:nvPr/>
        </p:nvSpPr>
        <p:spPr>
          <a:xfrm>
            <a:off x="1874519" y="3712464"/>
            <a:ext cx="10104120" cy="98755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965960" y="3817432"/>
            <a:ext cx="9875520" cy="411480"/>
          </a:xfrm>
          <a:prstGeom prst="rect">
            <a:avLst/>
          </a:prstGeom>
          <a:noFill/>
        </p:spPr>
        <p:txBody>
          <a:bodyPr wrap="square">
            <a:spAutoFit/>
          </a:bodyPr>
          <a:lstStyle/>
          <a:p>
            <a:pPr algn="l"/>
            <a:r>
              <a:rPr sz="2000" b="1" i="0" dirty="0">
                <a:solidFill>
                  <a:srgbClr val="1A1A2E"/>
                </a:solidFill>
              </a:rPr>
              <a:t>JMMLU  ─  </a:t>
            </a:r>
            <a:r>
              <a:rPr sz="2000" b="1" i="0" dirty="0" err="1">
                <a:solidFill>
                  <a:srgbClr val="1A1A2E"/>
                </a:solidFill>
              </a:rPr>
              <a:t>日本人教師作成・日本史中心</a:t>
            </a:r>
            <a:r>
              <a:rPr sz="2000" b="1" i="0" dirty="0">
                <a:solidFill>
                  <a:srgbClr val="1A1A2E"/>
                </a:solidFill>
              </a:rPr>
              <a:t> 4択MC</a:t>
            </a:r>
          </a:p>
        </p:txBody>
      </p:sp>
      <p:sp>
        <p:nvSpPr>
          <p:cNvPr id="20" name="TextBox 19"/>
          <p:cNvSpPr txBox="1"/>
          <p:nvPr/>
        </p:nvSpPr>
        <p:spPr>
          <a:xfrm>
            <a:off x="1965960" y="4184396"/>
            <a:ext cx="9875520" cy="502920"/>
          </a:xfrm>
          <a:prstGeom prst="rect">
            <a:avLst/>
          </a:prstGeom>
          <a:noFill/>
        </p:spPr>
        <p:txBody>
          <a:bodyPr wrap="square">
            <a:spAutoFit/>
          </a:bodyPr>
          <a:lstStyle/>
          <a:p>
            <a:pPr algn="l"/>
            <a:r>
              <a:rPr sz="1700" b="0" i="0" dirty="0">
                <a:solidFill>
                  <a:srgbClr val="555555"/>
                </a:solidFill>
              </a:rPr>
              <a:t>▸ </a:t>
            </a:r>
            <a:r>
              <a:rPr sz="1700" b="0" i="0" dirty="0" err="1">
                <a:solidFill>
                  <a:srgbClr val="555555"/>
                </a:solidFill>
              </a:rPr>
              <a:t>先行研究</a:t>
            </a:r>
            <a:r>
              <a:rPr sz="1700" b="0" i="0" dirty="0">
                <a:solidFill>
                  <a:srgbClr val="555555"/>
                </a:solidFill>
              </a:rPr>
              <a:t>: Xiong 2024 [4]・Yang 2024 [7] が </a:t>
            </a:r>
            <a:r>
              <a:rPr sz="1700" b="0" i="0" dirty="0" err="1">
                <a:solidFill>
                  <a:srgbClr val="555555"/>
                </a:solidFill>
              </a:rPr>
              <a:t>MMLU（英語）を使用。日本語対応版</a:t>
            </a:r>
            <a:r>
              <a:rPr sz="1700" b="0" i="0" dirty="0">
                <a:solidFill>
                  <a:srgbClr val="555555"/>
                </a:solidFill>
              </a:rPr>
              <a:t> JMMLU </a:t>
            </a:r>
            <a:r>
              <a:rPr sz="1700" b="0" i="0" dirty="0" err="1">
                <a:solidFill>
                  <a:srgbClr val="555555"/>
                </a:solidFill>
              </a:rPr>
              <a:t>を採用</a:t>
            </a:r>
            <a:endParaRPr sz="1700" b="0" i="0" dirty="0">
              <a:solidFill>
                <a:srgbClr val="555555"/>
              </a:solidFill>
            </a:endParaRPr>
          </a:p>
        </p:txBody>
      </p:sp>
      <p:sp>
        <p:nvSpPr>
          <p:cNvPr id="21" name="Rectangle 20"/>
          <p:cNvSpPr/>
          <p:nvPr/>
        </p:nvSpPr>
        <p:spPr>
          <a:xfrm>
            <a:off x="365760" y="4882896"/>
            <a:ext cx="1371600" cy="987552"/>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5131816"/>
            <a:ext cx="1371600" cy="868680"/>
          </a:xfrm>
          <a:prstGeom prst="rect">
            <a:avLst/>
          </a:prstGeom>
          <a:noFill/>
        </p:spPr>
        <p:txBody>
          <a:bodyPr wrap="square">
            <a:spAutoFit/>
          </a:bodyPr>
          <a:lstStyle/>
          <a:p>
            <a:pPr algn="ctr"/>
            <a:r>
              <a:rPr sz="2200" b="1" i="0" dirty="0" err="1">
                <a:solidFill>
                  <a:srgbClr val="FFFFFF"/>
                </a:solidFill>
              </a:rPr>
              <a:t>翻訳</a:t>
            </a:r>
            <a:endParaRPr sz="2200" b="1" i="0" dirty="0">
              <a:solidFill>
                <a:srgbClr val="FFFFFF"/>
              </a:solidFill>
            </a:endParaRPr>
          </a:p>
        </p:txBody>
      </p:sp>
      <p:sp>
        <p:nvSpPr>
          <p:cNvPr id="23" name="Rectangle 22"/>
          <p:cNvSpPr/>
          <p:nvPr/>
        </p:nvSpPr>
        <p:spPr>
          <a:xfrm>
            <a:off x="1874519" y="4882896"/>
            <a:ext cx="10104120" cy="987552"/>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965960" y="4959096"/>
            <a:ext cx="9875520" cy="411480"/>
          </a:xfrm>
          <a:prstGeom prst="rect">
            <a:avLst/>
          </a:prstGeom>
          <a:noFill/>
        </p:spPr>
        <p:txBody>
          <a:bodyPr wrap="square">
            <a:spAutoFit/>
          </a:bodyPr>
          <a:lstStyle/>
          <a:p>
            <a:pPr algn="l"/>
            <a:r>
              <a:rPr sz="2000" b="1" i="0">
                <a:solidFill>
                  <a:srgbClr val="1A1A2E"/>
                </a:solidFill>
              </a:rPr>
              <a:t>FLORES-200  ─  Meta AI 公開の対訳データセット</a:t>
            </a:r>
          </a:p>
        </p:txBody>
      </p:sp>
      <p:sp>
        <p:nvSpPr>
          <p:cNvPr id="25" name="TextBox 24"/>
          <p:cNvSpPr txBox="1"/>
          <p:nvPr/>
        </p:nvSpPr>
        <p:spPr>
          <a:xfrm>
            <a:off x="1965960" y="5314696"/>
            <a:ext cx="9875520" cy="353943"/>
          </a:xfrm>
          <a:prstGeom prst="rect">
            <a:avLst/>
          </a:prstGeom>
          <a:noFill/>
        </p:spPr>
        <p:txBody>
          <a:bodyPr wrap="square">
            <a:spAutoFit/>
          </a:bodyPr>
          <a:lstStyle/>
          <a:p>
            <a:pPr algn="l"/>
            <a:r>
              <a:rPr sz="1700" b="0" i="0" dirty="0">
                <a:solidFill>
                  <a:srgbClr val="555555"/>
                </a:solidFill>
              </a:rPr>
              <a:t>▸ </a:t>
            </a:r>
            <a:r>
              <a:rPr sz="1700" b="0" i="0" dirty="0" err="1">
                <a:solidFill>
                  <a:srgbClr val="555555"/>
                </a:solidFill>
              </a:rPr>
              <a:t>MlingConf</a:t>
            </a:r>
            <a:r>
              <a:rPr sz="1700" b="0" i="0" dirty="0">
                <a:solidFill>
                  <a:srgbClr val="555555"/>
                </a:solidFill>
              </a:rPr>
              <a:t> 2025 [8] </a:t>
            </a:r>
            <a:r>
              <a:rPr sz="1700" b="0" i="0" dirty="0" err="1">
                <a:solidFill>
                  <a:srgbClr val="555555"/>
                </a:solidFill>
              </a:rPr>
              <a:t>でも使用実績あり。翻訳</a:t>
            </a:r>
            <a:r>
              <a:rPr sz="1700" b="0" i="0" dirty="0">
                <a:solidFill>
                  <a:srgbClr val="555555"/>
                </a:solidFill>
              </a:rPr>
              <a:t> × </a:t>
            </a:r>
            <a:r>
              <a:rPr sz="1700" b="0" i="0" dirty="0" err="1">
                <a:solidFill>
                  <a:srgbClr val="555555"/>
                </a:solidFill>
              </a:rPr>
              <a:t>確信度評価</a:t>
            </a:r>
            <a:r>
              <a:rPr lang="ja-JP" altLang="en-US" sz="1700" b="0" i="0" dirty="0">
                <a:solidFill>
                  <a:srgbClr val="555555"/>
                </a:solidFill>
              </a:rPr>
              <a:t>はそもそも必要なのかは悩んできた、、、</a:t>
            </a:r>
            <a:endParaRPr sz="1700" b="0" i="0" dirty="0">
              <a:solidFill>
                <a:srgbClr val="555555"/>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553998"/>
          </a:xfrm>
          <a:prstGeom prst="rect">
            <a:avLst/>
          </a:prstGeom>
          <a:noFill/>
        </p:spPr>
        <p:txBody>
          <a:bodyPr wrap="square">
            <a:spAutoFit/>
          </a:bodyPr>
          <a:lstStyle/>
          <a:p>
            <a:pPr algn="l"/>
            <a:r>
              <a:rPr sz="3000" b="1" i="0" dirty="0" err="1">
                <a:solidFill>
                  <a:srgbClr val="1A1A2E"/>
                </a:solidFill>
              </a:rPr>
              <a:t>進捗</a:t>
            </a:r>
            <a:r>
              <a:rPr sz="3000" b="1" i="0" dirty="0">
                <a:solidFill>
                  <a:srgbClr val="1A1A2E"/>
                </a:solidFill>
              </a:rPr>
              <a:t>③：</a:t>
            </a:r>
            <a:r>
              <a:rPr sz="3000" b="1" i="0" dirty="0" err="1">
                <a:solidFill>
                  <a:srgbClr val="1A1A2E"/>
                </a:solidFill>
              </a:rPr>
              <a:t>正答判定方法の</a:t>
            </a:r>
            <a:r>
              <a:rPr lang="ja-JP" altLang="en-US" sz="3000" b="1" dirty="0">
                <a:solidFill>
                  <a:srgbClr val="1A1A2E"/>
                </a:solidFill>
              </a:rPr>
              <a:t>確認</a:t>
            </a:r>
            <a:endParaRPr sz="3000" b="1" i="0" dirty="0">
              <a:solidFill>
                <a:srgbClr val="1A1A2E"/>
              </a:solidFill>
            </a:endParaRP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16 / 26</a:t>
            </a:r>
          </a:p>
        </p:txBody>
      </p:sp>
      <p:sp>
        <p:nvSpPr>
          <p:cNvPr id="5" name="TextBox 4"/>
          <p:cNvSpPr txBox="1"/>
          <p:nvPr/>
        </p:nvSpPr>
        <p:spPr>
          <a:xfrm>
            <a:off x="365760" y="841248"/>
            <a:ext cx="11704320" cy="384721"/>
          </a:xfrm>
          <a:prstGeom prst="rect">
            <a:avLst/>
          </a:prstGeom>
          <a:noFill/>
        </p:spPr>
        <p:txBody>
          <a:bodyPr wrap="square">
            <a:spAutoFit/>
          </a:bodyPr>
          <a:lstStyle/>
          <a:p>
            <a:pPr algn="l"/>
            <a:r>
              <a:rPr lang="ja-JP" altLang="en-US" sz="1900" b="0" i="0" dirty="0">
                <a:solidFill>
                  <a:srgbClr val="555555"/>
                </a:solidFill>
              </a:rPr>
              <a:t>日本語タスクでの</a:t>
            </a:r>
            <a:r>
              <a:rPr sz="1900" b="0" i="0" dirty="0">
                <a:solidFill>
                  <a:srgbClr val="555555"/>
                </a:solidFill>
              </a:rPr>
              <a:t>「</a:t>
            </a:r>
            <a:r>
              <a:rPr sz="1900" b="0" i="0" dirty="0" err="1">
                <a:solidFill>
                  <a:srgbClr val="555555"/>
                </a:solidFill>
              </a:rPr>
              <a:t>正解</a:t>
            </a:r>
            <a:r>
              <a:rPr sz="1900" b="0" i="0" dirty="0">
                <a:solidFill>
                  <a:srgbClr val="555555"/>
                </a:solidFill>
              </a:rPr>
              <a:t> y=1 / </a:t>
            </a:r>
            <a:r>
              <a:rPr sz="1900" b="0" i="0" dirty="0" err="1">
                <a:solidFill>
                  <a:srgbClr val="555555"/>
                </a:solidFill>
              </a:rPr>
              <a:t>不正解</a:t>
            </a:r>
            <a:r>
              <a:rPr sz="1900" b="0" i="0" dirty="0">
                <a:solidFill>
                  <a:srgbClr val="555555"/>
                </a:solidFill>
              </a:rPr>
              <a:t> y=0」の二値ラベルを付け</a:t>
            </a:r>
            <a:r>
              <a:rPr lang="ja-JP" altLang="en-US" sz="1900" b="0" i="0" dirty="0">
                <a:solidFill>
                  <a:srgbClr val="555555"/>
                </a:solidFill>
              </a:rPr>
              <a:t>方</a:t>
            </a:r>
            <a:endParaRPr sz="1900" b="0" i="0" dirty="0">
              <a:solidFill>
                <a:srgbClr val="555555"/>
              </a:solidFill>
            </a:endParaRPr>
          </a:p>
        </p:txBody>
      </p:sp>
      <p:sp>
        <p:nvSpPr>
          <p:cNvPr id="6" name="Rectangle 5"/>
          <p:cNvSpPr/>
          <p:nvPr/>
        </p:nvSpPr>
        <p:spPr>
          <a:xfrm>
            <a:off x="365760" y="1325880"/>
            <a:ext cx="1828800" cy="157276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832864"/>
            <a:ext cx="1828800" cy="1417320"/>
          </a:xfrm>
          <a:prstGeom prst="rect">
            <a:avLst/>
          </a:prstGeom>
          <a:noFill/>
        </p:spPr>
        <p:txBody>
          <a:bodyPr wrap="square">
            <a:spAutoFit/>
          </a:bodyPr>
          <a:lstStyle/>
          <a:p>
            <a:pPr algn="ctr"/>
            <a:r>
              <a:rPr sz="1900" b="1" i="0" dirty="0" err="1">
                <a:solidFill>
                  <a:srgbClr val="FFFFFF"/>
                </a:solidFill>
              </a:rPr>
              <a:t>数学</a:t>
            </a:r>
            <a:r>
              <a:rPr sz="1900" b="1" i="0" dirty="0">
                <a:solidFill>
                  <a:srgbClr val="FFFFFF"/>
                </a:solidFill>
              </a:rPr>
              <a:t>
MGSM</a:t>
            </a:r>
          </a:p>
        </p:txBody>
      </p:sp>
      <p:sp>
        <p:nvSpPr>
          <p:cNvPr id="8" name="Rectangle 7"/>
          <p:cNvSpPr/>
          <p:nvPr/>
        </p:nvSpPr>
        <p:spPr>
          <a:xfrm>
            <a:off x="2331720" y="1325880"/>
            <a:ext cx="9509760" cy="15727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23160" y="1389380"/>
            <a:ext cx="9235440" cy="384048"/>
          </a:xfrm>
          <a:prstGeom prst="rect">
            <a:avLst/>
          </a:prstGeom>
          <a:noFill/>
        </p:spPr>
        <p:txBody>
          <a:bodyPr wrap="square">
            <a:spAutoFit/>
          </a:bodyPr>
          <a:lstStyle/>
          <a:p>
            <a:pPr algn="l"/>
            <a:r>
              <a:rPr sz="2000" b="1" i="0">
                <a:solidFill>
                  <a:srgbClr val="1A1A2E"/>
                </a:solidFill>
              </a:rPr>
              <a:t>正規化完全一致</a:t>
            </a:r>
          </a:p>
        </p:txBody>
      </p:sp>
      <p:sp>
        <p:nvSpPr>
          <p:cNvPr id="10" name="TextBox 9"/>
          <p:cNvSpPr txBox="1"/>
          <p:nvPr/>
        </p:nvSpPr>
        <p:spPr>
          <a:xfrm>
            <a:off x="2423160" y="1732280"/>
            <a:ext cx="9235440" cy="615553"/>
          </a:xfrm>
          <a:prstGeom prst="rect">
            <a:avLst/>
          </a:prstGeom>
          <a:noFill/>
        </p:spPr>
        <p:txBody>
          <a:bodyPr wrap="square">
            <a:spAutoFit/>
          </a:bodyPr>
          <a:lstStyle/>
          <a:p>
            <a:pPr algn="l"/>
            <a:r>
              <a:rPr sz="1700" b="0" i="0" dirty="0">
                <a:solidFill>
                  <a:srgbClr val="E84C3C"/>
                </a:solidFill>
              </a:rPr>
              <a:t>例: 正解「42」、</a:t>
            </a:r>
            <a:r>
              <a:rPr sz="1700" b="0" i="0" dirty="0" err="1">
                <a:solidFill>
                  <a:srgbClr val="E84C3C"/>
                </a:solidFill>
              </a:rPr>
              <a:t>AI出力「答えは</a:t>
            </a:r>
            <a:r>
              <a:rPr sz="1700" b="0" i="0" dirty="0">
                <a:solidFill>
                  <a:srgbClr val="E84C3C"/>
                </a:solidFill>
              </a:rPr>
              <a:t> 42 </a:t>
            </a:r>
            <a:r>
              <a:rPr sz="1700" b="0" i="0" dirty="0" err="1">
                <a:solidFill>
                  <a:srgbClr val="E84C3C"/>
                </a:solidFill>
              </a:rPr>
              <a:t>です</a:t>
            </a:r>
            <a:r>
              <a:rPr sz="1700" b="0" i="0" dirty="0">
                <a:solidFill>
                  <a:srgbClr val="E84C3C"/>
                </a:solidFill>
              </a:rPr>
              <a:t>。」
　→ </a:t>
            </a:r>
            <a:r>
              <a:rPr sz="1700" b="0" i="0" dirty="0" err="1">
                <a:solidFill>
                  <a:srgbClr val="E84C3C"/>
                </a:solidFill>
              </a:rPr>
              <a:t>正規表現で</a:t>
            </a:r>
            <a:r>
              <a:rPr sz="1700" b="0" i="0" dirty="0">
                <a:solidFill>
                  <a:srgbClr val="E84C3C"/>
                </a:solidFill>
              </a:rPr>
              <a:t> "42" </a:t>
            </a:r>
            <a:r>
              <a:rPr sz="1700" b="0" i="0" dirty="0" err="1">
                <a:solidFill>
                  <a:srgbClr val="E84C3C"/>
                </a:solidFill>
              </a:rPr>
              <a:t>を抽出して比較</a:t>
            </a:r>
            <a:r>
              <a:rPr sz="1700" b="0" i="0" dirty="0">
                <a:solidFill>
                  <a:srgbClr val="E84C3C"/>
                </a:solidFill>
              </a:rPr>
              <a:t> → </a:t>
            </a:r>
            <a:r>
              <a:rPr sz="1700" b="0" i="0" dirty="0" err="1">
                <a:solidFill>
                  <a:srgbClr val="E84C3C"/>
                </a:solidFill>
              </a:rPr>
              <a:t>正解</a:t>
            </a:r>
            <a:r>
              <a:rPr lang="ja-JP" altLang="en-US" sz="1700" b="0" i="0" dirty="0">
                <a:solidFill>
                  <a:srgbClr val="E84C3C"/>
                </a:solidFill>
              </a:rPr>
              <a:t>判定</a:t>
            </a:r>
            <a:endParaRPr sz="1700" b="0" i="0" dirty="0">
              <a:solidFill>
                <a:srgbClr val="E84C3C"/>
              </a:solidFill>
            </a:endParaRPr>
          </a:p>
        </p:txBody>
      </p:sp>
      <p:sp>
        <p:nvSpPr>
          <p:cNvPr id="11" name="TextBox 10"/>
          <p:cNvSpPr txBox="1"/>
          <p:nvPr/>
        </p:nvSpPr>
        <p:spPr>
          <a:xfrm>
            <a:off x="2423160" y="2316480"/>
            <a:ext cx="9418320" cy="323165"/>
          </a:xfrm>
          <a:prstGeom prst="rect">
            <a:avLst/>
          </a:prstGeom>
          <a:noFill/>
        </p:spPr>
        <p:txBody>
          <a:bodyPr wrap="square">
            <a:spAutoFit/>
          </a:bodyPr>
          <a:lstStyle/>
          <a:p>
            <a:pPr algn="l"/>
            <a:r>
              <a:rPr sz="1500" b="0" i="0" dirty="0" err="1">
                <a:solidFill>
                  <a:srgbClr val="555555"/>
                </a:solidFill>
              </a:rPr>
              <a:t>根拠</a:t>
            </a:r>
            <a:r>
              <a:rPr sz="1500" b="0" i="0" dirty="0">
                <a:solidFill>
                  <a:srgbClr val="555555"/>
                </a:solidFill>
              </a:rPr>
              <a:t>: </a:t>
            </a:r>
            <a:r>
              <a:rPr sz="1500" b="0" i="0" dirty="0" err="1">
                <a:solidFill>
                  <a:srgbClr val="555555"/>
                </a:solidFill>
              </a:rPr>
              <a:t>先行研究（ConfTuner</a:t>
            </a:r>
            <a:r>
              <a:rPr sz="1500" b="0" i="0" dirty="0">
                <a:solidFill>
                  <a:srgbClr val="555555"/>
                </a:solidFill>
              </a:rPr>
              <a:t> 2025 </a:t>
            </a:r>
            <a:r>
              <a:rPr sz="1500" b="0" i="0" dirty="0" err="1">
                <a:solidFill>
                  <a:srgbClr val="555555"/>
                </a:solidFill>
              </a:rPr>
              <a:t>等）が</a:t>
            </a:r>
            <a:r>
              <a:rPr sz="1500" b="0" i="0" dirty="0">
                <a:solidFill>
                  <a:srgbClr val="555555"/>
                </a:solidFill>
              </a:rPr>
              <a:t> GSM8K </a:t>
            </a:r>
            <a:r>
              <a:rPr sz="1500" b="0" i="0" dirty="0" err="1">
                <a:solidFill>
                  <a:srgbClr val="555555"/>
                </a:solidFill>
              </a:rPr>
              <a:t>で採用する標準手法。数値の完全一致なので判定ノイズなし</a:t>
            </a:r>
            <a:endParaRPr sz="1500" b="0" i="0" dirty="0">
              <a:solidFill>
                <a:srgbClr val="555555"/>
              </a:solidFill>
            </a:endParaRPr>
          </a:p>
        </p:txBody>
      </p:sp>
      <p:sp>
        <p:nvSpPr>
          <p:cNvPr id="12" name="Rectangle 11"/>
          <p:cNvSpPr/>
          <p:nvPr/>
        </p:nvSpPr>
        <p:spPr>
          <a:xfrm>
            <a:off x="365760" y="3081528"/>
            <a:ext cx="1828800" cy="1572768"/>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345" y="3581221"/>
            <a:ext cx="1828800" cy="1417320"/>
          </a:xfrm>
          <a:prstGeom prst="rect">
            <a:avLst/>
          </a:prstGeom>
          <a:noFill/>
        </p:spPr>
        <p:txBody>
          <a:bodyPr wrap="square">
            <a:spAutoFit/>
          </a:bodyPr>
          <a:lstStyle/>
          <a:p>
            <a:pPr algn="ctr"/>
            <a:r>
              <a:rPr sz="1900" b="1" i="0" dirty="0" err="1">
                <a:solidFill>
                  <a:srgbClr val="FFFFFF"/>
                </a:solidFill>
              </a:rPr>
              <a:t>常識・知識</a:t>
            </a:r>
            <a:r>
              <a:rPr sz="1900" b="1" i="0" dirty="0">
                <a:solidFill>
                  <a:srgbClr val="FFFFFF"/>
                </a:solidFill>
              </a:rPr>
              <a:t>
JC-QA / JMMLU</a:t>
            </a:r>
          </a:p>
        </p:txBody>
      </p:sp>
      <p:sp>
        <p:nvSpPr>
          <p:cNvPr id="14" name="Rectangle 13"/>
          <p:cNvSpPr/>
          <p:nvPr/>
        </p:nvSpPr>
        <p:spPr>
          <a:xfrm>
            <a:off x="2331720" y="3081528"/>
            <a:ext cx="9509760" cy="1572768"/>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23160" y="3145028"/>
            <a:ext cx="9235440" cy="384048"/>
          </a:xfrm>
          <a:prstGeom prst="rect">
            <a:avLst/>
          </a:prstGeom>
          <a:noFill/>
        </p:spPr>
        <p:txBody>
          <a:bodyPr wrap="square">
            <a:spAutoFit/>
          </a:bodyPr>
          <a:lstStyle/>
          <a:p>
            <a:pPr algn="l"/>
            <a:r>
              <a:rPr sz="2000" b="1" i="0">
                <a:solidFill>
                  <a:srgbClr val="1A1A2E"/>
                </a:solidFill>
              </a:rPr>
              <a:t>選択肢ラベル一致</a:t>
            </a:r>
          </a:p>
        </p:txBody>
      </p:sp>
      <p:sp>
        <p:nvSpPr>
          <p:cNvPr id="16" name="TextBox 15"/>
          <p:cNvSpPr txBox="1"/>
          <p:nvPr/>
        </p:nvSpPr>
        <p:spPr>
          <a:xfrm>
            <a:off x="2423160" y="3500689"/>
            <a:ext cx="9235440" cy="615553"/>
          </a:xfrm>
          <a:prstGeom prst="rect">
            <a:avLst/>
          </a:prstGeom>
          <a:noFill/>
        </p:spPr>
        <p:txBody>
          <a:bodyPr wrap="square">
            <a:spAutoFit/>
          </a:bodyPr>
          <a:lstStyle/>
          <a:p>
            <a:pPr algn="l"/>
            <a:r>
              <a:rPr sz="1700" b="0" i="0" dirty="0">
                <a:solidFill>
                  <a:srgbClr val="E84C3C"/>
                </a:solidFill>
              </a:rPr>
              <a:t>例: </a:t>
            </a:r>
            <a:r>
              <a:rPr sz="1700" b="0" i="0" dirty="0" err="1">
                <a:solidFill>
                  <a:srgbClr val="E84C3C"/>
                </a:solidFill>
              </a:rPr>
              <a:t>正解「A</a:t>
            </a:r>
            <a:r>
              <a:rPr sz="1700" b="0" i="0" dirty="0">
                <a:solidFill>
                  <a:srgbClr val="E84C3C"/>
                </a:solidFill>
              </a:rPr>
              <a:t>」、</a:t>
            </a:r>
            <a:br>
              <a:rPr lang="en-US" sz="1700" b="0" i="0" dirty="0">
                <a:solidFill>
                  <a:srgbClr val="E84C3C"/>
                </a:solidFill>
              </a:rPr>
            </a:br>
            <a:r>
              <a:rPr lang="en-US" sz="1700" b="0" i="0" dirty="0">
                <a:solidFill>
                  <a:srgbClr val="E84C3C"/>
                </a:solidFill>
              </a:rPr>
              <a:t>	</a:t>
            </a:r>
            <a:r>
              <a:rPr sz="1700" b="0" i="0" dirty="0" err="1">
                <a:solidFill>
                  <a:srgbClr val="E84C3C"/>
                </a:solidFill>
              </a:rPr>
              <a:t>AI出力「A</a:t>
            </a:r>
            <a:r>
              <a:rPr sz="1700" b="0" i="0" dirty="0">
                <a:solidFill>
                  <a:srgbClr val="E84C3C"/>
                </a:solidFill>
              </a:rPr>
              <a:t>」→</a:t>
            </a:r>
            <a:r>
              <a:rPr lang="ja-JP" altLang="en-US" sz="1700" b="0" i="0" dirty="0">
                <a:solidFill>
                  <a:srgbClr val="E84C3C"/>
                </a:solidFill>
              </a:rPr>
              <a:t> </a:t>
            </a:r>
            <a:r>
              <a:rPr sz="1700" b="0" i="0" dirty="0" err="1">
                <a:solidFill>
                  <a:srgbClr val="E84C3C"/>
                </a:solidFill>
              </a:rPr>
              <a:t>正解</a:t>
            </a:r>
            <a:r>
              <a:rPr sz="1700" b="0" i="0" dirty="0">
                <a:solidFill>
                  <a:srgbClr val="E84C3C"/>
                </a:solidFill>
              </a:rPr>
              <a:t>　　</a:t>
            </a:r>
            <a:r>
              <a:rPr sz="1700" b="0" i="0" dirty="0" err="1">
                <a:solidFill>
                  <a:srgbClr val="E84C3C"/>
                </a:solidFill>
              </a:rPr>
              <a:t>AI出力「B</a:t>
            </a:r>
            <a:r>
              <a:rPr sz="1700" b="0" i="0" dirty="0">
                <a:solidFill>
                  <a:srgbClr val="E84C3C"/>
                </a:solidFill>
              </a:rPr>
              <a:t>」→ </a:t>
            </a:r>
            <a:r>
              <a:rPr sz="1700" b="0" i="0" dirty="0" err="1">
                <a:solidFill>
                  <a:srgbClr val="E84C3C"/>
                </a:solidFill>
              </a:rPr>
              <a:t>不正解</a:t>
            </a:r>
            <a:endParaRPr sz="1700" b="0" i="0" dirty="0">
              <a:solidFill>
                <a:srgbClr val="E84C3C"/>
              </a:solidFill>
            </a:endParaRPr>
          </a:p>
        </p:txBody>
      </p:sp>
      <p:sp>
        <p:nvSpPr>
          <p:cNvPr id="17" name="TextBox 16"/>
          <p:cNvSpPr txBox="1"/>
          <p:nvPr/>
        </p:nvSpPr>
        <p:spPr>
          <a:xfrm>
            <a:off x="2423160" y="4172026"/>
            <a:ext cx="9235440" cy="411480"/>
          </a:xfrm>
          <a:prstGeom prst="rect">
            <a:avLst/>
          </a:prstGeom>
          <a:noFill/>
        </p:spPr>
        <p:txBody>
          <a:bodyPr wrap="square">
            <a:spAutoFit/>
          </a:bodyPr>
          <a:lstStyle/>
          <a:p>
            <a:pPr algn="l"/>
            <a:r>
              <a:rPr sz="1500" b="0" i="0" dirty="0" err="1">
                <a:solidFill>
                  <a:srgbClr val="555555"/>
                </a:solidFill>
              </a:rPr>
              <a:t>根拠</a:t>
            </a:r>
            <a:r>
              <a:rPr sz="1500" b="0" i="0" dirty="0">
                <a:solidFill>
                  <a:srgbClr val="555555"/>
                </a:solidFill>
              </a:rPr>
              <a:t>: MC </a:t>
            </a:r>
            <a:r>
              <a:rPr sz="1500" b="0" i="0" dirty="0" err="1">
                <a:solidFill>
                  <a:srgbClr val="555555"/>
                </a:solidFill>
              </a:rPr>
              <a:t>形式は</a:t>
            </a:r>
            <a:r>
              <a:rPr sz="1500" b="0" i="0" dirty="0">
                <a:solidFill>
                  <a:srgbClr val="555555"/>
                </a:solidFill>
              </a:rPr>
              <a:t> calibration </a:t>
            </a:r>
            <a:r>
              <a:rPr sz="1500" b="0" i="0" dirty="0" err="1">
                <a:solidFill>
                  <a:srgbClr val="555555"/>
                </a:solidFill>
              </a:rPr>
              <a:t>研究の</a:t>
            </a:r>
            <a:r>
              <a:rPr sz="1500" b="0" i="0" dirty="0">
                <a:solidFill>
                  <a:srgbClr val="555555"/>
                </a:solidFill>
              </a:rPr>
              <a:t> 60〜70% </a:t>
            </a:r>
            <a:r>
              <a:rPr sz="1500" b="0" i="0" dirty="0" err="1">
                <a:solidFill>
                  <a:srgbClr val="555555"/>
                </a:solidFill>
              </a:rPr>
              <a:t>が採用する最も信頼性の高い判定方法（Xiong</a:t>
            </a:r>
            <a:r>
              <a:rPr sz="1500" b="0" i="0" dirty="0">
                <a:solidFill>
                  <a:srgbClr val="555555"/>
                </a:solidFill>
              </a:rPr>
              <a:t> 2024 [4] 等）</a:t>
            </a:r>
          </a:p>
        </p:txBody>
      </p:sp>
      <p:sp>
        <p:nvSpPr>
          <p:cNvPr id="18" name="Rectangle 17"/>
          <p:cNvSpPr/>
          <p:nvPr/>
        </p:nvSpPr>
        <p:spPr>
          <a:xfrm>
            <a:off x="365760" y="4837176"/>
            <a:ext cx="1828800" cy="1792224"/>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345" y="5394960"/>
            <a:ext cx="1828800" cy="1417320"/>
          </a:xfrm>
          <a:prstGeom prst="rect">
            <a:avLst/>
          </a:prstGeom>
          <a:noFill/>
        </p:spPr>
        <p:txBody>
          <a:bodyPr wrap="square">
            <a:spAutoFit/>
          </a:bodyPr>
          <a:lstStyle/>
          <a:p>
            <a:pPr algn="ctr"/>
            <a:r>
              <a:rPr sz="1900" b="1" i="0" dirty="0" err="1">
                <a:solidFill>
                  <a:srgbClr val="FFFFFF"/>
                </a:solidFill>
              </a:rPr>
              <a:t>翻訳</a:t>
            </a:r>
            <a:r>
              <a:rPr sz="1900" b="1" i="0" dirty="0">
                <a:solidFill>
                  <a:srgbClr val="FFFFFF"/>
                </a:solidFill>
              </a:rPr>
              <a:t>
FLORES-200</a:t>
            </a:r>
          </a:p>
        </p:txBody>
      </p:sp>
      <p:sp>
        <p:nvSpPr>
          <p:cNvPr id="20" name="Rectangle 19"/>
          <p:cNvSpPr/>
          <p:nvPr/>
        </p:nvSpPr>
        <p:spPr>
          <a:xfrm>
            <a:off x="2331720" y="4837176"/>
            <a:ext cx="9509760" cy="1792224"/>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23160" y="4900676"/>
            <a:ext cx="9235440" cy="384048"/>
          </a:xfrm>
          <a:prstGeom prst="rect">
            <a:avLst/>
          </a:prstGeom>
          <a:noFill/>
        </p:spPr>
        <p:txBody>
          <a:bodyPr wrap="square">
            <a:spAutoFit/>
          </a:bodyPr>
          <a:lstStyle/>
          <a:p>
            <a:pPr algn="l"/>
            <a:r>
              <a:rPr sz="2000" b="1" i="0">
                <a:solidFill>
                  <a:srgbClr val="1A1A2E"/>
                </a:solidFill>
              </a:rPr>
              <a:t>COMET スコア閾値</a:t>
            </a:r>
          </a:p>
        </p:txBody>
      </p:sp>
      <p:sp>
        <p:nvSpPr>
          <p:cNvPr id="22" name="TextBox 21"/>
          <p:cNvSpPr txBox="1"/>
          <p:nvPr/>
        </p:nvSpPr>
        <p:spPr>
          <a:xfrm>
            <a:off x="2423160" y="5243576"/>
            <a:ext cx="9235440" cy="877163"/>
          </a:xfrm>
          <a:prstGeom prst="rect">
            <a:avLst/>
          </a:prstGeom>
          <a:noFill/>
        </p:spPr>
        <p:txBody>
          <a:bodyPr wrap="square">
            <a:spAutoFit/>
          </a:bodyPr>
          <a:lstStyle/>
          <a:p>
            <a:pPr algn="l"/>
            <a:r>
              <a:rPr sz="1700" b="0" i="0" dirty="0">
                <a:solidFill>
                  <a:srgbClr val="E84C3C"/>
                </a:solidFill>
              </a:rPr>
              <a:t>例: </a:t>
            </a:r>
            <a:r>
              <a:rPr sz="1700" b="0" i="0" dirty="0" err="1">
                <a:solidFill>
                  <a:srgbClr val="E84C3C"/>
                </a:solidFill>
              </a:rPr>
              <a:t>参照訳「猫がマットに座った</a:t>
            </a:r>
            <a:r>
              <a:rPr sz="1700" b="0" i="0" dirty="0">
                <a:solidFill>
                  <a:srgbClr val="E84C3C"/>
                </a:solidFill>
              </a:rPr>
              <a:t>。」、</a:t>
            </a:r>
            <a:r>
              <a:rPr sz="1700" b="0" i="0" dirty="0" err="1">
                <a:solidFill>
                  <a:srgbClr val="E84C3C"/>
                </a:solidFill>
              </a:rPr>
              <a:t>AI訳「ネコがマットの上に座っていた</a:t>
            </a:r>
            <a:r>
              <a:rPr sz="1700" b="0" i="0" dirty="0">
                <a:solidFill>
                  <a:srgbClr val="E84C3C"/>
                </a:solidFill>
              </a:rPr>
              <a:t>。」
　→ COMET = 0.87 ≥ θ → </a:t>
            </a:r>
            <a:r>
              <a:rPr sz="1700" b="0" i="0" dirty="0" err="1">
                <a:solidFill>
                  <a:srgbClr val="E84C3C"/>
                </a:solidFill>
              </a:rPr>
              <a:t>正解</a:t>
            </a:r>
            <a:br>
              <a:rPr lang="en-US" sz="1700" b="0" i="0" dirty="0">
                <a:solidFill>
                  <a:srgbClr val="E84C3C"/>
                </a:solidFill>
              </a:rPr>
            </a:br>
            <a:r>
              <a:rPr sz="1700" b="0" i="0" dirty="0">
                <a:solidFill>
                  <a:srgbClr val="E84C3C"/>
                </a:solidFill>
              </a:rPr>
              <a:t>（θ は </a:t>
            </a:r>
            <a:r>
              <a:rPr lang="ja-JP" altLang="en-US" sz="1700" b="0" i="0" dirty="0">
                <a:solidFill>
                  <a:srgbClr val="E84C3C"/>
                </a:solidFill>
              </a:rPr>
              <a:t>人力で</a:t>
            </a:r>
            <a:r>
              <a:rPr sz="1700" b="0" i="0" dirty="0">
                <a:solidFill>
                  <a:srgbClr val="E84C3C"/>
                </a:solidFill>
              </a:rPr>
              <a:t>50 文</a:t>
            </a:r>
            <a:r>
              <a:rPr lang="ja-JP" altLang="en-US" sz="1700" b="0" i="0" dirty="0">
                <a:solidFill>
                  <a:srgbClr val="E84C3C"/>
                </a:solidFill>
              </a:rPr>
              <a:t>を判定</a:t>
            </a:r>
            <a:r>
              <a:rPr lang="ja-JP" altLang="en-US" sz="1700" dirty="0">
                <a:solidFill>
                  <a:srgbClr val="E84C3C"/>
                </a:solidFill>
              </a:rPr>
              <a:t>し、</a:t>
            </a:r>
            <a:r>
              <a:rPr sz="1700" b="0" i="0" dirty="0">
                <a:solidFill>
                  <a:srgbClr val="E84C3C"/>
                </a:solidFill>
              </a:rPr>
              <a:t> F1</a:t>
            </a:r>
            <a:r>
              <a:rPr lang="ja-JP" altLang="en-US" sz="1700" b="0" i="0" dirty="0">
                <a:solidFill>
                  <a:srgbClr val="E84C3C"/>
                </a:solidFill>
              </a:rPr>
              <a:t>スコアが</a:t>
            </a:r>
            <a:r>
              <a:rPr sz="1700" b="0" i="0" dirty="0">
                <a:solidFill>
                  <a:srgbClr val="E84C3C"/>
                </a:solidFill>
              </a:rPr>
              <a:t> </a:t>
            </a:r>
            <a:r>
              <a:rPr lang="ja-JP" altLang="en-US" sz="1700" b="0" i="0" dirty="0">
                <a:solidFill>
                  <a:srgbClr val="E84C3C"/>
                </a:solidFill>
              </a:rPr>
              <a:t>最大となる閾値スコア</a:t>
            </a:r>
            <a:r>
              <a:rPr lang="en-US" altLang="ja-JP" sz="1700" b="0" i="0" dirty="0">
                <a:solidFill>
                  <a:srgbClr val="E84C3C"/>
                </a:solidFill>
              </a:rPr>
              <a:t>θ</a:t>
            </a:r>
            <a:r>
              <a:rPr lang="ja-JP" altLang="en-US" sz="1700" b="0" i="0" dirty="0">
                <a:solidFill>
                  <a:srgbClr val="E84C3C"/>
                </a:solidFill>
              </a:rPr>
              <a:t>を</a:t>
            </a:r>
            <a:r>
              <a:rPr lang="ja-JP" altLang="en-US" sz="1700" dirty="0">
                <a:solidFill>
                  <a:srgbClr val="E84C3C"/>
                </a:solidFill>
              </a:rPr>
              <a:t>決める</a:t>
            </a:r>
            <a:r>
              <a:rPr sz="1700" b="0" i="0" dirty="0">
                <a:solidFill>
                  <a:srgbClr val="E84C3C"/>
                </a:solidFill>
              </a:rPr>
              <a:t>）</a:t>
            </a:r>
          </a:p>
        </p:txBody>
      </p:sp>
      <p:sp>
        <p:nvSpPr>
          <p:cNvPr id="25" name="TextBox 24"/>
          <p:cNvSpPr txBox="1"/>
          <p:nvPr/>
        </p:nvSpPr>
        <p:spPr>
          <a:xfrm>
            <a:off x="2423160" y="6072786"/>
            <a:ext cx="11430000" cy="461665"/>
          </a:xfrm>
          <a:prstGeom prst="rect">
            <a:avLst/>
          </a:prstGeom>
          <a:noFill/>
        </p:spPr>
        <p:txBody>
          <a:bodyPr wrap="square">
            <a:spAutoFit/>
          </a:bodyPr>
          <a:lstStyle/>
          <a:p>
            <a:pPr algn="l"/>
            <a:r>
              <a:rPr sz="1200" b="0" i="0" dirty="0">
                <a:solidFill>
                  <a:srgbClr val="555555"/>
                </a:solidFill>
              </a:rPr>
              <a:t>※ COMET = </a:t>
            </a:r>
            <a:r>
              <a:rPr sz="1200" b="0" i="0" dirty="0" err="1">
                <a:solidFill>
                  <a:srgbClr val="555555"/>
                </a:solidFill>
              </a:rPr>
              <a:t>Crosslingual</a:t>
            </a:r>
            <a:r>
              <a:rPr sz="1200" b="0" i="0" dirty="0">
                <a:solidFill>
                  <a:srgbClr val="555555"/>
                </a:solidFill>
              </a:rPr>
              <a:t> Optimized Metric for Evaluation of Translation</a:t>
            </a:r>
            <a:br>
              <a:rPr lang="en-US" sz="1200" b="0" i="0" dirty="0">
                <a:solidFill>
                  <a:srgbClr val="555555"/>
                </a:solidFill>
              </a:rPr>
            </a:br>
            <a:r>
              <a:rPr sz="1200" b="0" i="0" dirty="0">
                <a:solidFill>
                  <a:srgbClr val="555555"/>
                </a:solidFill>
              </a:rPr>
              <a:t>（</a:t>
            </a:r>
            <a:r>
              <a:rPr sz="1200" b="0" i="0" dirty="0" err="1">
                <a:solidFill>
                  <a:srgbClr val="555555"/>
                </a:solidFill>
              </a:rPr>
              <a:t>機械翻訳品質評価のニューラルメトリクス。人間評価との相関が</a:t>
            </a:r>
            <a:r>
              <a:rPr sz="1200" b="0" i="0" dirty="0">
                <a:solidFill>
                  <a:srgbClr val="555555"/>
                </a:solidFill>
              </a:rPr>
              <a:t> BLEU </a:t>
            </a:r>
            <a:r>
              <a:rPr sz="1200" b="0" i="0" dirty="0" err="1">
                <a:solidFill>
                  <a:srgbClr val="555555"/>
                </a:solidFill>
              </a:rPr>
              <a:t>より高い</a:t>
            </a:r>
            <a:r>
              <a:rPr sz="1200" b="0" i="0" dirty="0">
                <a:solidFill>
                  <a:srgbClr val="555555"/>
                </a:solidFill>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553998"/>
          </a:xfrm>
          <a:prstGeom prst="rect">
            <a:avLst/>
          </a:prstGeom>
          <a:noFill/>
        </p:spPr>
        <p:txBody>
          <a:bodyPr wrap="square">
            <a:spAutoFit/>
          </a:bodyPr>
          <a:lstStyle/>
          <a:p>
            <a:pPr algn="l"/>
            <a:r>
              <a:rPr sz="3000" b="1" i="0" dirty="0" err="1">
                <a:solidFill>
                  <a:srgbClr val="1A1A2E"/>
                </a:solidFill>
              </a:rPr>
              <a:t>今後の方向性：実験環境の構築</a:t>
            </a:r>
            <a:endParaRPr sz="3000" b="1" i="0" dirty="0">
              <a:solidFill>
                <a:srgbClr val="1A1A2E"/>
              </a:solidFill>
            </a:endParaRP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21 / 26</a:t>
            </a:r>
          </a:p>
        </p:txBody>
      </p:sp>
      <p:sp>
        <p:nvSpPr>
          <p:cNvPr id="5" name="Rectangle 4"/>
          <p:cNvSpPr/>
          <p:nvPr/>
        </p:nvSpPr>
        <p:spPr>
          <a:xfrm>
            <a:off x="365760" y="960120"/>
            <a:ext cx="2926080" cy="67665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429000" y="960120"/>
            <a:ext cx="8412480" cy="676656"/>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766834"/>
            <a:ext cx="2926080" cy="84504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7345" y="2858383"/>
            <a:ext cx="2834640" cy="707886"/>
          </a:xfrm>
          <a:prstGeom prst="rect">
            <a:avLst/>
          </a:prstGeom>
          <a:noFill/>
        </p:spPr>
        <p:txBody>
          <a:bodyPr wrap="square">
            <a:spAutoFit/>
          </a:bodyPr>
          <a:lstStyle/>
          <a:p>
            <a:pPr algn="ctr"/>
            <a:r>
              <a:rPr lang="ja-JP" altLang="en-US" sz="2000" b="1" dirty="0">
                <a:solidFill>
                  <a:srgbClr val="FFFFFF"/>
                </a:solidFill>
              </a:rPr>
              <a:t>③</a:t>
            </a:r>
            <a:r>
              <a:rPr sz="2000" b="1" i="0" dirty="0">
                <a:solidFill>
                  <a:srgbClr val="FFFFFF"/>
                </a:solidFill>
              </a:rPr>
              <a:t> API </a:t>
            </a:r>
            <a:r>
              <a:rPr sz="2000" b="1" i="0" dirty="0" err="1">
                <a:solidFill>
                  <a:srgbClr val="FFFFFF"/>
                </a:solidFill>
              </a:rPr>
              <a:t>キーの取得</a:t>
            </a:r>
            <a:br>
              <a:rPr lang="en-US" sz="2000" b="1" i="0" dirty="0">
                <a:solidFill>
                  <a:srgbClr val="FFFFFF"/>
                </a:solidFill>
              </a:rPr>
            </a:br>
            <a:r>
              <a:rPr sz="2000" b="1" i="0" dirty="0" err="1">
                <a:solidFill>
                  <a:srgbClr val="FFFFFF"/>
                </a:solidFill>
              </a:rPr>
              <a:t>と設定</a:t>
            </a:r>
            <a:endParaRPr sz="2000" b="1" i="0" dirty="0">
              <a:solidFill>
                <a:srgbClr val="FFFFFF"/>
              </a:solidFill>
            </a:endParaRPr>
          </a:p>
        </p:txBody>
      </p:sp>
      <p:sp>
        <p:nvSpPr>
          <p:cNvPr id="11" name="Rectangle 10"/>
          <p:cNvSpPr/>
          <p:nvPr/>
        </p:nvSpPr>
        <p:spPr>
          <a:xfrm>
            <a:off x="3429000" y="2788920"/>
            <a:ext cx="8412480" cy="82296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20440" y="2890520"/>
            <a:ext cx="8229600" cy="1097280"/>
          </a:xfrm>
          <a:prstGeom prst="rect">
            <a:avLst/>
          </a:prstGeom>
          <a:noFill/>
        </p:spPr>
        <p:txBody>
          <a:bodyPr wrap="square">
            <a:spAutoFit/>
          </a:bodyPr>
          <a:lstStyle/>
          <a:p>
            <a:pPr algn="l"/>
            <a:r>
              <a:rPr sz="1800" b="0" i="0" dirty="0" err="1">
                <a:solidFill>
                  <a:srgbClr val="1A1A2E"/>
                </a:solidFill>
              </a:rPr>
              <a:t>各サービスで</a:t>
            </a:r>
            <a:r>
              <a:rPr sz="1800" b="0" i="0" dirty="0">
                <a:solidFill>
                  <a:srgbClr val="1A1A2E"/>
                </a:solidFill>
              </a:rPr>
              <a:t> API </a:t>
            </a:r>
            <a:r>
              <a:rPr sz="1800" b="0" i="0" dirty="0" err="1">
                <a:solidFill>
                  <a:srgbClr val="1A1A2E"/>
                </a:solidFill>
              </a:rPr>
              <a:t>キーを取得（OpenAI</a:t>
            </a:r>
            <a:r>
              <a:rPr sz="1800" b="0" i="0" dirty="0">
                <a:solidFill>
                  <a:srgbClr val="1A1A2E"/>
                </a:solidFill>
              </a:rPr>
              <a:t> / Anthropic / Google AI Studio）
</a:t>
            </a:r>
            <a:r>
              <a:rPr sz="1800" b="0" i="0" dirty="0" err="1">
                <a:solidFill>
                  <a:srgbClr val="1A1A2E"/>
                </a:solidFill>
              </a:rPr>
              <a:t>環境変数</a:t>
            </a:r>
            <a:r>
              <a:rPr sz="1800" b="0" i="0" dirty="0">
                <a:solidFill>
                  <a:srgbClr val="1A1A2E"/>
                </a:solidFill>
              </a:rPr>
              <a:t>（.env </a:t>
            </a:r>
            <a:r>
              <a:rPr sz="1800" b="0" i="0" dirty="0" err="1">
                <a:solidFill>
                  <a:srgbClr val="1A1A2E"/>
                </a:solidFill>
              </a:rPr>
              <a:t>ファイル）に登録し、スクリプトから安全に参照</a:t>
            </a:r>
            <a:endParaRPr sz="1800" b="0" i="0" dirty="0">
              <a:solidFill>
                <a:srgbClr val="1A1A2E"/>
              </a:solidFill>
            </a:endParaRPr>
          </a:p>
        </p:txBody>
      </p:sp>
      <p:sp>
        <p:nvSpPr>
          <p:cNvPr id="13" name="Rectangle 12"/>
          <p:cNvSpPr/>
          <p:nvPr/>
        </p:nvSpPr>
        <p:spPr>
          <a:xfrm>
            <a:off x="365760" y="3794760"/>
            <a:ext cx="2926080" cy="123444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5658" y="4080842"/>
            <a:ext cx="2834640" cy="707886"/>
          </a:xfrm>
          <a:prstGeom prst="rect">
            <a:avLst/>
          </a:prstGeom>
          <a:noFill/>
        </p:spPr>
        <p:txBody>
          <a:bodyPr wrap="square">
            <a:spAutoFit/>
          </a:bodyPr>
          <a:lstStyle/>
          <a:p>
            <a:pPr algn="ctr"/>
            <a:r>
              <a:rPr lang="ja-JP" altLang="en-US" sz="2000" b="1" dirty="0">
                <a:solidFill>
                  <a:srgbClr val="FFFFFF"/>
                </a:solidFill>
              </a:rPr>
              <a:t>④</a:t>
            </a:r>
            <a:r>
              <a:rPr sz="2000" b="1" i="0" dirty="0">
                <a:solidFill>
                  <a:srgbClr val="FFFFFF"/>
                </a:solidFill>
              </a:rPr>
              <a:t> </a:t>
            </a:r>
            <a:r>
              <a:rPr sz="2000" b="1" i="0" dirty="0" err="1">
                <a:solidFill>
                  <a:srgbClr val="FFFFFF"/>
                </a:solidFill>
              </a:rPr>
              <a:t>データセット</a:t>
            </a:r>
            <a:br>
              <a:rPr lang="en-US" sz="2000" b="1" i="0" dirty="0">
                <a:solidFill>
                  <a:srgbClr val="FFFFFF"/>
                </a:solidFill>
              </a:rPr>
            </a:br>
            <a:r>
              <a:rPr sz="2000" b="1" i="0" dirty="0" err="1">
                <a:solidFill>
                  <a:srgbClr val="FFFFFF"/>
                </a:solidFill>
              </a:rPr>
              <a:t>の前処理</a:t>
            </a:r>
            <a:endParaRPr sz="2000" b="1" i="0" dirty="0">
              <a:solidFill>
                <a:srgbClr val="FFFFFF"/>
              </a:solidFill>
            </a:endParaRPr>
          </a:p>
        </p:txBody>
      </p:sp>
      <p:sp>
        <p:nvSpPr>
          <p:cNvPr id="15" name="Rectangle 14"/>
          <p:cNvSpPr/>
          <p:nvPr/>
        </p:nvSpPr>
        <p:spPr>
          <a:xfrm>
            <a:off x="3429000" y="3794760"/>
            <a:ext cx="8412480" cy="12344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20440" y="3896360"/>
            <a:ext cx="8229600" cy="1097280"/>
          </a:xfrm>
          <a:prstGeom prst="rect">
            <a:avLst/>
          </a:prstGeom>
          <a:noFill/>
        </p:spPr>
        <p:txBody>
          <a:bodyPr wrap="square">
            <a:spAutoFit/>
          </a:bodyPr>
          <a:lstStyle/>
          <a:p>
            <a:pPr algn="l"/>
            <a:r>
              <a:rPr sz="1800" b="0" i="0">
                <a:solidFill>
                  <a:srgbClr val="1A1A2E"/>
                </a:solidFill>
              </a:rPr>
              <a:t>HuggingFace datasets で MGSM / JCommonsenseQA / JMMLU / FLORES-200 をダウンロード
各 250 問をサンプリングし、正解ラベル付き CSV として保存</a:t>
            </a:r>
          </a:p>
        </p:txBody>
      </p:sp>
      <p:sp>
        <p:nvSpPr>
          <p:cNvPr id="17" name="Rectangle 16"/>
          <p:cNvSpPr/>
          <p:nvPr/>
        </p:nvSpPr>
        <p:spPr>
          <a:xfrm>
            <a:off x="365760" y="5212080"/>
            <a:ext cx="2926080" cy="123444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01378" y="5475357"/>
            <a:ext cx="2834640" cy="707886"/>
          </a:xfrm>
          <a:prstGeom prst="rect">
            <a:avLst/>
          </a:prstGeom>
          <a:noFill/>
        </p:spPr>
        <p:txBody>
          <a:bodyPr wrap="square">
            <a:spAutoFit/>
          </a:bodyPr>
          <a:lstStyle/>
          <a:p>
            <a:pPr algn="ctr"/>
            <a:r>
              <a:rPr lang="ja-JP" altLang="en-US" sz="2000" b="1" dirty="0">
                <a:solidFill>
                  <a:srgbClr val="FFFFFF"/>
                </a:solidFill>
              </a:rPr>
              <a:t>⑤</a:t>
            </a:r>
            <a:r>
              <a:rPr sz="2000" b="1" i="0" dirty="0">
                <a:solidFill>
                  <a:srgbClr val="FFFFFF"/>
                </a:solidFill>
              </a:rPr>
              <a:t> </a:t>
            </a:r>
            <a:r>
              <a:rPr sz="2000" b="1" i="0" dirty="0" err="1">
                <a:solidFill>
                  <a:srgbClr val="FFFFFF"/>
                </a:solidFill>
              </a:rPr>
              <a:t>実験スクリプト</a:t>
            </a:r>
            <a:br>
              <a:rPr lang="en-US" sz="2000" b="1" i="0" dirty="0">
                <a:solidFill>
                  <a:srgbClr val="FFFFFF"/>
                </a:solidFill>
              </a:rPr>
            </a:br>
            <a:r>
              <a:rPr sz="2000" b="1" i="0" dirty="0" err="1">
                <a:solidFill>
                  <a:srgbClr val="FFFFFF"/>
                </a:solidFill>
              </a:rPr>
              <a:t>の設計</a:t>
            </a:r>
            <a:endParaRPr sz="2000" b="1" i="0" dirty="0">
              <a:solidFill>
                <a:srgbClr val="FFFFFF"/>
              </a:solidFill>
            </a:endParaRPr>
          </a:p>
        </p:txBody>
      </p:sp>
      <p:sp>
        <p:nvSpPr>
          <p:cNvPr id="19" name="Rectangle 18"/>
          <p:cNvSpPr/>
          <p:nvPr/>
        </p:nvSpPr>
        <p:spPr>
          <a:xfrm>
            <a:off x="3429000" y="5212080"/>
            <a:ext cx="8412480" cy="123444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520440" y="5313680"/>
            <a:ext cx="8229600" cy="1097280"/>
          </a:xfrm>
          <a:prstGeom prst="rect">
            <a:avLst/>
          </a:prstGeom>
          <a:noFill/>
        </p:spPr>
        <p:txBody>
          <a:bodyPr wrap="square">
            <a:spAutoFit/>
          </a:bodyPr>
          <a:lstStyle/>
          <a:p>
            <a:pPr algn="l"/>
            <a:r>
              <a:rPr sz="1800" b="0" i="0">
                <a:solidFill>
                  <a:srgbClr val="1A1A2E"/>
                </a:solidFill>
              </a:rPr>
              <a:t>問題 CSV → API 問い合わせ（プロンプト条件ごとに分岐）→ 回答・確信度 CSV 保存
→ 正誤判定スクリプト → ECE / Brier / AUROC 計算 → Reliability Diagram 出力</a:t>
            </a:r>
          </a:p>
        </p:txBody>
      </p:sp>
      <p:sp>
        <p:nvSpPr>
          <p:cNvPr id="21" name="TextBox 20"/>
          <p:cNvSpPr txBox="1"/>
          <p:nvPr/>
        </p:nvSpPr>
        <p:spPr>
          <a:xfrm>
            <a:off x="365760" y="6510528"/>
            <a:ext cx="11704320" cy="353943"/>
          </a:xfrm>
          <a:prstGeom prst="rect">
            <a:avLst/>
          </a:prstGeom>
          <a:noFill/>
        </p:spPr>
        <p:txBody>
          <a:bodyPr wrap="square">
            <a:spAutoFit/>
          </a:bodyPr>
          <a:lstStyle/>
          <a:p>
            <a:pPr algn="l"/>
            <a:r>
              <a:rPr sz="1700" b="1" i="0" dirty="0" err="1">
                <a:solidFill>
                  <a:srgbClr val="E84C3C"/>
                </a:solidFill>
              </a:rPr>
              <a:t>目標</a:t>
            </a:r>
            <a:r>
              <a:rPr sz="1700" b="1" i="0" dirty="0">
                <a:solidFill>
                  <a:srgbClr val="E84C3C"/>
                </a:solidFill>
              </a:rPr>
              <a:t>: 中間発表前にパイロット実験（1ドメイン × 1モデル × 1条件）で動作確認完了</a:t>
            </a:r>
          </a:p>
        </p:txBody>
      </p:sp>
      <p:sp>
        <p:nvSpPr>
          <p:cNvPr id="22" name="Rectangle 6">
            <a:extLst>
              <a:ext uri="{FF2B5EF4-FFF2-40B4-BE49-F238E27FC236}">
                <a16:creationId xmlns:a16="http://schemas.microsoft.com/office/drawing/2014/main" id="{4DF578BF-D241-D70D-EDCD-22E34AAE3DD7}"/>
              </a:ext>
            </a:extLst>
          </p:cNvPr>
          <p:cNvSpPr/>
          <p:nvPr/>
        </p:nvSpPr>
        <p:spPr>
          <a:xfrm>
            <a:off x="3429000" y="1783080"/>
            <a:ext cx="8412480" cy="8686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4">
            <a:extLst>
              <a:ext uri="{FF2B5EF4-FFF2-40B4-BE49-F238E27FC236}">
                <a16:creationId xmlns:a16="http://schemas.microsoft.com/office/drawing/2014/main" id="{AA9E5034-4565-9411-3B23-AE13F0E50A16}"/>
              </a:ext>
            </a:extLst>
          </p:cNvPr>
          <p:cNvSpPr/>
          <p:nvPr/>
        </p:nvSpPr>
        <p:spPr>
          <a:xfrm>
            <a:off x="355658" y="1760994"/>
            <a:ext cx="2926080" cy="89076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29000" y="1767385"/>
            <a:ext cx="8229600" cy="1097280"/>
          </a:xfrm>
          <a:prstGeom prst="rect">
            <a:avLst/>
          </a:prstGeom>
          <a:noFill/>
        </p:spPr>
        <p:txBody>
          <a:bodyPr wrap="square">
            <a:spAutoFit/>
          </a:bodyPr>
          <a:lstStyle/>
          <a:p>
            <a:pPr algn="l"/>
            <a:r>
              <a:rPr sz="1800" b="0" i="0" dirty="0">
                <a:solidFill>
                  <a:srgbClr val="1A1A2E"/>
                </a:solidFill>
              </a:rPr>
              <a:t>Python 3.12 + Anaconda（or </a:t>
            </a:r>
            <a:r>
              <a:rPr sz="1800" b="0" i="0" dirty="0" err="1">
                <a:solidFill>
                  <a:srgbClr val="1A1A2E"/>
                </a:solidFill>
              </a:rPr>
              <a:t>venv）で仮想環境を作成</a:t>
            </a:r>
            <a:r>
              <a:rPr sz="1800" b="0" i="0" dirty="0">
                <a:solidFill>
                  <a:srgbClr val="1A1A2E"/>
                </a:solidFill>
              </a:rPr>
              <a:t>
</a:t>
            </a:r>
            <a:r>
              <a:rPr sz="1800" b="0" i="0" dirty="0" err="1">
                <a:solidFill>
                  <a:srgbClr val="1A1A2E"/>
                </a:solidFill>
              </a:rPr>
              <a:t>必要ライブラリをインストール</a:t>
            </a:r>
            <a:r>
              <a:rPr sz="1800" b="0" i="0" dirty="0">
                <a:solidFill>
                  <a:srgbClr val="1A1A2E"/>
                </a:solidFill>
              </a:rPr>
              <a:t>: </a:t>
            </a:r>
            <a:r>
              <a:rPr sz="1800" b="0" i="0" dirty="0" err="1">
                <a:solidFill>
                  <a:srgbClr val="1A1A2E"/>
                </a:solidFill>
              </a:rPr>
              <a:t>openai</a:t>
            </a:r>
            <a:r>
              <a:rPr sz="1800" b="0" i="0" dirty="0">
                <a:solidFill>
                  <a:srgbClr val="1A1A2E"/>
                </a:solidFill>
              </a:rPr>
              <a:t> / anthropic / google-</a:t>
            </a:r>
            <a:r>
              <a:rPr sz="1800" b="0" i="0" dirty="0" err="1">
                <a:solidFill>
                  <a:srgbClr val="1A1A2E"/>
                </a:solidFill>
              </a:rPr>
              <a:t>generativeai</a:t>
            </a:r>
            <a:r>
              <a:rPr sz="1800" b="0" i="0" dirty="0">
                <a:solidFill>
                  <a:srgbClr val="1A1A2E"/>
                </a:solidFill>
              </a:rPr>
              <a:t>
                               datasets / </a:t>
            </a:r>
            <a:r>
              <a:rPr sz="1800" b="0" i="0" dirty="0" err="1">
                <a:solidFill>
                  <a:srgbClr val="1A1A2E"/>
                </a:solidFill>
              </a:rPr>
              <a:t>netcal</a:t>
            </a:r>
            <a:r>
              <a:rPr sz="1800" b="0" i="0" dirty="0">
                <a:solidFill>
                  <a:srgbClr val="1A1A2E"/>
                </a:solidFill>
              </a:rPr>
              <a:t> / scikit-learn / </a:t>
            </a:r>
            <a:r>
              <a:rPr sz="1800" b="0" i="0" dirty="0" err="1">
                <a:solidFill>
                  <a:srgbClr val="1A1A2E"/>
                </a:solidFill>
              </a:rPr>
              <a:t>unbabel</a:t>
            </a:r>
            <a:r>
              <a:rPr sz="1800" b="0" i="0" dirty="0">
                <a:solidFill>
                  <a:srgbClr val="1A1A2E"/>
                </a:solidFill>
              </a:rPr>
              <a:t>-comet</a:t>
            </a:r>
          </a:p>
        </p:txBody>
      </p:sp>
      <p:sp>
        <p:nvSpPr>
          <p:cNvPr id="25" name="TextBox 7">
            <a:extLst>
              <a:ext uri="{FF2B5EF4-FFF2-40B4-BE49-F238E27FC236}">
                <a16:creationId xmlns:a16="http://schemas.microsoft.com/office/drawing/2014/main" id="{F00DC869-A609-9186-1A6D-87A61D8988B6}"/>
              </a:ext>
            </a:extLst>
          </p:cNvPr>
          <p:cNvSpPr txBox="1"/>
          <p:nvPr/>
        </p:nvSpPr>
        <p:spPr>
          <a:xfrm>
            <a:off x="3451860" y="949783"/>
            <a:ext cx="8229600" cy="369332"/>
          </a:xfrm>
          <a:prstGeom prst="rect">
            <a:avLst/>
          </a:prstGeom>
          <a:noFill/>
        </p:spPr>
        <p:txBody>
          <a:bodyPr wrap="square">
            <a:spAutoFit/>
          </a:bodyPr>
          <a:lstStyle/>
          <a:p>
            <a:pPr algn="l"/>
            <a:r>
              <a:rPr lang="ja-JP" altLang="en-US" sz="1800" b="0" i="0" dirty="0">
                <a:solidFill>
                  <a:srgbClr val="1A1A2E"/>
                </a:solidFill>
              </a:rPr>
              <a:t>英語環境下でのプロンプトを参考に日本語タスクのプロンプトを設計する</a:t>
            </a:r>
            <a:endParaRPr sz="1800" b="0" i="0" dirty="0">
              <a:solidFill>
                <a:srgbClr val="1A1A2E"/>
              </a:solidFill>
            </a:endParaRPr>
          </a:p>
        </p:txBody>
      </p:sp>
      <p:sp>
        <p:nvSpPr>
          <p:cNvPr id="6" name="TextBox 5"/>
          <p:cNvSpPr txBox="1"/>
          <p:nvPr/>
        </p:nvSpPr>
        <p:spPr>
          <a:xfrm>
            <a:off x="411480" y="2012902"/>
            <a:ext cx="2834640" cy="400110"/>
          </a:xfrm>
          <a:prstGeom prst="rect">
            <a:avLst/>
          </a:prstGeom>
          <a:noFill/>
        </p:spPr>
        <p:txBody>
          <a:bodyPr wrap="square">
            <a:spAutoFit/>
          </a:bodyPr>
          <a:lstStyle/>
          <a:p>
            <a:pPr algn="ctr"/>
            <a:r>
              <a:rPr lang="ja-JP" altLang="en-US" sz="2000" b="1" i="0" dirty="0">
                <a:solidFill>
                  <a:srgbClr val="FFFFFF"/>
                </a:solidFill>
              </a:rPr>
              <a:t>②</a:t>
            </a:r>
            <a:r>
              <a:rPr sz="2000" b="1" i="0" dirty="0">
                <a:solidFill>
                  <a:srgbClr val="FFFFFF"/>
                </a:solidFill>
              </a:rPr>
              <a:t> Python </a:t>
            </a:r>
            <a:r>
              <a:rPr sz="2000" b="1" i="0" dirty="0" err="1">
                <a:solidFill>
                  <a:srgbClr val="FFFFFF"/>
                </a:solidFill>
              </a:rPr>
              <a:t>環境の整備</a:t>
            </a:r>
            <a:endParaRPr sz="2000" b="1" i="0" dirty="0">
              <a:solidFill>
                <a:srgbClr val="FFFFFF"/>
              </a:solidFill>
            </a:endParaRPr>
          </a:p>
        </p:txBody>
      </p:sp>
      <p:sp>
        <p:nvSpPr>
          <p:cNvPr id="26" name="TextBox 5">
            <a:extLst>
              <a:ext uri="{FF2B5EF4-FFF2-40B4-BE49-F238E27FC236}">
                <a16:creationId xmlns:a16="http://schemas.microsoft.com/office/drawing/2014/main" id="{D9F0B860-4CE7-46E5-AC19-FA773D9842FB}"/>
              </a:ext>
            </a:extLst>
          </p:cNvPr>
          <p:cNvSpPr txBox="1"/>
          <p:nvPr/>
        </p:nvSpPr>
        <p:spPr>
          <a:xfrm>
            <a:off x="347345" y="1136602"/>
            <a:ext cx="2834640" cy="400110"/>
          </a:xfrm>
          <a:prstGeom prst="rect">
            <a:avLst/>
          </a:prstGeom>
          <a:noFill/>
        </p:spPr>
        <p:txBody>
          <a:bodyPr wrap="square">
            <a:spAutoFit/>
          </a:bodyPr>
          <a:lstStyle/>
          <a:p>
            <a:pPr algn="ctr"/>
            <a:r>
              <a:rPr sz="2000" b="1" i="0" dirty="0">
                <a:solidFill>
                  <a:srgbClr val="FFFFFF"/>
                </a:solidFill>
              </a:rPr>
              <a:t>① </a:t>
            </a:r>
            <a:r>
              <a:rPr lang="ja-JP" altLang="en-US" sz="2000" b="1" dirty="0">
                <a:solidFill>
                  <a:srgbClr val="FFFFFF"/>
                </a:solidFill>
              </a:rPr>
              <a:t>プロンプト設計</a:t>
            </a:r>
            <a:endParaRPr sz="2000" b="1" i="0" dirty="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今後のスケジュール</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22 / 26</a:t>
            </a:r>
          </a:p>
        </p:txBody>
      </p:sp>
      <p:sp>
        <p:nvSpPr>
          <p:cNvPr id="5" name="Rectangle 4"/>
          <p:cNvSpPr/>
          <p:nvPr/>
        </p:nvSpPr>
        <p:spPr>
          <a:xfrm>
            <a:off x="365760" y="960120"/>
            <a:ext cx="2286000" cy="82296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061720"/>
            <a:ext cx="2286000" cy="749808"/>
          </a:xfrm>
          <a:prstGeom prst="rect">
            <a:avLst/>
          </a:prstGeom>
          <a:noFill/>
        </p:spPr>
        <p:txBody>
          <a:bodyPr wrap="square">
            <a:spAutoFit/>
          </a:bodyPr>
          <a:lstStyle/>
          <a:p>
            <a:pPr algn="ctr"/>
            <a:r>
              <a:rPr sz="1900" b="1" i="0">
                <a:solidFill>
                  <a:srgbClr val="FFFFFF"/>
                </a:solidFill>
              </a:rPr>
              <a:t>6月（残り）</a:t>
            </a:r>
          </a:p>
        </p:txBody>
      </p:sp>
      <p:sp>
        <p:nvSpPr>
          <p:cNvPr id="7" name="TextBox 6"/>
          <p:cNvSpPr txBox="1"/>
          <p:nvPr/>
        </p:nvSpPr>
        <p:spPr>
          <a:xfrm>
            <a:off x="2834640" y="1087120"/>
            <a:ext cx="9326880" cy="731520"/>
          </a:xfrm>
          <a:prstGeom prst="rect">
            <a:avLst/>
          </a:prstGeom>
          <a:noFill/>
        </p:spPr>
        <p:txBody>
          <a:bodyPr wrap="square">
            <a:spAutoFit/>
          </a:bodyPr>
          <a:lstStyle/>
          <a:p>
            <a:pPr algn="l"/>
            <a:r>
              <a:rPr sz="2200" b="0" i="0">
                <a:solidFill>
                  <a:srgbClr val="1A1A2E"/>
                </a:solidFill>
              </a:rPr>
              <a:t>実験スクリプト実装・パイロット実験（動作確認）</a:t>
            </a:r>
          </a:p>
        </p:txBody>
      </p:sp>
      <p:sp>
        <p:nvSpPr>
          <p:cNvPr id="8" name="Rectangle 7"/>
          <p:cNvSpPr/>
          <p:nvPr/>
        </p:nvSpPr>
        <p:spPr>
          <a:xfrm>
            <a:off x="365760" y="1892808"/>
            <a:ext cx="2286000" cy="822960"/>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994408"/>
            <a:ext cx="2286000" cy="384721"/>
          </a:xfrm>
          <a:prstGeom prst="rect">
            <a:avLst/>
          </a:prstGeom>
          <a:noFill/>
        </p:spPr>
        <p:txBody>
          <a:bodyPr wrap="square">
            <a:spAutoFit/>
          </a:bodyPr>
          <a:lstStyle/>
          <a:p>
            <a:pPr algn="ctr"/>
            <a:r>
              <a:rPr sz="1900" b="1" i="0" dirty="0">
                <a:solidFill>
                  <a:srgbClr val="FFFFFF"/>
                </a:solidFill>
              </a:rPr>
              <a:t>7月 17日</a:t>
            </a:r>
          </a:p>
        </p:txBody>
      </p:sp>
      <p:sp>
        <p:nvSpPr>
          <p:cNvPr id="10" name="TextBox 9"/>
          <p:cNvSpPr txBox="1"/>
          <p:nvPr/>
        </p:nvSpPr>
        <p:spPr>
          <a:xfrm>
            <a:off x="2834640" y="2019808"/>
            <a:ext cx="9326880" cy="731520"/>
          </a:xfrm>
          <a:prstGeom prst="rect">
            <a:avLst/>
          </a:prstGeom>
          <a:noFill/>
        </p:spPr>
        <p:txBody>
          <a:bodyPr wrap="square">
            <a:spAutoFit/>
          </a:bodyPr>
          <a:lstStyle/>
          <a:p>
            <a:pPr algn="l"/>
            <a:r>
              <a:rPr sz="2200" b="0" i="0">
                <a:solidFill>
                  <a:srgbClr val="1A1A2E"/>
                </a:solidFill>
              </a:rPr>
              <a:t>中間発表 概要 2p PDF 提出（LETUS 12:00 厳守）</a:t>
            </a:r>
          </a:p>
        </p:txBody>
      </p:sp>
      <p:sp>
        <p:nvSpPr>
          <p:cNvPr id="11" name="Rectangle 10"/>
          <p:cNvSpPr/>
          <p:nvPr/>
        </p:nvSpPr>
        <p:spPr>
          <a:xfrm>
            <a:off x="365760" y="2825496"/>
            <a:ext cx="2286000" cy="822960"/>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927096"/>
            <a:ext cx="2286000" cy="384721"/>
          </a:xfrm>
          <a:prstGeom prst="rect">
            <a:avLst/>
          </a:prstGeom>
          <a:noFill/>
        </p:spPr>
        <p:txBody>
          <a:bodyPr wrap="square">
            <a:spAutoFit/>
          </a:bodyPr>
          <a:lstStyle/>
          <a:p>
            <a:pPr algn="ctr"/>
            <a:r>
              <a:rPr sz="1900" b="1" i="0" dirty="0">
                <a:solidFill>
                  <a:srgbClr val="FFFFFF"/>
                </a:solidFill>
              </a:rPr>
              <a:t>7月 20〜27日</a:t>
            </a:r>
          </a:p>
        </p:txBody>
      </p:sp>
      <p:sp>
        <p:nvSpPr>
          <p:cNvPr id="13" name="TextBox 12"/>
          <p:cNvSpPr txBox="1"/>
          <p:nvPr/>
        </p:nvSpPr>
        <p:spPr>
          <a:xfrm>
            <a:off x="2834640" y="2952496"/>
            <a:ext cx="9326880" cy="731520"/>
          </a:xfrm>
          <a:prstGeom prst="rect">
            <a:avLst/>
          </a:prstGeom>
          <a:noFill/>
        </p:spPr>
        <p:txBody>
          <a:bodyPr wrap="square">
            <a:spAutoFit/>
          </a:bodyPr>
          <a:lstStyle/>
          <a:p>
            <a:pPr algn="l"/>
            <a:r>
              <a:rPr sz="2200" b="0" i="0">
                <a:solidFill>
                  <a:srgbClr val="1A1A2E"/>
                </a:solidFill>
              </a:rPr>
              <a:t>中間発表会（6分＋質疑3分）</a:t>
            </a:r>
          </a:p>
        </p:txBody>
      </p:sp>
      <p:sp>
        <p:nvSpPr>
          <p:cNvPr id="14" name="Rectangle 13"/>
          <p:cNvSpPr/>
          <p:nvPr/>
        </p:nvSpPr>
        <p:spPr>
          <a:xfrm>
            <a:off x="365760" y="3758184"/>
            <a:ext cx="2286000" cy="82296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3859784"/>
            <a:ext cx="2286000" cy="384721"/>
          </a:xfrm>
          <a:prstGeom prst="rect">
            <a:avLst/>
          </a:prstGeom>
          <a:noFill/>
        </p:spPr>
        <p:txBody>
          <a:bodyPr wrap="square">
            <a:spAutoFit/>
          </a:bodyPr>
          <a:lstStyle/>
          <a:p>
            <a:pPr algn="ctr"/>
            <a:r>
              <a:rPr lang="ja-JP" altLang="en-US" sz="1900" b="1" dirty="0">
                <a:solidFill>
                  <a:srgbClr val="FFFFFF"/>
                </a:solidFill>
              </a:rPr>
              <a:t>夏休み</a:t>
            </a:r>
            <a:endParaRPr sz="1900" b="1" i="0" dirty="0">
              <a:solidFill>
                <a:srgbClr val="FFFFFF"/>
              </a:solidFill>
            </a:endParaRPr>
          </a:p>
        </p:txBody>
      </p:sp>
      <p:sp>
        <p:nvSpPr>
          <p:cNvPr id="16" name="TextBox 15"/>
          <p:cNvSpPr txBox="1"/>
          <p:nvPr/>
        </p:nvSpPr>
        <p:spPr>
          <a:xfrm>
            <a:off x="2834640" y="3885184"/>
            <a:ext cx="9326880" cy="430887"/>
          </a:xfrm>
          <a:prstGeom prst="rect">
            <a:avLst/>
          </a:prstGeom>
          <a:noFill/>
        </p:spPr>
        <p:txBody>
          <a:bodyPr wrap="square">
            <a:spAutoFit/>
          </a:bodyPr>
          <a:lstStyle/>
          <a:p>
            <a:pPr algn="l"/>
            <a:r>
              <a:rPr sz="2200" b="0" i="0" dirty="0" err="1">
                <a:solidFill>
                  <a:srgbClr val="1A1A2E"/>
                </a:solidFill>
              </a:rPr>
              <a:t>本実験</a:t>
            </a:r>
            <a:r>
              <a:rPr lang="ja-JP" altLang="en-US" sz="2200" b="0" i="0" dirty="0">
                <a:solidFill>
                  <a:srgbClr val="1A1A2E"/>
                </a:solidFill>
              </a:rPr>
              <a:t>データ取りきりたい</a:t>
            </a:r>
            <a:endParaRPr sz="2200" b="0" i="0" dirty="0">
              <a:solidFill>
                <a:srgbClr val="1A1A2E"/>
              </a:solidFill>
            </a:endParaRPr>
          </a:p>
        </p:txBody>
      </p:sp>
      <p:sp>
        <p:nvSpPr>
          <p:cNvPr id="17" name="Rectangle 16"/>
          <p:cNvSpPr/>
          <p:nvPr/>
        </p:nvSpPr>
        <p:spPr>
          <a:xfrm>
            <a:off x="365760" y="4690872"/>
            <a:ext cx="2286000" cy="822960"/>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4792472"/>
            <a:ext cx="2286000" cy="749808"/>
          </a:xfrm>
          <a:prstGeom prst="rect">
            <a:avLst/>
          </a:prstGeom>
          <a:noFill/>
        </p:spPr>
        <p:txBody>
          <a:bodyPr wrap="square">
            <a:spAutoFit/>
          </a:bodyPr>
          <a:lstStyle/>
          <a:p>
            <a:pPr algn="ctr"/>
            <a:r>
              <a:rPr sz="1900" b="1" i="0">
                <a:solidFill>
                  <a:srgbClr val="FFFFFF"/>
                </a:solidFill>
              </a:rPr>
              <a:t>10月</a:t>
            </a:r>
          </a:p>
        </p:txBody>
      </p:sp>
      <p:sp>
        <p:nvSpPr>
          <p:cNvPr id="19" name="TextBox 18"/>
          <p:cNvSpPr txBox="1"/>
          <p:nvPr/>
        </p:nvSpPr>
        <p:spPr>
          <a:xfrm>
            <a:off x="2834640" y="4817872"/>
            <a:ext cx="9326880" cy="430887"/>
          </a:xfrm>
          <a:prstGeom prst="rect">
            <a:avLst/>
          </a:prstGeom>
          <a:noFill/>
        </p:spPr>
        <p:txBody>
          <a:bodyPr wrap="square">
            <a:spAutoFit/>
          </a:bodyPr>
          <a:lstStyle/>
          <a:p>
            <a:pPr algn="l"/>
            <a:r>
              <a:rPr sz="2200" b="0" i="0" dirty="0" err="1">
                <a:solidFill>
                  <a:srgbClr val="1A1A2E"/>
                </a:solidFill>
              </a:rPr>
              <a:t>結果分析・統計検定</a:t>
            </a:r>
            <a:endParaRPr sz="2200" b="0" i="0" dirty="0">
              <a:solidFill>
                <a:srgbClr val="1A1A2E"/>
              </a:solidFill>
            </a:endParaRPr>
          </a:p>
        </p:txBody>
      </p:sp>
      <p:sp>
        <p:nvSpPr>
          <p:cNvPr id="20" name="Rectangle 19"/>
          <p:cNvSpPr/>
          <p:nvPr/>
        </p:nvSpPr>
        <p:spPr>
          <a:xfrm>
            <a:off x="365760" y="5623560"/>
            <a:ext cx="2286000" cy="82296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5725160"/>
            <a:ext cx="2286000" cy="749808"/>
          </a:xfrm>
          <a:prstGeom prst="rect">
            <a:avLst/>
          </a:prstGeom>
          <a:noFill/>
        </p:spPr>
        <p:txBody>
          <a:bodyPr wrap="square">
            <a:spAutoFit/>
          </a:bodyPr>
          <a:lstStyle/>
          <a:p>
            <a:pPr algn="ctr"/>
            <a:r>
              <a:rPr sz="1900" b="1" i="0">
                <a:solidFill>
                  <a:srgbClr val="FFFFFF"/>
                </a:solidFill>
              </a:rPr>
              <a:t>11月〜1月</a:t>
            </a:r>
          </a:p>
        </p:txBody>
      </p:sp>
      <p:sp>
        <p:nvSpPr>
          <p:cNvPr id="22" name="TextBox 21"/>
          <p:cNvSpPr txBox="1"/>
          <p:nvPr/>
        </p:nvSpPr>
        <p:spPr>
          <a:xfrm>
            <a:off x="2834640" y="5750560"/>
            <a:ext cx="9326880" cy="731520"/>
          </a:xfrm>
          <a:prstGeom prst="rect">
            <a:avLst/>
          </a:prstGeom>
          <a:noFill/>
        </p:spPr>
        <p:txBody>
          <a:bodyPr wrap="square">
            <a:spAutoFit/>
          </a:bodyPr>
          <a:lstStyle/>
          <a:p>
            <a:pPr algn="l"/>
            <a:r>
              <a:rPr sz="2200" b="0" i="0">
                <a:solidFill>
                  <a:srgbClr val="1A1A2E"/>
                </a:solidFill>
              </a:rPr>
              <a:t>論文執筆・提出</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参考文献</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23 / 26</a:t>
            </a:r>
          </a:p>
        </p:txBody>
      </p:sp>
      <p:sp>
        <p:nvSpPr>
          <p:cNvPr id="5" name="TextBox 4"/>
          <p:cNvSpPr txBox="1"/>
          <p:nvPr/>
        </p:nvSpPr>
        <p:spPr>
          <a:xfrm>
            <a:off x="365760" y="896112"/>
            <a:ext cx="502920" cy="530352"/>
          </a:xfrm>
          <a:prstGeom prst="rect">
            <a:avLst/>
          </a:prstGeom>
          <a:noFill/>
        </p:spPr>
        <p:txBody>
          <a:bodyPr wrap="square">
            <a:spAutoFit/>
          </a:bodyPr>
          <a:lstStyle/>
          <a:p>
            <a:pPr algn="l"/>
            <a:r>
              <a:rPr sz="1700" b="1" i="0">
                <a:solidFill>
                  <a:srgbClr val="1A56AA"/>
                </a:solidFill>
              </a:rPr>
              <a:t>[1]</a:t>
            </a:r>
          </a:p>
        </p:txBody>
      </p:sp>
      <p:sp>
        <p:nvSpPr>
          <p:cNvPr id="6" name="TextBox 5"/>
          <p:cNvSpPr txBox="1"/>
          <p:nvPr/>
        </p:nvSpPr>
        <p:spPr>
          <a:xfrm>
            <a:off x="914400" y="896112"/>
            <a:ext cx="8961120" cy="530352"/>
          </a:xfrm>
          <a:prstGeom prst="rect">
            <a:avLst/>
          </a:prstGeom>
          <a:noFill/>
        </p:spPr>
        <p:txBody>
          <a:bodyPr wrap="square">
            <a:spAutoFit/>
          </a:bodyPr>
          <a:lstStyle/>
          <a:p>
            <a:pPr algn="l"/>
            <a:r>
              <a:rPr sz="1600" b="0" i="0">
                <a:solidFill>
                  <a:srgbClr val="1A1A2E"/>
                </a:solidFill>
              </a:rPr>
              <a:t>Ji, Z. et al. (2023). Survey of Hallucination in NLG. ACM Computing Surveys.</a:t>
            </a:r>
          </a:p>
        </p:txBody>
      </p:sp>
      <p:sp>
        <p:nvSpPr>
          <p:cNvPr id="8" name="TextBox 7"/>
          <p:cNvSpPr txBox="1"/>
          <p:nvPr/>
        </p:nvSpPr>
        <p:spPr>
          <a:xfrm>
            <a:off x="365760" y="1472184"/>
            <a:ext cx="502920" cy="530352"/>
          </a:xfrm>
          <a:prstGeom prst="rect">
            <a:avLst/>
          </a:prstGeom>
          <a:noFill/>
        </p:spPr>
        <p:txBody>
          <a:bodyPr wrap="square">
            <a:spAutoFit/>
          </a:bodyPr>
          <a:lstStyle/>
          <a:p>
            <a:pPr algn="l"/>
            <a:r>
              <a:rPr sz="1700" b="1" i="0">
                <a:solidFill>
                  <a:srgbClr val="1A56AA"/>
                </a:solidFill>
              </a:rPr>
              <a:t>[2]</a:t>
            </a:r>
          </a:p>
        </p:txBody>
      </p:sp>
      <p:sp>
        <p:nvSpPr>
          <p:cNvPr id="9" name="TextBox 8"/>
          <p:cNvSpPr txBox="1"/>
          <p:nvPr/>
        </p:nvSpPr>
        <p:spPr>
          <a:xfrm>
            <a:off x="914400" y="1472184"/>
            <a:ext cx="8961120" cy="530352"/>
          </a:xfrm>
          <a:prstGeom prst="rect">
            <a:avLst/>
          </a:prstGeom>
          <a:noFill/>
        </p:spPr>
        <p:txBody>
          <a:bodyPr wrap="square">
            <a:spAutoFit/>
          </a:bodyPr>
          <a:lstStyle/>
          <a:p>
            <a:pPr algn="l"/>
            <a:r>
              <a:rPr sz="1600" b="0" i="0">
                <a:solidFill>
                  <a:srgbClr val="1A1A2E"/>
                </a:solidFill>
              </a:rPr>
              <a:t>Guo, C. et al. (2017). On Calibration of Modern Neural Networks. ICML.</a:t>
            </a:r>
          </a:p>
        </p:txBody>
      </p:sp>
      <p:sp>
        <p:nvSpPr>
          <p:cNvPr id="11" name="TextBox 10"/>
          <p:cNvSpPr txBox="1"/>
          <p:nvPr/>
        </p:nvSpPr>
        <p:spPr>
          <a:xfrm>
            <a:off x="365760" y="2048256"/>
            <a:ext cx="502920" cy="530352"/>
          </a:xfrm>
          <a:prstGeom prst="rect">
            <a:avLst/>
          </a:prstGeom>
          <a:noFill/>
        </p:spPr>
        <p:txBody>
          <a:bodyPr wrap="square">
            <a:spAutoFit/>
          </a:bodyPr>
          <a:lstStyle/>
          <a:p>
            <a:pPr algn="l"/>
            <a:r>
              <a:rPr sz="1700" b="1" i="0">
                <a:solidFill>
                  <a:srgbClr val="1A56AA"/>
                </a:solidFill>
              </a:rPr>
              <a:t>[3]</a:t>
            </a:r>
          </a:p>
        </p:txBody>
      </p:sp>
      <p:sp>
        <p:nvSpPr>
          <p:cNvPr id="12" name="TextBox 11"/>
          <p:cNvSpPr txBox="1"/>
          <p:nvPr/>
        </p:nvSpPr>
        <p:spPr>
          <a:xfrm>
            <a:off x="914400" y="2048256"/>
            <a:ext cx="8961120" cy="530352"/>
          </a:xfrm>
          <a:prstGeom prst="rect">
            <a:avLst/>
          </a:prstGeom>
          <a:noFill/>
        </p:spPr>
        <p:txBody>
          <a:bodyPr wrap="square">
            <a:spAutoFit/>
          </a:bodyPr>
          <a:lstStyle/>
          <a:p>
            <a:pPr algn="l"/>
            <a:r>
              <a:rPr sz="1600" b="0" i="0">
                <a:solidFill>
                  <a:srgbClr val="1A1A2E"/>
                </a:solidFill>
              </a:rPr>
              <a:t>Tian, K., Mitchell, E., Yao, H., Manning, C. D., &amp; Finn, C. (2023). Just Ask for Calibration. EMNLP.</a:t>
            </a:r>
          </a:p>
        </p:txBody>
      </p:sp>
      <p:sp>
        <p:nvSpPr>
          <p:cNvPr id="14" name="TextBox 13"/>
          <p:cNvSpPr txBox="1"/>
          <p:nvPr/>
        </p:nvSpPr>
        <p:spPr>
          <a:xfrm>
            <a:off x="365760" y="2624328"/>
            <a:ext cx="502920" cy="530352"/>
          </a:xfrm>
          <a:prstGeom prst="rect">
            <a:avLst/>
          </a:prstGeom>
          <a:noFill/>
        </p:spPr>
        <p:txBody>
          <a:bodyPr wrap="square">
            <a:spAutoFit/>
          </a:bodyPr>
          <a:lstStyle/>
          <a:p>
            <a:pPr algn="l"/>
            <a:r>
              <a:rPr sz="1700" b="1" i="0">
                <a:solidFill>
                  <a:srgbClr val="1A56AA"/>
                </a:solidFill>
              </a:rPr>
              <a:t>[4]</a:t>
            </a:r>
          </a:p>
        </p:txBody>
      </p:sp>
      <p:sp>
        <p:nvSpPr>
          <p:cNvPr id="15" name="TextBox 14"/>
          <p:cNvSpPr txBox="1"/>
          <p:nvPr/>
        </p:nvSpPr>
        <p:spPr>
          <a:xfrm>
            <a:off x="914400" y="2624328"/>
            <a:ext cx="8961120" cy="530352"/>
          </a:xfrm>
          <a:prstGeom prst="rect">
            <a:avLst/>
          </a:prstGeom>
          <a:noFill/>
        </p:spPr>
        <p:txBody>
          <a:bodyPr wrap="square">
            <a:spAutoFit/>
          </a:bodyPr>
          <a:lstStyle/>
          <a:p>
            <a:pPr algn="l"/>
            <a:r>
              <a:rPr sz="1600" b="0" i="0">
                <a:solidFill>
                  <a:srgbClr val="1A1A2E"/>
                </a:solidFill>
              </a:rPr>
              <a:t>Xiong, M. et al. (2024). Can LLMs Express Their Uncertainty? An Empirical Evaluation of LLMs. ICLR.</a:t>
            </a:r>
          </a:p>
        </p:txBody>
      </p:sp>
      <p:sp>
        <p:nvSpPr>
          <p:cNvPr id="17" name="TextBox 16"/>
          <p:cNvSpPr txBox="1"/>
          <p:nvPr/>
        </p:nvSpPr>
        <p:spPr>
          <a:xfrm>
            <a:off x="365760" y="3200400"/>
            <a:ext cx="502920" cy="530352"/>
          </a:xfrm>
          <a:prstGeom prst="rect">
            <a:avLst/>
          </a:prstGeom>
          <a:noFill/>
        </p:spPr>
        <p:txBody>
          <a:bodyPr wrap="square">
            <a:spAutoFit/>
          </a:bodyPr>
          <a:lstStyle/>
          <a:p>
            <a:pPr algn="l"/>
            <a:r>
              <a:rPr sz="1700" b="1" i="0">
                <a:solidFill>
                  <a:srgbClr val="1A56AA"/>
                </a:solidFill>
              </a:rPr>
              <a:t>[5]</a:t>
            </a:r>
          </a:p>
        </p:txBody>
      </p:sp>
      <p:sp>
        <p:nvSpPr>
          <p:cNvPr id="18" name="TextBox 17"/>
          <p:cNvSpPr txBox="1"/>
          <p:nvPr/>
        </p:nvSpPr>
        <p:spPr>
          <a:xfrm>
            <a:off x="914400" y="3200400"/>
            <a:ext cx="8961120" cy="530352"/>
          </a:xfrm>
          <a:prstGeom prst="rect">
            <a:avLst/>
          </a:prstGeom>
          <a:noFill/>
        </p:spPr>
        <p:txBody>
          <a:bodyPr wrap="square">
            <a:spAutoFit/>
          </a:bodyPr>
          <a:lstStyle/>
          <a:p>
            <a:pPr algn="l"/>
            <a:r>
              <a:rPr sz="1600" b="0" i="0">
                <a:solidFill>
                  <a:srgbClr val="1A1A2E"/>
                </a:solidFill>
              </a:rPr>
              <a:t>Kadavath, S. et al. (2022). Language Models (Mostly) Know What They Know. arXiv:2207.05221.</a:t>
            </a:r>
          </a:p>
        </p:txBody>
      </p:sp>
      <p:sp>
        <p:nvSpPr>
          <p:cNvPr id="20" name="TextBox 19"/>
          <p:cNvSpPr txBox="1"/>
          <p:nvPr/>
        </p:nvSpPr>
        <p:spPr>
          <a:xfrm>
            <a:off x="365760" y="3776472"/>
            <a:ext cx="502920" cy="530352"/>
          </a:xfrm>
          <a:prstGeom prst="rect">
            <a:avLst/>
          </a:prstGeom>
          <a:noFill/>
        </p:spPr>
        <p:txBody>
          <a:bodyPr wrap="square">
            <a:spAutoFit/>
          </a:bodyPr>
          <a:lstStyle/>
          <a:p>
            <a:pPr algn="l"/>
            <a:r>
              <a:rPr sz="1700" b="1" i="0">
                <a:solidFill>
                  <a:srgbClr val="1A56AA"/>
                </a:solidFill>
              </a:rPr>
              <a:t>[6]</a:t>
            </a:r>
          </a:p>
        </p:txBody>
      </p:sp>
      <p:sp>
        <p:nvSpPr>
          <p:cNvPr id="21" name="TextBox 20"/>
          <p:cNvSpPr txBox="1"/>
          <p:nvPr/>
        </p:nvSpPr>
        <p:spPr>
          <a:xfrm>
            <a:off x="914400" y="3776472"/>
            <a:ext cx="8961120" cy="530352"/>
          </a:xfrm>
          <a:prstGeom prst="rect">
            <a:avLst/>
          </a:prstGeom>
          <a:noFill/>
        </p:spPr>
        <p:txBody>
          <a:bodyPr wrap="square">
            <a:spAutoFit/>
          </a:bodyPr>
          <a:lstStyle/>
          <a:p>
            <a:pPr algn="l"/>
            <a:r>
              <a:rPr sz="1600" b="0" i="0">
                <a:solidFill>
                  <a:srgbClr val="1A1A2E"/>
                </a:solidFill>
              </a:rPr>
              <a:t>Zheng, L. et al. (2023). Judging LLM-as-a-Judge with MT-Bench and Chatbot Arena. NeurIPS.</a:t>
            </a:r>
          </a:p>
        </p:txBody>
      </p:sp>
      <p:sp>
        <p:nvSpPr>
          <p:cNvPr id="23" name="TextBox 22"/>
          <p:cNvSpPr txBox="1"/>
          <p:nvPr/>
        </p:nvSpPr>
        <p:spPr>
          <a:xfrm>
            <a:off x="365760" y="4352544"/>
            <a:ext cx="502920" cy="530352"/>
          </a:xfrm>
          <a:prstGeom prst="rect">
            <a:avLst/>
          </a:prstGeom>
          <a:noFill/>
        </p:spPr>
        <p:txBody>
          <a:bodyPr wrap="square">
            <a:spAutoFit/>
          </a:bodyPr>
          <a:lstStyle/>
          <a:p>
            <a:pPr algn="l"/>
            <a:r>
              <a:rPr sz="1700" b="1" i="0">
                <a:solidFill>
                  <a:srgbClr val="1A56AA"/>
                </a:solidFill>
              </a:rPr>
              <a:t>[7]</a:t>
            </a:r>
          </a:p>
        </p:txBody>
      </p:sp>
      <p:sp>
        <p:nvSpPr>
          <p:cNvPr id="24" name="TextBox 23"/>
          <p:cNvSpPr txBox="1"/>
          <p:nvPr/>
        </p:nvSpPr>
        <p:spPr>
          <a:xfrm>
            <a:off x="914400" y="4352544"/>
            <a:ext cx="8961120" cy="530352"/>
          </a:xfrm>
          <a:prstGeom prst="rect">
            <a:avLst/>
          </a:prstGeom>
          <a:noFill/>
        </p:spPr>
        <p:txBody>
          <a:bodyPr wrap="square">
            <a:spAutoFit/>
          </a:bodyPr>
          <a:lstStyle/>
          <a:p>
            <a:pPr algn="l"/>
            <a:r>
              <a:rPr sz="1600" b="0" i="0">
                <a:solidFill>
                  <a:srgbClr val="1A1A2E"/>
                </a:solidFill>
              </a:rPr>
              <a:t>Yang, D. et al. (2024). On Verbalized Confidence Scores for LLMs. arXiv:2412.14737.</a:t>
            </a:r>
          </a:p>
        </p:txBody>
      </p:sp>
      <p:sp>
        <p:nvSpPr>
          <p:cNvPr id="26" name="TextBox 25"/>
          <p:cNvSpPr txBox="1"/>
          <p:nvPr/>
        </p:nvSpPr>
        <p:spPr>
          <a:xfrm>
            <a:off x="365760" y="4928616"/>
            <a:ext cx="502920" cy="530352"/>
          </a:xfrm>
          <a:prstGeom prst="rect">
            <a:avLst/>
          </a:prstGeom>
          <a:noFill/>
        </p:spPr>
        <p:txBody>
          <a:bodyPr wrap="square">
            <a:spAutoFit/>
          </a:bodyPr>
          <a:lstStyle/>
          <a:p>
            <a:pPr algn="l"/>
            <a:r>
              <a:rPr sz="1700" b="1" i="0">
                <a:solidFill>
                  <a:srgbClr val="1A56AA"/>
                </a:solidFill>
              </a:rPr>
              <a:t>[8]</a:t>
            </a:r>
          </a:p>
        </p:txBody>
      </p:sp>
      <p:sp>
        <p:nvSpPr>
          <p:cNvPr id="27" name="TextBox 26"/>
          <p:cNvSpPr txBox="1"/>
          <p:nvPr/>
        </p:nvSpPr>
        <p:spPr>
          <a:xfrm>
            <a:off x="914400" y="4928616"/>
            <a:ext cx="8961120" cy="530352"/>
          </a:xfrm>
          <a:prstGeom prst="rect">
            <a:avLst/>
          </a:prstGeom>
          <a:noFill/>
        </p:spPr>
        <p:txBody>
          <a:bodyPr wrap="square">
            <a:spAutoFit/>
          </a:bodyPr>
          <a:lstStyle/>
          <a:p>
            <a:pPr algn="l"/>
            <a:r>
              <a:rPr sz="1600" b="0" i="0">
                <a:solidFill>
                  <a:srgbClr val="1A1A2E"/>
                </a:solidFill>
              </a:rPr>
              <a:t>Xue, B. et al. (2025). MlingConf: Multilingual Confidence Estimation for LLMs. ACL Findings.</a:t>
            </a:r>
          </a:p>
        </p:txBody>
      </p:sp>
      <p:sp>
        <p:nvSpPr>
          <p:cNvPr id="29" name="TextBox 28"/>
          <p:cNvSpPr txBox="1"/>
          <p:nvPr/>
        </p:nvSpPr>
        <p:spPr>
          <a:xfrm>
            <a:off x="365760" y="5504688"/>
            <a:ext cx="502920" cy="530352"/>
          </a:xfrm>
          <a:prstGeom prst="rect">
            <a:avLst/>
          </a:prstGeom>
          <a:noFill/>
        </p:spPr>
        <p:txBody>
          <a:bodyPr wrap="square">
            <a:spAutoFit/>
          </a:bodyPr>
          <a:lstStyle/>
          <a:p>
            <a:pPr algn="l"/>
            <a:r>
              <a:rPr sz="1700" b="1" i="0">
                <a:solidFill>
                  <a:srgbClr val="1A56AA"/>
                </a:solidFill>
              </a:rPr>
              <a:t>[9]</a:t>
            </a:r>
          </a:p>
        </p:txBody>
      </p:sp>
      <p:sp>
        <p:nvSpPr>
          <p:cNvPr id="30" name="TextBox 29"/>
          <p:cNvSpPr txBox="1"/>
          <p:nvPr/>
        </p:nvSpPr>
        <p:spPr>
          <a:xfrm>
            <a:off x="914400" y="5504688"/>
            <a:ext cx="8961120" cy="530352"/>
          </a:xfrm>
          <a:prstGeom prst="rect">
            <a:avLst/>
          </a:prstGeom>
          <a:noFill/>
        </p:spPr>
        <p:txBody>
          <a:bodyPr wrap="square">
            <a:spAutoFit/>
          </a:bodyPr>
          <a:lstStyle/>
          <a:p>
            <a:pPr algn="l"/>
            <a:r>
              <a:rPr sz="1600" b="0" i="0">
                <a:solidFill>
                  <a:srgbClr val="1A1A2E"/>
                </a:solidFill>
              </a:rPr>
              <a:t>Seo, K. J. et al. (2025). ADVICE: Answer-Dependent Verbalized Confidence. arXiv:2510.10913.</a:t>
            </a:r>
          </a:p>
        </p:txBody>
      </p:sp>
      <p:sp>
        <p:nvSpPr>
          <p:cNvPr id="32" name="TextBox 31"/>
          <p:cNvSpPr txBox="1"/>
          <p:nvPr/>
        </p:nvSpPr>
        <p:spPr>
          <a:xfrm>
            <a:off x="365759" y="6080760"/>
            <a:ext cx="652549" cy="353943"/>
          </a:xfrm>
          <a:prstGeom prst="rect">
            <a:avLst/>
          </a:prstGeom>
          <a:noFill/>
        </p:spPr>
        <p:txBody>
          <a:bodyPr wrap="square">
            <a:spAutoFit/>
          </a:bodyPr>
          <a:lstStyle/>
          <a:p>
            <a:pPr algn="l"/>
            <a:r>
              <a:rPr sz="1700" b="1" i="0" dirty="0">
                <a:solidFill>
                  <a:srgbClr val="1A56AA"/>
                </a:solidFill>
              </a:rPr>
              <a:t>[10]</a:t>
            </a:r>
          </a:p>
        </p:txBody>
      </p:sp>
      <p:sp>
        <p:nvSpPr>
          <p:cNvPr id="33" name="TextBox 32"/>
          <p:cNvSpPr txBox="1"/>
          <p:nvPr/>
        </p:nvSpPr>
        <p:spPr>
          <a:xfrm>
            <a:off x="914400" y="6080760"/>
            <a:ext cx="8961120" cy="530352"/>
          </a:xfrm>
          <a:prstGeom prst="rect">
            <a:avLst/>
          </a:prstGeom>
          <a:noFill/>
        </p:spPr>
        <p:txBody>
          <a:bodyPr wrap="square">
            <a:spAutoFit/>
          </a:bodyPr>
          <a:lstStyle/>
          <a:p>
            <a:pPr algn="l"/>
            <a:r>
              <a:rPr sz="1600" b="0" i="0">
                <a:solidFill>
                  <a:srgbClr val="1A1A2E"/>
                </a:solidFill>
              </a:rPr>
              <a:t>Li, Y., Xiong, M., Wu, E., &amp; Hooi, B. (2025). ConfTuner. arXiv:2508.18847.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553998"/>
          </a:xfrm>
          <a:prstGeom prst="rect">
            <a:avLst/>
          </a:prstGeom>
          <a:noFill/>
        </p:spPr>
        <p:txBody>
          <a:bodyPr wrap="square">
            <a:spAutoFit/>
          </a:bodyPr>
          <a:lstStyle/>
          <a:p>
            <a:pPr algn="l"/>
            <a:r>
              <a:rPr sz="3000" b="1" i="0" dirty="0">
                <a:solidFill>
                  <a:srgbClr val="1A1A2E"/>
                </a:solidFill>
              </a:rPr>
              <a:t>Appendix </a:t>
            </a:r>
            <a:r>
              <a:rPr sz="3000" b="1" i="0" dirty="0" err="1">
                <a:solidFill>
                  <a:srgbClr val="1A1A2E"/>
                </a:solidFill>
              </a:rPr>
              <a:t>A：採用しなかった</a:t>
            </a:r>
            <a:r>
              <a:rPr lang="ja-JP" altLang="en-US" sz="3000" b="1" i="0" dirty="0">
                <a:solidFill>
                  <a:srgbClr val="1A1A2E"/>
                </a:solidFill>
              </a:rPr>
              <a:t>評価</a:t>
            </a:r>
            <a:r>
              <a:rPr sz="3000" b="1" i="0" dirty="0" err="1">
                <a:solidFill>
                  <a:srgbClr val="1A1A2E"/>
                </a:solidFill>
              </a:rPr>
              <a:t>指標の計算式</a:t>
            </a:r>
            <a:endParaRPr sz="3000" b="1" i="0" dirty="0">
              <a:solidFill>
                <a:srgbClr val="1A1A2E"/>
              </a:solidFill>
            </a:endParaRP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25 / 26</a:t>
            </a:r>
          </a:p>
        </p:txBody>
      </p:sp>
      <p:sp>
        <p:nvSpPr>
          <p:cNvPr id="5" name="TextBox 4"/>
          <p:cNvSpPr txBox="1"/>
          <p:nvPr/>
        </p:nvSpPr>
        <p:spPr>
          <a:xfrm>
            <a:off x="365760" y="841248"/>
            <a:ext cx="11430000" cy="353943"/>
          </a:xfrm>
          <a:prstGeom prst="rect">
            <a:avLst/>
          </a:prstGeom>
          <a:noFill/>
        </p:spPr>
        <p:txBody>
          <a:bodyPr wrap="square">
            <a:spAutoFit/>
          </a:bodyPr>
          <a:lstStyle/>
          <a:p>
            <a:pPr algn="l"/>
            <a:r>
              <a:rPr lang="ja-JP" altLang="en-US" sz="1700" b="0" dirty="0">
                <a:solidFill>
                  <a:srgbClr val="555555"/>
                </a:solidFill>
              </a:rPr>
              <a:t>本ページの内容は生成</a:t>
            </a:r>
            <a:r>
              <a:rPr lang="en-US" altLang="ja-JP" sz="1700" b="0" dirty="0">
                <a:solidFill>
                  <a:srgbClr val="555555"/>
                </a:solidFill>
              </a:rPr>
              <a:t>AI</a:t>
            </a:r>
            <a:r>
              <a:rPr lang="ja-JP" altLang="en-US" sz="1700" dirty="0">
                <a:solidFill>
                  <a:srgbClr val="555555"/>
                </a:solidFill>
              </a:rPr>
              <a:t>による出力を含みます</a:t>
            </a:r>
            <a:endParaRPr sz="1700" b="0" dirty="0">
              <a:solidFill>
                <a:srgbClr val="555555"/>
              </a:solidFill>
            </a:endParaRPr>
          </a:p>
        </p:txBody>
      </p:sp>
      <p:sp>
        <p:nvSpPr>
          <p:cNvPr id="6" name="Rectangle 5"/>
          <p:cNvSpPr/>
          <p:nvPr/>
        </p:nvSpPr>
        <p:spPr>
          <a:xfrm>
            <a:off x="365760" y="1325880"/>
            <a:ext cx="1828800" cy="1143000"/>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529080"/>
            <a:ext cx="1828800" cy="1005840"/>
          </a:xfrm>
          <a:prstGeom prst="rect">
            <a:avLst/>
          </a:prstGeom>
          <a:noFill/>
        </p:spPr>
        <p:txBody>
          <a:bodyPr wrap="square">
            <a:spAutoFit/>
          </a:bodyPr>
          <a:lstStyle/>
          <a:p>
            <a:pPr algn="ctr"/>
            <a:r>
              <a:rPr sz="2200" b="1" i="0">
                <a:solidFill>
                  <a:srgbClr val="FFFFFF"/>
                </a:solidFill>
              </a:rPr>
              <a:t>MCE</a:t>
            </a:r>
          </a:p>
        </p:txBody>
      </p:sp>
      <p:sp>
        <p:nvSpPr>
          <p:cNvPr id="8" name="Rectangle 7"/>
          <p:cNvSpPr/>
          <p:nvPr/>
        </p:nvSpPr>
        <p:spPr>
          <a:xfrm>
            <a:off x="2331720" y="1325880"/>
            <a:ext cx="9601200" cy="1143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423160" y="1389380"/>
            <a:ext cx="9326880" cy="548640"/>
          </a:xfrm>
          <a:prstGeom prst="rect">
            <a:avLst/>
          </a:prstGeom>
          <a:noFill/>
        </p:spPr>
        <p:txBody>
          <a:bodyPr wrap="square">
            <a:spAutoFit/>
          </a:bodyPr>
          <a:lstStyle/>
          <a:p>
            <a:pPr algn="l"/>
            <a:r>
              <a:rPr sz="1800" b="1" i="0">
                <a:solidFill>
                  <a:srgbClr val="1A1A2E"/>
                </a:solidFill>
              </a:rPr>
              <a:t>MCE  =  max[ m=1..M ]  |acc(Bₘ) − conf(Bₘ)|</a:t>
            </a:r>
          </a:p>
        </p:txBody>
      </p:sp>
      <p:sp>
        <p:nvSpPr>
          <p:cNvPr id="10" name="TextBox 9"/>
          <p:cNvSpPr txBox="1"/>
          <p:nvPr/>
        </p:nvSpPr>
        <p:spPr>
          <a:xfrm>
            <a:off x="2423160" y="1910080"/>
            <a:ext cx="9326880" cy="502920"/>
          </a:xfrm>
          <a:prstGeom prst="rect">
            <a:avLst/>
          </a:prstGeom>
          <a:noFill/>
        </p:spPr>
        <p:txBody>
          <a:bodyPr wrap="square">
            <a:spAutoFit/>
          </a:bodyPr>
          <a:lstStyle/>
          <a:p>
            <a:pPr algn="l"/>
            <a:r>
              <a:rPr sz="1700" b="0" i="0">
                <a:solidFill>
                  <a:srgbClr val="555555"/>
                </a:solidFill>
              </a:rPr>
              <a:t>等幅ビン M=10。全ビンの最大値を取る（平均でなく外れ値に着目）。</a:t>
            </a:r>
          </a:p>
        </p:txBody>
      </p:sp>
      <p:sp>
        <p:nvSpPr>
          <p:cNvPr id="11" name="Rectangle 10"/>
          <p:cNvSpPr/>
          <p:nvPr/>
        </p:nvSpPr>
        <p:spPr>
          <a:xfrm>
            <a:off x="365760" y="2651760"/>
            <a:ext cx="1828800" cy="1143000"/>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2854960"/>
            <a:ext cx="1828800" cy="1005840"/>
          </a:xfrm>
          <a:prstGeom prst="rect">
            <a:avLst/>
          </a:prstGeom>
          <a:noFill/>
        </p:spPr>
        <p:txBody>
          <a:bodyPr wrap="square">
            <a:spAutoFit/>
          </a:bodyPr>
          <a:lstStyle/>
          <a:p>
            <a:pPr algn="ctr"/>
            <a:r>
              <a:rPr sz="2200" b="1" i="0">
                <a:solidFill>
                  <a:srgbClr val="FFFFFF"/>
                </a:solidFill>
              </a:rPr>
              <a:t>ACE</a:t>
            </a:r>
          </a:p>
        </p:txBody>
      </p:sp>
      <p:sp>
        <p:nvSpPr>
          <p:cNvPr id="13" name="Rectangle 12"/>
          <p:cNvSpPr/>
          <p:nvPr/>
        </p:nvSpPr>
        <p:spPr>
          <a:xfrm>
            <a:off x="2331720" y="2651760"/>
            <a:ext cx="9601200" cy="1143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23160" y="2715260"/>
            <a:ext cx="9326880" cy="548640"/>
          </a:xfrm>
          <a:prstGeom prst="rect">
            <a:avLst/>
          </a:prstGeom>
          <a:noFill/>
        </p:spPr>
        <p:txBody>
          <a:bodyPr wrap="square">
            <a:spAutoFit/>
          </a:bodyPr>
          <a:lstStyle/>
          <a:p>
            <a:pPr algn="l"/>
            <a:r>
              <a:rPr sz="1800" b="1" i="0">
                <a:solidFill>
                  <a:srgbClr val="1A1A2E"/>
                </a:solidFill>
              </a:rPr>
              <a:t>ACE  =  (1/M)  ×  Σ  |acc(Bₘ) − conf(Bₘ)|   （等質量ビン、m=1..M）</a:t>
            </a:r>
          </a:p>
        </p:txBody>
      </p:sp>
      <p:sp>
        <p:nvSpPr>
          <p:cNvPr id="15" name="TextBox 14"/>
          <p:cNvSpPr txBox="1"/>
          <p:nvPr/>
        </p:nvSpPr>
        <p:spPr>
          <a:xfrm>
            <a:off x="2423160" y="3235960"/>
            <a:ext cx="9326880" cy="502920"/>
          </a:xfrm>
          <a:prstGeom prst="rect">
            <a:avLst/>
          </a:prstGeom>
          <a:noFill/>
        </p:spPr>
        <p:txBody>
          <a:bodyPr wrap="square">
            <a:spAutoFit/>
          </a:bodyPr>
          <a:lstStyle/>
          <a:p>
            <a:pPr algn="l"/>
            <a:r>
              <a:rPr sz="1700" b="0" i="0">
                <a:solidFill>
                  <a:srgbClr val="555555"/>
                </a:solidFill>
              </a:rPr>
              <a:t>等質量ビン：各ビンのサンプル数を均等化。ECE の加重平均と区別することに注意。</a:t>
            </a:r>
          </a:p>
        </p:txBody>
      </p:sp>
      <p:sp>
        <p:nvSpPr>
          <p:cNvPr id="16" name="Rectangle 15"/>
          <p:cNvSpPr/>
          <p:nvPr/>
        </p:nvSpPr>
        <p:spPr>
          <a:xfrm>
            <a:off x="365760" y="3977640"/>
            <a:ext cx="1828800" cy="1143000"/>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4180840"/>
            <a:ext cx="1828800" cy="1005840"/>
          </a:xfrm>
          <a:prstGeom prst="rect">
            <a:avLst/>
          </a:prstGeom>
          <a:noFill/>
        </p:spPr>
        <p:txBody>
          <a:bodyPr wrap="square">
            <a:spAutoFit/>
          </a:bodyPr>
          <a:lstStyle/>
          <a:p>
            <a:pPr algn="ctr"/>
            <a:r>
              <a:rPr sz="2200" b="1" i="0">
                <a:solidFill>
                  <a:srgbClr val="FFFFFF"/>
                </a:solidFill>
              </a:rPr>
              <a:t>Log-loss / NLL</a:t>
            </a:r>
          </a:p>
        </p:txBody>
      </p:sp>
      <p:sp>
        <p:nvSpPr>
          <p:cNvPr id="18" name="Rectangle 17"/>
          <p:cNvSpPr/>
          <p:nvPr/>
        </p:nvSpPr>
        <p:spPr>
          <a:xfrm>
            <a:off x="2331720" y="3977640"/>
            <a:ext cx="9601200" cy="1143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23160" y="4041140"/>
            <a:ext cx="9326880" cy="548640"/>
          </a:xfrm>
          <a:prstGeom prst="rect">
            <a:avLst/>
          </a:prstGeom>
          <a:noFill/>
        </p:spPr>
        <p:txBody>
          <a:bodyPr wrap="square">
            <a:spAutoFit/>
          </a:bodyPr>
          <a:lstStyle/>
          <a:p>
            <a:pPr algn="l"/>
            <a:r>
              <a:rPr sz="1800" b="1" i="0">
                <a:solidFill>
                  <a:srgbClr val="1A1A2E"/>
                </a:solidFill>
              </a:rPr>
              <a:t>NLL  =  −(1/N)  ×  Σ  [ yᵢ·log(pᵢ) + (1−yᵢ)·log(1−pᵢ) ]   （i=1..N）</a:t>
            </a:r>
          </a:p>
        </p:txBody>
      </p:sp>
      <p:sp>
        <p:nvSpPr>
          <p:cNvPr id="20" name="TextBox 19"/>
          <p:cNvSpPr txBox="1"/>
          <p:nvPr/>
        </p:nvSpPr>
        <p:spPr>
          <a:xfrm>
            <a:off x="2423160" y="4561840"/>
            <a:ext cx="9326880" cy="502920"/>
          </a:xfrm>
          <a:prstGeom prst="rect">
            <a:avLst/>
          </a:prstGeom>
          <a:noFill/>
        </p:spPr>
        <p:txBody>
          <a:bodyPr wrap="square">
            <a:spAutoFit/>
          </a:bodyPr>
          <a:lstStyle/>
          <a:p>
            <a:pPr algn="l"/>
            <a:r>
              <a:rPr sz="1700" b="0" i="0">
                <a:solidFill>
                  <a:srgbClr val="555555"/>
                </a:solidFill>
              </a:rPr>
              <a:t>pᵢ → 0 や pᵢ → 1 のとき値が発散。過信傾向の LLM では数値的に不安定になりやすい。</a:t>
            </a:r>
          </a:p>
        </p:txBody>
      </p:sp>
      <p:sp>
        <p:nvSpPr>
          <p:cNvPr id="21" name="Rectangle 20"/>
          <p:cNvSpPr/>
          <p:nvPr/>
        </p:nvSpPr>
        <p:spPr>
          <a:xfrm>
            <a:off x="365760" y="5303520"/>
            <a:ext cx="1828800" cy="1143000"/>
          </a:xfrm>
          <a:prstGeom prst="rect">
            <a:avLst/>
          </a:prstGeom>
          <a:solidFill>
            <a:srgbClr val="E8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5506720"/>
            <a:ext cx="1828800" cy="1005840"/>
          </a:xfrm>
          <a:prstGeom prst="rect">
            <a:avLst/>
          </a:prstGeom>
          <a:noFill/>
        </p:spPr>
        <p:txBody>
          <a:bodyPr wrap="square">
            <a:spAutoFit/>
          </a:bodyPr>
          <a:lstStyle/>
          <a:p>
            <a:pPr algn="ctr"/>
            <a:r>
              <a:rPr sz="2200" b="1" i="0">
                <a:solidFill>
                  <a:srgbClr val="FFFFFF"/>
                </a:solidFill>
              </a:rPr>
              <a:t>SCE / cw-ECE</a:t>
            </a:r>
          </a:p>
        </p:txBody>
      </p:sp>
      <p:sp>
        <p:nvSpPr>
          <p:cNvPr id="23" name="Rectangle 22"/>
          <p:cNvSpPr/>
          <p:nvPr/>
        </p:nvSpPr>
        <p:spPr>
          <a:xfrm>
            <a:off x="2331720" y="5303520"/>
            <a:ext cx="9601200" cy="114300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23160" y="5367020"/>
            <a:ext cx="9326880" cy="548640"/>
          </a:xfrm>
          <a:prstGeom prst="rect">
            <a:avLst/>
          </a:prstGeom>
          <a:noFill/>
        </p:spPr>
        <p:txBody>
          <a:bodyPr wrap="square">
            <a:spAutoFit/>
          </a:bodyPr>
          <a:lstStyle/>
          <a:p>
            <a:pPr algn="l"/>
            <a:r>
              <a:rPr sz="1800" b="1" i="0">
                <a:solidFill>
                  <a:srgbClr val="1A1A2E"/>
                </a:solidFill>
              </a:rPr>
              <a:t>SCE  =  (1/K)  ×  Σₖ  Σᵦ  (nᵦₖ / N)  ×  |acc(b,k) − conf(b,k)|</a:t>
            </a:r>
          </a:p>
        </p:txBody>
      </p:sp>
      <p:sp>
        <p:nvSpPr>
          <p:cNvPr id="25" name="TextBox 24"/>
          <p:cNvSpPr txBox="1"/>
          <p:nvPr/>
        </p:nvSpPr>
        <p:spPr>
          <a:xfrm>
            <a:off x="2423160" y="5887720"/>
            <a:ext cx="9326880" cy="502920"/>
          </a:xfrm>
          <a:prstGeom prst="rect">
            <a:avLst/>
          </a:prstGeom>
          <a:noFill/>
        </p:spPr>
        <p:txBody>
          <a:bodyPr wrap="square">
            <a:spAutoFit/>
          </a:bodyPr>
          <a:lstStyle/>
          <a:p>
            <a:pPr algn="l"/>
            <a:r>
              <a:rPr sz="1700" b="0" i="0">
                <a:solidFill>
                  <a:srgbClr val="555555"/>
                </a:solidFill>
              </a:rPr>
              <a:t>K はクラス数。本研究は正解/不正解の二値なのでクラス別拡張は追加価値が限定的。</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82296"/>
          </a:xfrm>
          <a:prstGeom prst="rect">
            <a:avLst/>
          </a:prstGeom>
          <a:solidFill>
            <a:srgbClr val="1A5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37160"/>
            <a:ext cx="10515600" cy="658368"/>
          </a:xfrm>
          <a:prstGeom prst="rect">
            <a:avLst/>
          </a:prstGeom>
          <a:noFill/>
        </p:spPr>
        <p:txBody>
          <a:bodyPr wrap="square">
            <a:spAutoFit/>
          </a:bodyPr>
          <a:lstStyle/>
          <a:p>
            <a:pPr algn="l"/>
            <a:r>
              <a:rPr sz="3000" b="1" i="0">
                <a:solidFill>
                  <a:srgbClr val="1A1A2E"/>
                </a:solidFill>
              </a:rPr>
              <a:t>Appendix B：採用しなかった評価指標の詳細理由</a:t>
            </a:r>
          </a:p>
        </p:txBody>
      </p:sp>
      <p:sp>
        <p:nvSpPr>
          <p:cNvPr id="4" name="TextBox 3"/>
          <p:cNvSpPr txBox="1"/>
          <p:nvPr/>
        </p:nvSpPr>
        <p:spPr>
          <a:xfrm>
            <a:off x="10972800" y="137160"/>
            <a:ext cx="1005840" cy="548640"/>
          </a:xfrm>
          <a:prstGeom prst="rect">
            <a:avLst/>
          </a:prstGeom>
          <a:noFill/>
        </p:spPr>
        <p:txBody>
          <a:bodyPr wrap="square">
            <a:spAutoFit/>
          </a:bodyPr>
          <a:lstStyle/>
          <a:p>
            <a:pPr algn="r"/>
            <a:r>
              <a:rPr sz="1600" b="0" i="0">
                <a:solidFill>
                  <a:srgbClr val="555555"/>
                </a:solidFill>
              </a:rPr>
              <a:t>26 / 26</a:t>
            </a:r>
          </a:p>
        </p:txBody>
      </p:sp>
      <p:sp>
        <p:nvSpPr>
          <p:cNvPr id="5" name="TextBox 4"/>
          <p:cNvSpPr txBox="1"/>
          <p:nvPr/>
        </p:nvSpPr>
        <p:spPr>
          <a:xfrm>
            <a:off x="365760" y="790956"/>
            <a:ext cx="4572000" cy="338554"/>
          </a:xfrm>
          <a:prstGeom prst="rect">
            <a:avLst/>
          </a:prstGeom>
          <a:noFill/>
        </p:spPr>
        <p:txBody>
          <a:bodyPr wrap="square">
            <a:spAutoFit/>
          </a:bodyPr>
          <a:lstStyle/>
          <a:p>
            <a:r>
              <a:rPr lang="ja-JP" altLang="en-US" sz="1600" dirty="0">
                <a:solidFill>
                  <a:srgbClr val="555555"/>
                </a:solidFill>
              </a:rPr>
              <a:t>本ページの内容は生成</a:t>
            </a:r>
            <a:r>
              <a:rPr lang="en-US" altLang="ja-JP" sz="1600" dirty="0">
                <a:solidFill>
                  <a:srgbClr val="555555"/>
                </a:solidFill>
              </a:rPr>
              <a:t>AI</a:t>
            </a:r>
            <a:r>
              <a:rPr lang="ja-JP" altLang="en-US" sz="1600" dirty="0">
                <a:solidFill>
                  <a:srgbClr val="555555"/>
                </a:solidFill>
              </a:rPr>
              <a:t>による出力を含みます</a:t>
            </a:r>
          </a:p>
        </p:txBody>
      </p:sp>
      <p:sp>
        <p:nvSpPr>
          <p:cNvPr id="6" name="Rectangle 5"/>
          <p:cNvSpPr/>
          <p:nvPr/>
        </p:nvSpPr>
        <p:spPr>
          <a:xfrm>
            <a:off x="365760" y="1280160"/>
            <a:ext cx="5577840" cy="15544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343660"/>
            <a:ext cx="5394960" cy="548640"/>
          </a:xfrm>
          <a:prstGeom prst="rect">
            <a:avLst/>
          </a:prstGeom>
          <a:noFill/>
        </p:spPr>
        <p:txBody>
          <a:bodyPr wrap="square">
            <a:spAutoFit/>
          </a:bodyPr>
          <a:lstStyle/>
          <a:p>
            <a:pPr algn="l"/>
            <a:r>
              <a:rPr sz="1900" b="1" i="0">
                <a:solidFill>
                  <a:srgbClr val="E84C3C"/>
                </a:solidFill>
              </a:rPr>
              <a:t>MCE
最大キャリブレーション誤差</a:t>
            </a:r>
          </a:p>
        </p:txBody>
      </p:sp>
      <p:sp>
        <p:nvSpPr>
          <p:cNvPr id="8" name="TextBox 7"/>
          <p:cNvSpPr txBox="1"/>
          <p:nvPr/>
        </p:nvSpPr>
        <p:spPr>
          <a:xfrm>
            <a:off x="457200" y="1954530"/>
            <a:ext cx="5394960" cy="1005840"/>
          </a:xfrm>
          <a:prstGeom prst="rect">
            <a:avLst/>
          </a:prstGeom>
          <a:noFill/>
        </p:spPr>
        <p:txBody>
          <a:bodyPr wrap="square">
            <a:spAutoFit/>
          </a:bodyPr>
          <a:lstStyle/>
          <a:p>
            <a:pPr algn="l"/>
            <a:r>
              <a:rPr sz="1700" b="0" i="0" dirty="0">
                <a:solidFill>
                  <a:srgbClr val="1A1A2E"/>
                </a:solidFill>
              </a:rPr>
              <a:t>最大値（1ビンの外れ値）を見る指標。外れ値に過敏で全体傾向を反映しない。高リスク系（医療等）向けであり本研究の RQ </a:t>
            </a:r>
            <a:r>
              <a:rPr sz="1700" b="0" i="0" dirty="0" err="1">
                <a:solidFill>
                  <a:srgbClr val="1A1A2E"/>
                </a:solidFill>
              </a:rPr>
              <a:t>には不要</a:t>
            </a:r>
            <a:r>
              <a:rPr sz="1700" b="0" i="0" dirty="0">
                <a:solidFill>
                  <a:srgbClr val="1A1A2E"/>
                </a:solidFill>
              </a:rPr>
              <a:t>。</a:t>
            </a:r>
          </a:p>
        </p:txBody>
      </p:sp>
      <p:sp>
        <p:nvSpPr>
          <p:cNvPr id="9" name="Rectangle 8"/>
          <p:cNvSpPr/>
          <p:nvPr/>
        </p:nvSpPr>
        <p:spPr>
          <a:xfrm>
            <a:off x="6309360" y="1280160"/>
            <a:ext cx="5577840" cy="15544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343660"/>
            <a:ext cx="5394960" cy="548640"/>
          </a:xfrm>
          <a:prstGeom prst="rect">
            <a:avLst/>
          </a:prstGeom>
          <a:noFill/>
        </p:spPr>
        <p:txBody>
          <a:bodyPr wrap="square">
            <a:spAutoFit/>
          </a:bodyPr>
          <a:lstStyle/>
          <a:p>
            <a:pPr algn="l"/>
            <a:r>
              <a:rPr sz="1900" b="1" i="0">
                <a:solidFill>
                  <a:srgbClr val="E84C3C"/>
                </a:solidFill>
              </a:rPr>
              <a:t>ACE
適応的キャリブレーション誤差</a:t>
            </a:r>
          </a:p>
        </p:txBody>
      </p:sp>
      <p:sp>
        <p:nvSpPr>
          <p:cNvPr id="11" name="TextBox 10"/>
          <p:cNvSpPr txBox="1"/>
          <p:nvPr/>
        </p:nvSpPr>
        <p:spPr>
          <a:xfrm>
            <a:off x="6400800" y="1965960"/>
            <a:ext cx="5394960" cy="1005840"/>
          </a:xfrm>
          <a:prstGeom prst="rect">
            <a:avLst/>
          </a:prstGeom>
          <a:noFill/>
        </p:spPr>
        <p:txBody>
          <a:bodyPr wrap="square">
            <a:spAutoFit/>
          </a:bodyPr>
          <a:lstStyle/>
          <a:p>
            <a:pPr algn="l"/>
            <a:r>
              <a:rPr sz="1700" b="0" i="0" dirty="0" err="1">
                <a:solidFill>
                  <a:srgbClr val="1A1A2E"/>
                </a:solidFill>
              </a:rPr>
              <a:t>等質量ビンを使いサンプル偏り問題を解決するが、ECE</a:t>
            </a:r>
            <a:r>
              <a:rPr sz="1700" b="0" i="0" dirty="0">
                <a:solidFill>
                  <a:srgbClr val="1A1A2E"/>
                </a:solidFill>
              </a:rPr>
              <a:t> </a:t>
            </a:r>
            <a:r>
              <a:rPr sz="1700" b="0" i="0" dirty="0" err="1">
                <a:solidFill>
                  <a:srgbClr val="1A1A2E"/>
                </a:solidFill>
              </a:rPr>
              <a:t>と互換性がなく</a:t>
            </a:r>
            <a:r>
              <a:rPr sz="1700" b="0" i="0" dirty="0">
                <a:solidFill>
                  <a:srgbClr val="1A1A2E"/>
                </a:solidFill>
              </a:rPr>
              <a:t> Tian 2023 </a:t>
            </a:r>
            <a:r>
              <a:rPr sz="1700" b="0" i="0" dirty="0" err="1">
                <a:solidFill>
                  <a:srgbClr val="1A1A2E"/>
                </a:solidFill>
              </a:rPr>
              <a:t>との直接比較が不能になる</a:t>
            </a:r>
            <a:r>
              <a:rPr sz="1700" b="0" i="0" dirty="0">
                <a:solidFill>
                  <a:srgbClr val="1A1A2E"/>
                </a:solidFill>
              </a:rPr>
              <a:t>。</a:t>
            </a:r>
          </a:p>
        </p:txBody>
      </p:sp>
      <p:sp>
        <p:nvSpPr>
          <p:cNvPr id="12" name="Rectangle 11"/>
          <p:cNvSpPr/>
          <p:nvPr/>
        </p:nvSpPr>
        <p:spPr>
          <a:xfrm>
            <a:off x="365760" y="2971800"/>
            <a:ext cx="5577840" cy="15544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035300"/>
            <a:ext cx="5394960" cy="548640"/>
          </a:xfrm>
          <a:prstGeom prst="rect">
            <a:avLst/>
          </a:prstGeom>
          <a:noFill/>
        </p:spPr>
        <p:txBody>
          <a:bodyPr wrap="square">
            <a:spAutoFit/>
          </a:bodyPr>
          <a:lstStyle/>
          <a:p>
            <a:pPr algn="l"/>
            <a:r>
              <a:rPr sz="1900" b="1" i="0">
                <a:solidFill>
                  <a:srgbClr val="E84C3C"/>
                </a:solidFill>
              </a:rPr>
              <a:t>Log-loss / NLL
負の対数尤度</a:t>
            </a:r>
          </a:p>
        </p:txBody>
      </p:sp>
      <p:sp>
        <p:nvSpPr>
          <p:cNvPr id="14" name="TextBox 13"/>
          <p:cNvSpPr txBox="1"/>
          <p:nvPr/>
        </p:nvSpPr>
        <p:spPr>
          <a:xfrm>
            <a:off x="457200" y="3625850"/>
            <a:ext cx="5394960" cy="877163"/>
          </a:xfrm>
          <a:prstGeom prst="rect">
            <a:avLst/>
          </a:prstGeom>
          <a:noFill/>
        </p:spPr>
        <p:txBody>
          <a:bodyPr wrap="square">
            <a:spAutoFit/>
          </a:bodyPr>
          <a:lstStyle/>
          <a:p>
            <a:pPr algn="l"/>
            <a:r>
              <a:rPr sz="1700" b="0" i="0" dirty="0" err="1">
                <a:solidFill>
                  <a:srgbClr val="1A1A2E"/>
                </a:solidFill>
              </a:rPr>
              <a:t>理論的には</a:t>
            </a:r>
            <a:r>
              <a:rPr sz="1700" b="0" i="0" dirty="0">
                <a:solidFill>
                  <a:srgbClr val="1A1A2E"/>
                </a:solidFill>
              </a:rPr>
              <a:t> Proper Scoring Rule </a:t>
            </a:r>
            <a:r>
              <a:rPr sz="1700" b="0" i="0" dirty="0" err="1">
                <a:solidFill>
                  <a:srgbClr val="1A1A2E"/>
                </a:solidFill>
              </a:rPr>
              <a:t>だが、確信度が</a:t>
            </a:r>
            <a:r>
              <a:rPr sz="1700" b="0" i="0" dirty="0">
                <a:solidFill>
                  <a:srgbClr val="1A1A2E"/>
                </a:solidFill>
              </a:rPr>
              <a:t> 0 や 1 </a:t>
            </a:r>
            <a:r>
              <a:rPr sz="1700" b="0" i="0" dirty="0" err="1">
                <a:solidFill>
                  <a:srgbClr val="1A1A2E"/>
                </a:solidFill>
              </a:rPr>
              <a:t>に極めて近い場合に値が発散して数値的に不安定</a:t>
            </a:r>
            <a:r>
              <a:rPr sz="1700" b="0" i="0" dirty="0">
                <a:solidFill>
                  <a:srgbClr val="1A1A2E"/>
                </a:solidFill>
              </a:rPr>
              <a:t>。</a:t>
            </a:r>
            <a:br>
              <a:rPr lang="en-US" sz="1700" b="0" i="0" dirty="0">
                <a:solidFill>
                  <a:srgbClr val="1A1A2E"/>
                </a:solidFill>
              </a:rPr>
            </a:br>
            <a:r>
              <a:rPr sz="1700" b="0" i="0" dirty="0" err="1">
                <a:solidFill>
                  <a:srgbClr val="1A1A2E"/>
                </a:solidFill>
              </a:rPr>
              <a:t>過信傾向の強い</a:t>
            </a:r>
            <a:r>
              <a:rPr sz="1700" b="0" i="0" dirty="0">
                <a:solidFill>
                  <a:srgbClr val="1A1A2E"/>
                </a:solidFill>
              </a:rPr>
              <a:t> LLM </a:t>
            </a:r>
            <a:r>
              <a:rPr sz="1700" b="0" i="0" dirty="0" err="1">
                <a:solidFill>
                  <a:srgbClr val="1A1A2E"/>
                </a:solidFill>
              </a:rPr>
              <a:t>では扱いにくい</a:t>
            </a:r>
            <a:r>
              <a:rPr sz="1700" b="0" i="0" dirty="0">
                <a:solidFill>
                  <a:srgbClr val="1A1A2E"/>
                </a:solidFill>
              </a:rPr>
              <a:t>。</a:t>
            </a:r>
          </a:p>
        </p:txBody>
      </p:sp>
      <p:sp>
        <p:nvSpPr>
          <p:cNvPr id="15" name="Rectangle 14"/>
          <p:cNvSpPr/>
          <p:nvPr/>
        </p:nvSpPr>
        <p:spPr>
          <a:xfrm>
            <a:off x="6309360" y="2971800"/>
            <a:ext cx="5577840" cy="15544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3035300"/>
            <a:ext cx="5394960" cy="548640"/>
          </a:xfrm>
          <a:prstGeom prst="rect">
            <a:avLst/>
          </a:prstGeom>
          <a:noFill/>
        </p:spPr>
        <p:txBody>
          <a:bodyPr wrap="square">
            <a:spAutoFit/>
          </a:bodyPr>
          <a:lstStyle/>
          <a:p>
            <a:pPr algn="l"/>
            <a:r>
              <a:rPr sz="1900" b="1" i="0">
                <a:solidFill>
                  <a:srgbClr val="E84C3C"/>
                </a:solidFill>
              </a:rPr>
              <a:t>AUPRC
適合率-再現率曲線下面積</a:t>
            </a:r>
          </a:p>
        </p:txBody>
      </p:sp>
      <p:sp>
        <p:nvSpPr>
          <p:cNvPr id="17" name="TextBox 16"/>
          <p:cNvSpPr txBox="1"/>
          <p:nvPr/>
        </p:nvSpPr>
        <p:spPr>
          <a:xfrm>
            <a:off x="6400800" y="3635375"/>
            <a:ext cx="5394960" cy="1005840"/>
          </a:xfrm>
          <a:prstGeom prst="rect">
            <a:avLst/>
          </a:prstGeom>
          <a:noFill/>
        </p:spPr>
        <p:txBody>
          <a:bodyPr wrap="square">
            <a:spAutoFit/>
          </a:bodyPr>
          <a:lstStyle/>
          <a:p>
            <a:pPr algn="l"/>
            <a:r>
              <a:rPr sz="1700" b="0" i="0" dirty="0" err="1">
                <a:solidFill>
                  <a:srgbClr val="1A1A2E"/>
                </a:solidFill>
              </a:rPr>
              <a:t>クラス不均衡が激しい場合に</a:t>
            </a:r>
            <a:r>
              <a:rPr sz="1700" b="0" i="0" dirty="0">
                <a:solidFill>
                  <a:srgbClr val="1A1A2E"/>
                </a:solidFill>
              </a:rPr>
              <a:t> AUROC </a:t>
            </a:r>
            <a:r>
              <a:rPr sz="1700" b="0" i="0" dirty="0" err="1">
                <a:solidFill>
                  <a:srgbClr val="1A1A2E"/>
                </a:solidFill>
              </a:rPr>
              <a:t>より優れるが、本研究では正答率</a:t>
            </a:r>
            <a:r>
              <a:rPr sz="1700" b="0" i="0" dirty="0">
                <a:solidFill>
                  <a:srgbClr val="1A1A2E"/>
                </a:solidFill>
              </a:rPr>
              <a:t> 50〜80% </a:t>
            </a:r>
            <a:r>
              <a:rPr sz="1700" b="0" i="0" dirty="0" err="1">
                <a:solidFill>
                  <a:srgbClr val="1A1A2E"/>
                </a:solidFill>
              </a:rPr>
              <a:t>程度と不均衡が少なく</a:t>
            </a:r>
            <a:r>
              <a:rPr sz="1700" b="0" i="0" dirty="0">
                <a:solidFill>
                  <a:srgbClr val="1A1A2E"/>
                </a:solidFill>
              </a:rPr>
              <a:t> AUROC </a:t>
            </a:r>
            <a:r>
              <a:rPr sz="1700" b="0" i="0" dirty="0" err="1">
                <a:solidFill>
                  <a:srgbClr val="1A1A2E"/>
                </a:solidFill>
              </a:rPr>
              <a:t>で代替可能</a:t>
            </a:r>
            <a:r>
              <a:rPr sz="1700" b="0" i="0" dirty="0">
                <a:solidFill>
                  <a:srgbClr val="1A1A2E"/>
                </a:solidFill>
              </a:rPr>
              <a:t>。</a:t>
            </a:r>
          </a:p>
        </p:txBody>
      </p:sp>
      <p:sp>
        <p:nvSpPr>
          <p:cNvPr id="18" name="Rectangle 17"/>
          <p:cNvSpPr/>
          <p:nvPr/>
        </p:nvSpPr>
        <p:spPr>
          <a:xfrm>
            <a:off x="365760" y="4663440"/>
            <a:ext cx="5577840" cy="15544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4726940"/>
            <a:ext cx="5394960" cy="548640"/>
          </a:xfrm>
          <a:prstGeom prst="rect">
            <a:avLst/>
          </a:prstGeom>
          <a:noFill/>
        </p:spPr>
        <p:txBody>
          <a:bodyPr wrap="square">
            <a:spAutoFit/>
          </a:bodyPr>
          <a:lstStyle/>
          <a:p>
            <a:pPr algn="l"/>
            <a:r>
              <a:rPr sz="1900" b="1" i="0">
                <a:solidFill>
                  <a:srgbClr val="E84C3C"/>
                </a:solidFill>
              </a:rPr>
              <a:t>AUARC
精度-棄却曲線下面積</a:t>
            </a:r>
          </a:p>
        </p:txBody>
      </p:sp>
      <p:sp>
        <p:nvSpPr>
          <p:cNvPr id="20" name="TextBox 19"/>
          <p:cNvSpPr txBox="1"/>
          <p:nvPr/>
        </p:nvSpPr>
        <p:spPr>
          <a:xfrm>
            <a:off x="457200" y="5322570"/>
            <a:ext cx="5394960" cy="877163"/>
          </a:xfrm>
          <a:prstGeom prst="rect">
            <a:avLst/>
          </a:prstGeom>
          <a:noFill/>
        </p:spPr>
        <p:txBody>
          <a:bodyPr wrap="square">
            <a:spAutoFit/>
          </a:bodyPr>
          <a:lstStyle/>
          <a:p>
            <a:pPr algn="l"/>
            <a:r>
              <a:rPr sz="1700" b="0" i="0" dirty="0">
                <a:solidFill>
                  <a:srgbClr val="1A1A2E"/>
                </a:solidFill>
              </a:rPr>
              <a:t>「</a:t>
            </a:r>
            <a:r>
              <a:rPr sz="1700" b="0" i="0" dirty="0" err="1">
                <a:solidFill>
                  <a:srgbClr val="1A1A2E"/>
                </a:solidFill>
              </a:rPr>
              <a:t>信頼度の低い予測から棄却した際に精度がどう上がるか」を測る指標</a:t>
            </a:r>
            <a:r>
              <a:rPr sz="1700" b="0" i="0" dirty="0">
                <a:solidFill>
                  <a:srgbClr val="1A1A2E"/>
                </a:solidFill>
              </a:rPr>
              <a:t>。</a:t>
            </a:r>
            <a:br>
              <a:rPr lang="en-US" sz="1700" b="0" i="0" dirty="0">
                <a:solidFill>
                  <a:srgbClr val="1A1A2E"/>
                </a:solidFill>
              </a:rPr>
            </a:br>
            <a:r>
              <a:rPr sz="1700" b="0" i="0" dirty="0" err="1">
                <a:solidFill>
                  <a:srgbClr val="1A1A2E"/>
                </a:solidFill>
              </a:rPr>
              <a:t>本研究では棄却操作を実施しないため対象外</a:t>
            </a:r>
            <a:r>
              <a:rPr sz="1700" b="0" i="0" dirty="0">
                <a:solidFill>
                  <a:srgbClr val="1A1A2E"/>
                </a:solidFill>
              </a:rPr>
              <a:t>。</a:t>
            </a:r>
          </a:p>
        </p:txBody>
      </p:sp>
      <p:sp>
        <p:nvSpPr>
          <p:cNvPr id="21" name="Rectangle 20"/>
          <p:cNvSpPr/>
          <p:nvPr/>
        </p:nvSpPr>
        <p:spPr>
          <a:xfrm>
            <a:off x="6309360" y="4663440"/>
            <a:ext cx="5577840" cy="1554480"/>
          </a:xfrm>
          <a:prstGeom prst="rect">
            <a:avLst/>
          </a:prstGeom>
          <a:solidFill>
            <a:srgbClr val="F0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4726940"/>
            <a:ext cx="5394960" cy="548640"/>
          </a:xfrm>
          <a:prstGeom prst="rect">
            <a:avLst/>
          </a:prstGeom>
          <a:noFill/>
        </p:spPr>
        <p:txBody>
          <a:bodyPr wrap="square">
            <a:spAutoFit/>
          </a:bodyPr>
          <a:lstStyle/>
          <a:p>
            <a:pPr algn="l"/>
            <a:r>
              <a:rPr sz="1900" b="1" i="0">
                <a:solidFill>
                  <a:srgbClr val="E84C3C"/>
                </a:solidFill>
              </a:rPr>
              <a:t>SCE / cw-ECE
クラス別 ECE</a:t>
            </a:r>
          </a:p>
        </p:txBody>
      </p:sp>
      <p:sp>
        <p:nvSpPr>
          <p:cNvPr id="23" name="TextBox 22"/>
          <p:cNvSpPr txBox="1"/>
          <p:nvPr/>
        </p:nvSpPr>
        <p:spPr>
          <a:xfrm>
            <a:off x="6400800" y="5297170"/>
            <a:ext cx="5394960" cy="1005840"/>
          </a:xfrm>
          <a:prstGeom prst="rect">
            <a:avLst/>
          </a:prstGeom>
          <a:noFill/>
        </p:spPr>
        <p:txBody>
          <a:bodyPr wrap="square">
            <a:spAutoFit/>
          </a:bodyPr>
          <a:lstStyle/>
          <a:p>
            <a:pPr algn="l"/>
            <a:r>
              <a:rPr sz="1700" b="0" i="0" dirty="0" err="1">
                <a:solidFill>
                  <a:srgbClr val="1A1A2E"/>
                </a:solidFill>
              </a:rPr>
              <a:t>多クラス分類向け指標。本研究は「正解</a:t>
            </a:r>
            <a:r>
              <a:rPr sz="1700" b="0" i="0" dirty="0">
                <a:solidFill>
                  <a:srgbClr val="1A1A2E"/>
                </a:solidFill>
              </a:rPr>
              <a:t> or </a:t>
            </a:r>
            <a:r>
              <a:rPr sz="1700" b="0" i="0" dirty="0" err="1">
                <a:solidFill>
                  <a:srgbClr val="1A1A2E"/>
                </a:solidFill>
              </a:rPr>
              <a:t>不正解」の二値問題が基本であり、クラス別拡張の追加価値が限定的</a:t>
            </a:r>
            <a:r>
              <a:rPr sz="1700" b="0" i="0" dirty="0">
                <a:solidFill>
                  <a:srgbClr val="1A1A2E"/>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420</TotalTime>
  <Words>2296</Words>
  <Application>Microsoft Office PowerPoint</Application>
  <PresentationFormat>ユーザー設定</PresentationFormat>
  <Paragraphs>263</Paragraphs>
  <Slides>18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18</vt:i4>
      </vt:variant>
    </vt:vector>
  </HeadingPairs>
  <TitlesOfParts>
    <vt:vector size="24" baseType="lpstr">
      <vt:lpstr>游ゴシック</vt:lpstr>
      <vt:lpstr>Arial</vt:lpstr>
      <vt:lpstr>Calibri</vt:lpstr>
      <vt:lpstr>Cambria Math</vt:lpstr>
      <vt:lpstr>Wingdings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一茶 指田</cp:lastModifiedBy>
  <cp:revision>9</cp:revision>
  <dcterms:created xsi:type="dcterms:W3CDTF">2013-01-27T09:14:16Z</dcterms:created>
  <dcterms:modified xsi:type="dcterms:W3CDTF">2026-06-24T06:19:20Z</dcterms:modified>
  <cp:category/>
</cp:coreProperties>
</file>