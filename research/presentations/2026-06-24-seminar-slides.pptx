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0"/>
            <a:ext cx="112745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プロンプト設計による
大規模言語モデルの
キャリブレーション性能向上に関する研究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指田 一茶
東京理科大学 創域理工学部 経営システム工学科 秦野研究室
2026年6月24日 ゼミ発表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【本日の主メッセージ】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2/19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56AA"/>
                </a:solidFill>
              </a:rPr>
              <a:t>研究設計が完全に確定し、来週から実験フェーズに移行できる状態になった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200">
                <a:solidFill>
                  <a:srgbClr val="1A1A2E"/>
                </a:solidFill>
              </a:rPr>
              <a:t>✅  評価指標・データセット・正答判定・プロンプト設計の 4 項目が確定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1A1A2E"/>
                </a:solidFill>
              </a:rPr>
              <a:t>✅  実験環境の構築方針（ツール・インストール手順）が整備済み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1A1A2E"/>
                </a:solidFill>
              </a:rPr>
              <a:t>✅  予算：研究室枠（50,000円）の 約 6 % 以内（約 3,000 円）で完結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1A1A2E"/>
                </a:solidFill>
              </a:rPr>
              <a:t>📅  次の山場：中間発表（概要2p提出 07/17 → 発表会 07/20〜07/27）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3/19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48640" cy="6400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8204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0820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2E"/>
                </a:solidFill>
              </a:rPr>
              <a:t>直近の活動報告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48640" cy="6400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9644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96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2E"/>
                </a:solidFill>
              </a:rPr>
              <a:t>前回の振り返り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34640"/>
            <a:ext cx="548640" cy="6400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1084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9108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2E"/>
                </a:solidFill>
              </a:rPr>
              <a:t>今回の研究進捗（4項目）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40"/>
            <a:ext cx="548640" cy="6400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2524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25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2E"/>
                </a:solidFill>
              </a:rPr>
              <a:t>次フェーズへの移行状況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548640" cy="6400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73964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7396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2E"/>
                </a:solidFill>
              </a:rPr>
              <a:t>今後の方向性・スケジュール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直近の活動報告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4/19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就活終了（結果はまだ）</a:t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長期インターン完全終了（全引き継ぎ完了）→ 研究に集中できる環境に</a:t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研究作業（今回）:</a:t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　参考論文 12 本をリポジトリに格納（research/papers/）</a:t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　実験環境構築ガイドを作成（research/experiment-environment-setup.md）</a:t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　API 予算見積もりを正確な実験設計ベースで更新</a:t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2100">
                <a:solidFill>
                  <a:srgbClr val="1A1A2E"/>
                </a:solidFill>
              </a:rPr>
              <a:t>余談：後期学費確保のため、スキマバイトの情報があればご教示ください🙏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前回の振り返り：研究テーマと承認済み方向性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5/19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463040" cy="100584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7440"/>
            <a:ext cx="1426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 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582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LLM は自信満々に誤った情報を生成する（ハルシネーション）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463040" cy="100584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341880"/>
            <a:ext cx="1426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C  Complication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3926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英語では verbalized confidence が有効と判明。日本語は未検証の空白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1463040" cy="10058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576320"/>
            <a:ext cx="1426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Q 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6271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日本語環境でプロンプト設計によりキャリブレーションを改善できるか？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709160"/>
            <a:ext cx="1463040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810760"/>
            <a:ext cx="1426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 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861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前回承認：3手法 × 4モデル × 1,000問で検証する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今回の進捗サマリー（4項目）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6/19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8412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→ Slide 7〜10 で各項目を詳述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02920" cy="9144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07160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280160"/>
            <a:ext cx="1920240" cy="914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4071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評価指標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40716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ECE（主）＋ Brier Score（副）＋ AUROC（補助）に決定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68880"/>
            <a:ext cx="502920" cy="9144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95880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468880"/>
            <a:ext cx="1920240" cy="914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5958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データセット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259588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4ドメイン × 250問 = 計 1,000問 に確定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57600"/>
            <a:ext cx="502920" cy="9144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84600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657600"/>
            <a:ext cx="1920240" cy="914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846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正答判定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78460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タスク別に最適手法を選定（翻訳のみ COMET 閾値）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46320"/>
            <a:ext cx="502920" cy="9144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973320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846320"/>
            <a:ext cx="1920240" cy="914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9733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プロンプト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497332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Verb.1S / Verb.2S / Ling.1S の 3条件を設計完了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進捗①：評価指標の決定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7/19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3657600" cy="7772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ECE
（主指標）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3657600" cy="3200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先行研究（Tian 2023, Xiong 2024）と直接比較可能
10ビン等幅分割、低いほど良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005840"/>
            <a:ext cx="3657600" cy="77724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024128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Brier Score
（副指標）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57600" cy="3200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92024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理論的保証あり（Proper Scoring Rule）
Murphy 分解で誤差と識別能力を分離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777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024128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AUROC
（補助指標）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828800"/>
            <a:ext cx="3657600" cy="32004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2024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ECE と直交する識別能力を独立評価
Xiong 2024 と同一指標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555"/>
                </a:solidFill>
              </a:rPr>
              <a:t>可視化: Reliability Diagram（論文 Figure に必ず掲載）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進捗②：使用データセットの選定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8/19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4124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各 250 問 × 4 ドメイン = 合計 1,000 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371600" cy="9601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0208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数学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4020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</a:rPr>
              <a:t>MGSM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706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GSM8K の日本語版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528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判定: 正規化完全一致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68880"/>
            <a:ext cx="1371600" cy="9601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4508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常識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5450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</a:rPr>
              <a:t>JCommonsenseQA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849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5択 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958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判定: 選択肢ラベル一致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11880"/>
            <a:ext cx="1371600" cy="9601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68808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知識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6880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</a:rPr>
              <a:t>JMMLU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992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日本史中心4科目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7388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判定: 選択肢ラベル一致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54880"/>
            <a:ext cx="1371600" cy="9601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83108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翻訳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8310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</a:rPr>
              <a:t>FLORES-200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13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日英対訳ペア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8818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判定: COMET スコア閾値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035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84C3C"/>
                </a:solidFill>
              </a:rPr>
              <a:t>旧計画: 25問/ドメイン → 250問/ドメインに変更（ECE統計的信頼性のため）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進捗③：正答判定方法の確立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9/19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2011680" cy="8229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0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数学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10744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正規化完全一致（数値抽出）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2011680" cy="8229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590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常識・知識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5900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選択肢ラベル一致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2011680" cy="8229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2105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翻訳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21056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COMET スコア閾値（人間 50 文で F1 最適化）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160520"/>
            <a:ext cx="11457432" cy="16459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4C3C"/>
                </a:solidFill>
              </a:rPr>
              <a:t>翻訳に LLM-as-a-Judge を主判定に使わない理由（Zheng et al. 2023）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位置バイアス / 多数決コスト増大 / 再現性の問題
→ 境界サンプルの検証手段としてのみ使用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進捗④：プロンプトの設計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10/19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00" cy="6858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Verb.1S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3657600" cy="27432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回答 + 確信度を同時出力
（0.0〜1.0）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対応先行研究:
Xiong 2024
Vanilla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960120"/>
            <a:ext cx="3657600" cy="6858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978408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Verb.2S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691640"/>
            <a:ext cx="3657600" cy="27432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78308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Turn1: 回答
Turn2: 確信度を質問
（2コール/問）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805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対応先行研究:
Tian 2023
Two-Stage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960120"/>
            <a:ext cx="3657600" cy="6858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978408"/>
            <a:ext cx="3657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Ling.1S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691640"/>
            <a:ext cx="3657600" cy="27432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8308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「ほぼ確実」等の
言語表現→数値マッピング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対応先行研究:
Tian 2023
Linguistic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84C3C"/>
                </a:solidFill>
              </a:rPr>
              <a:t>CoT を独立条件にしない理由：正答率自体を変化させ確信度設計の効果と分離困難
全ドメイン × 日英のテンプレートを確定済み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次のフェーズへの移行：実験環境構築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11/19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</a:rPr>
              <a:t>整備済み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</a:rPr>
              <a:t>✅  参考論文 PDF 12 本をリポジトリに格納（research/papers/）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</a:rPr>
              <a:t>✅  必要ツール・インストール手順をドキュメント化（experiment-environment-setup.md）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56AA"/>
                </a:solidFill>
              </a:rPr>
              <a:t>主要ツール一覧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ECE 計算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0632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netcal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063240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Xiong 2024 採用実績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38728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AUROC / Brier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3872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538728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roc_auc_score / brier_score_loss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1421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GPT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1421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openai==1.43.0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014216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全4論文で使用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89704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Claude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48970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anthropic==0.33.0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489704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Tian 2023 で使用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6519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Gemini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96519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google-generativeai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4965192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本研究で新規追加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データセット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4406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datasets (HuggingFace)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5440680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MGSM / JMMLU / FLORES-200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16168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翻訳評価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91616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AA"/>
                </a:solidFill>
              </a:rPr>
              <a:t>unbabel-comet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916168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FLORES-200 ドメイン用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4C3C"/>
                </a:solidFill>
              </a:rPr>
              <a:t>次のステップ：Python スクリプト実装（7月中旬・中間発表前に完了目標）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今後の方向性サマリー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12/19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011680" cy="11887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11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着地地点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39192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A1A2E"/>
                </a:solidFill>
              </a:rPr>
              <a:t>A〜D の複数シナリオを用意済み（秦野先生ご指摘への対応）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2011680" cy="11887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956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予算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94640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A1A2E"/>
                </a:solidFill>
              </a:rPr>
              <a:t>約 3,000 円（研究室枠 50,000 円の 6% 以内）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297680"/>
            <a:ext cx="2011680" cy="11887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500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次の山場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50088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A1A2E"/>
                </a:solidFill>
              </a:rPr>
              <a:t>7月17日 概要2p提出 → 7月20〜27日 中間発表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着地地点の複数構想（秦野先生ご指摘への回答）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13/19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555"/>
                </a:solidFill>
              </a:rPr>
              <a:t>ご指摘：「ライバルが出てきそうなので着地地点を複数用意すべき」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280160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1892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A（本命）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417320"/>
            <a:ext cx="22860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544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予定通り進捗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54432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日本語 × 複数モデル × 3手法の全比較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280160" cy="10058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7076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606040"/>
            <a:ext cx="22860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2733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差が有意でない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73304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ネガティブ結果の体系的報告（それ自体が学術貢献）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94760"/>
            <a:ext cx="1280160" cy="100584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9636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22860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392176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競合研究が先行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921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翻訳ドメインに絞り込んで深掘り（COMET × 確信度）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83480"/>
            <a:ext cx="1280160" cy="100584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8508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983480"/>
            <a:ext cx="22860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51104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11月末時間不足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51104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スコープ縮小トリガー発動（文書化済み）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予算見積もり（確定版）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14/19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11457432" cy="685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6AA"/>
                </a:solidFill>
              </a:rPr>
              <a:t>実験全体の合計：約 $20 USD ≈ 3,000 円（×2倍バッファ込み）　←　研究室枠 50,000 円の 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55555"/>
                </a:solidFill>
              </a:rPr>
              <a:t>モデル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55555"/>
                </a:solidFill>
              </a:rPr>
              <a:t>入力 $/1M トークン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83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55555"/>
                </a:solidFill>
              </a:rPr>
              <a:t>出力 $/1M トークン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11457432" cy="6583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164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Claude Sonnet 4.6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16480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$3.00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316480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$15.00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26080"/>
            <a:ext cx="1145743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022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GPT-4o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002280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$2.50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002280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$10.00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11880"/>
            <a:ext cx="11457432" cy="6583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880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GPT-5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688080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$0.63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88080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1145743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3738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Gemini 2.0 Flash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373880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373880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$0.60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120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オープンソースモデル（Swallow・ELYZA・Qwen）はローカル実行 → 追加費用なし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今後のスケジュール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15/19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2011680" cy="7772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8204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6月（残り）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132840"/>
            <a:ext cx="9235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実験スクリプト実装・パイロット実験（動作確認）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2011680" cy="77724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9644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7月 17日 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47240"/>
            <a:ext cx="9235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中間発表 概要 2p PDF 提出（LETUS 12:00 厳守）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34640"/>
            <a:ext cx="2011680" cy="77724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91084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7月 20〜27日 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961640"/>
            <a:ext cx="9235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中間発表会（6分＋質疑3分）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49040"/>
            <a:ext cx="2011680" cy="7772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82524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8〜9月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876040"/>
            <a:ext cx="9235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本実験（4ドメイン × 4モデル × 3プロンプト方式）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63440"/>
            <a:ext cx="2011680" cy="7772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3964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10月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790440"/>
            <a:ext cx="9235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結果分析・統計検定・考察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577840"/>
            <a:ext cx="2011680" cy="7772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654040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11月〜1月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5704840"/>
            <a:ext cx="9235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論文執筆・提出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16/19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Guo et al. (2017) ICML — On Calibration of Modern Neural Networks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Kadavath et al. (2022) arXiv — Language Models (Mostly) Know What They Know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Tian et al. (2023) EMNLP — Just Ask for Calibration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Xiong et al. (2024) ICLR — Can LLMs Express Their Uncertainty?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Zheng et al. (2023) NeurIPS — Judging LLM-as-a-Judge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Yang et al. (2024) arXiv:2412.14737 — On Verbalized Confidence Scores for LLMs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Xue et al. (2025) ACL Findings — MlingConf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Seo et al. (2025) arXiv:2510.10913 — ADVICE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Li, Xiong, Wu, Hooi (2025) arXiv:2508.18847 — ConfTuner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Appendix A：ECE 数式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17/19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280160"/>
            <a:ext cx="9418320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41732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1A2E"/>
                </a:solidFill>
              </a:rPr>
              <a:t>ECE = Σ_{m=1}^{M}  (|B_m| / n)  ×  |acc(B_m) − conf(B_m)|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>
                <a:solidFill>
                  <a:srgbClr val="1A1A2E"/>
                </a:solidFill>
              </a:rPr>
              <a:t>B_m  : ビン m に属するサンプル集合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1A1A2E"/>
                </a:solidFill>
              </a:rPr>
              <a:t>acc  : ビン内の正答率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1A1A2E"/>
                </a:solidFill>
              </a:rPr>
              <a:t>conf : ビン内の平均確信度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1A1A2E"/>
                </a:solidFill>
              </a:rPr>
              <a:t>M = 10、等幅ビン [0, 1] を 0.1 刻みで分割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1A1A2E"/>
                </a:solidFill>
              </a:rPr>
              <a:t>n    : サンプル総数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Appendix B：プロンプトテンプレート（Verb.1S 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18/19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57432" cy="53035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以下の数学の問題を読み、回答と、その回答が正しいと思う確率（確信度）を
答えてください。確信度は 0.0（まったく自信がない）から 1.0（完全に確信
している）の数値で表してください。
問題: {question}
以下の形式で回答してください。形式以外の出力はしないでください。
回答: [数値のみ]
確信度: [0.0〜1.0の数値]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Appendix C：実験計画の全体像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55555"/>
                </a:solidFill>
              </a:rPr>
              <a:t>19/19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東京理科大学 経営システム工学科 秦野研究室　指田一茶　2026-06-24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280160" cy="5486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実験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960120"/>
            <a:ext cx="3657600" cy="5486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978408"/>
            <a:ext cx="3657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目的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960120"/>
            <a:ext cx="5029200" cy="5486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97840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条件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0" y="960120"/>
            <a:ext cx="1737360" cy="5486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0" y="978408"/>
            <a:ext cx="1737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コール数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54480"/>
            <a:ext cx="128016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656080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実験①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1554480"/>
            <a:ext cx="36576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16560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基本キャリブレーション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554480"/>
            <a:ext cx="50292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1656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4モデル × 4ドメイン × Verb.1S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0" y="1554480"/>
            <a:ext cx="173736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60" y="1656080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4,000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51760"/>
            <a:ext cx="12801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753360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実験②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265176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27533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プロンプト手法比較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651760"/>
            <a:ext cx="5029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75336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1モデル × Verb.2S + Ling.1S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0" y="2651760"/>
            <a:ext cx="17373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52760" y="2753360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3,000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749040"/>
            <a:ext cx="128016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850640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実験③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7360" y="3749040"/>
            <a:ext cx="36576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83080" y="38506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日英比較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3749040"/>
            <a:ext cx="502920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385064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1モデル × 英語版 1,000問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607040" y="3749040"/>
            <a:ext cx="1737360" cy="1005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52760" y="3850640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1,000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46320"/>
            <a:ext cx="1280160" cy="1005840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4947920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合計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7360" y="4846320"/>
            <a:ext cx="3657600" cy="1005840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4947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×2倍バッファ込み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846320"/>
            <a:ext cx="5029200" cy="1005840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32120" y="4947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10607040" y="4846320"/>
            <a:ext cx="1737360" cy="1005840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52760" y="4947920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A1A2E"/>
                </a:solidFill>
              </a:rPr>
              <a:t>~16,000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