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651760"/>
            <a:ext cx="1109167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プロンプト設計による
大規模言語モデルの
キャリブレーション性能向上に関する研究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指田 一茶
東京理科大学 創域理工学部 経営システム工学科 秦野研究室
2026年6月24日 ゼミ発表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【本日の主メッセージ】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960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6AA"/>
                </a:solidFill>
              </a:rPr>
              <a:t>研究設計の4項目が完全に確定し、来週から実験フェーズに移行できる状態になった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>✅  評価指標の決定（ECE・Brier Score・AUROC）</a:t>
            </a:r>
          </a:p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>✅  使用データセットの選定（4ドメイン × 各 250 問 = 計 1,000 問）</a:t>
            </a:r>
          </a:p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>✅  正答判定方法の確立（ドメイン別に最適手法を選定）</a:t>
            </a:r>
          </a:p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>✅  プロンプト設計の完了（3条件: 一段階数値 / 二段階 / 言語表現）</a:t>
            </a:r>
          </a:p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2400">
                <a:solidFill>
                  <a:srgbClr val="1A1A2E"/>
                </a:solidFill>
              </a:rPr>
              <a:t>📅  次の山場：中間発表（概要 2p 提出 07/17 → 発表会 07/20〜07/27）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3284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1963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2E"/>
                </a:solidFill>
              </a:rPr>
              <a:t>直近の活動報告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64008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130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765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2E"/>
                </a:solidFill>
              </a:rPr>
              <a:t>前回の振り返り（研究背景・先行研究・RQ）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64008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931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566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2E"/>
                </a:solidFill>
              </a:rPr>
              <a:t>今回の研究進捗（評価指標 / データセット / 正答判定 / プロンプト）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64008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733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368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2E"/>
                </a:solidFill>
              </a:rPr>
              <a:t>今後の方向性・スケジュール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直近の活動報告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就活終了（結果はまだ）</a:t>
            </a:r>
          </a:p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長期インターン完全終了（全引き継ぎ完了）→ 研究に集中できる環境に</a:t>
            </a:r>
          </a:p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研究活動（今回）:</a:t>
            </a:r>
          </a:p>
          <a:p>
            <a:pPr lvl="1"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  文献調査を中心に進め、評価指標・データセット・正答判定・プロンプト設計を検討</a:t>
            </a:r>
          </a:p>
          <a:p>
            <a:pPr lvl="1"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  論文精読 12 本（Tian 2023, Xiong 2024, Yang 2024, Xue 2025 等）</a:t>
            </a:r>
          </a:p>
          <a:p>
            <a:pPr lvl="1"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  各判断の根拠はメモとして記録済み</a:t>
            </a:r>
          </a:p>
          <a:p>
            <a:pPr lvl="1"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  一部 AI ツールを参考程度に活用しながら調査を効率化</a:t>
            </a:r>
          </a:p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2200">
                <a:solidFill>
                  <a:srgbClr val="1A1A2E"/>
                </a:solidFill>
              </a:rPr>
              <a:t>余談：後期学費確保のため、スキマバイトの情報があればご教示ください🙏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前回の振り返り①：研究背景とテーマ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669280" cy="53949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問題意識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LLM はハルシネーション（誤情報を自信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ありげに生成する現象）を起こす [1]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/>
            </a:r>
          </a:p>
          <a:p>
            <a:pPr lvl="1"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問題の本質：間違えることより</a:t>
            </a:r>
          </a:p>
          <a:p>
            <a:pPr lvl="1"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「自信度と正答率の乖離」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✓  90% 確信 → 約 90% 正解  ← 良い例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✗  95% 確信 → 実際は誤答   ← 悪い例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→ 確信度が信頼できれば、利用者が</a:t>
            </a:r>
          </a:p>
          <a:p>
            <a:pPr lvl="1">
              <a:spcBef>
                <a:spcPts val="500"/>
              </a:spcBef>
            </a:pPr>
            <a:r>
              <a:rPr sz="2100">
                <a:solidFill>
                  <a:srgbClr val="1A1A2E"/>
                </a:solidFill>
              </a:rPr>
              <a:t>   リスク判断の指標として使えるようになる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868680"/>
            <a:ext cx="5486400" cy="24688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14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研究テーマ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プロンプト設計による
LLM のキャリブレーション性能向上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520440"/>
            <a:ext cx="5486400" cy="27432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キャリブレーション とは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モデルが出力する確信度と
実際の正答率がどの程度一致しているか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57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「完全キャリブレーション」=
確信度 X% のとき、X% の確率で正解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前回の振り返り②：重要先行研究 ── Tian et al. 2023 [3]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「Just Ask for Calibration」 EMNLP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研究の概要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ChatGPT / GPT-4 / Claude 等の RLHF 学習済み LLM に対し、確信度を「言葉」で出力させる
（Verbalized Confidence）と、内部確率より大幅にキャリブレーションが改善することを実証。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主な知見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48640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925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ECE 約 50% 削減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4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直接「確信度は？」と聞くだけで、内部 softmax 確率より大幅改善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29000"/>
            <a:ext cx="548640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4925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数値 &gt; 言語表現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84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0.0〜1.0 の数値の方が「おそらく」などの言葉より精度高い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60"/>
            <a:ext cx="548640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726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CoT は効果なし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64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Chain-of-Thought は確信度の精度に寄与しない（推論強化と混同注意）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709160"/>
            <a:ext cx="548640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7726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モデル間で差あり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64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Claude 2 が最も優秀、Llama-2 はやや劣る傾向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35040"/>
            <a:ext cx="11457432" cy="4572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6247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本研究：この成果を日本語環境で再検証 → 英語 vs 日本語で同様の改善が得られるか？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補強研究: Xiong et al. 2024 (ICLR) [4] が複数モデルで同様の傾向を確認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前回の振り返り③：RQ と実験設計の方向性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メイン RQ（承認済み）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8229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日本語タスクにおいて、プロンプト設計によって LLM のキャリブレーション性能を向上させられるか？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サブ 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914400" cy="7315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19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743200"/>
            <a:ext cx="173736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81940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AA"/>
                </a:solidFill>
              </a:rPr>
              <a:t>モデル比較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70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GPT / Claude / Gemini / Swallow 等でキャリブレーション性能に差はあるか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914400" cy="7315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8808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3611880"/>
            <a:ext cx="173736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68808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AA"/>
                </a:solidFill>
              </a:rPr>
              <a:t>タスク比較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738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数学 / 常識 / 知識 / 翻訳でドメインによって性能は変化するか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914400" cy="7315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5676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4480560"/>
            <a:ext cx="173736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55676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AA"/>
                </a:solidFill>
              </a:rPr>
              <a:t>プロンプト比較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607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確信度の引き出し方（表現形式）によって結果は変わるか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914400" cy="7315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42544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349240"/>
            <a:ext cx="173736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42544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6AA"/>
                </a:solidFill>
              </a:rPr>
              <a:t>言語比較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476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同一タスクを日本語 vs 英語で与えた場合に差はあるか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84C3C"/>
                </a:solidFill>
              </a:rPr>
              <a:t>前回時点の課題（今回解決）: 評価指標の選定 / データセット選定 / 正答判定方法 / プロンプト設計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今回の進捗サマリー（4項目）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640080" cy="10972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364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005840"/>
            <a:ext cx="219456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183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評価指標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20904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A1A2E"/>
                </a:solidFill>
              </a:rPr>
              <a:t>ECE（主）＋ Brier Score（副）＋ AUROC（補助）に決定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640080" cy="10972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095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331720"/>
            <a:ext cx="219456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509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データセット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349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A1A2E"/>
                </a:solidFill>
              </a:rPr>
              <a:t>4ドメイン × 250問 = 計 1,000問 に確定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640080" cy="10972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354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657600"/>
            <a:ext cx="219456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54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正答判定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8608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A1A2E"/>
                </a:solidFill>
              </a:rPr>
              <a:t>タスク別に最適手法を選定（翻訳のみ COMET 閾値）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640080" cy="10972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612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4983480"/>
            <a:ext cx="219456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161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プロンプト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866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A1A2E"/>
                </a:solidFill>
              </a:rPr>
              <a:t>3条件（一段階数値 / 二段階 / 言語表現）の設計完了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進捗①：評価指標の候補と不採用理由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822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（計算式・値の範囲は Appendix 参照）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36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MCE
最大キャリブレーション誤差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27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最大値（1ビンの外れ値）を見る指標。外れ値に過敏で全体傾向を反映しない。高リスク系（医療等）向けであり本研究の RQ には不要。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436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ACE
適応的キャリブレーション誤差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627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等質量ビンを使いサンプル偏り問題を解決するが、ECE と互換性がなく Tian 2023 との直接比較が不能になる。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353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Log-loss / NLL
負の対数尤度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54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理論的には Proper Scoring Rule だが、確信度が 0 や 1 に極めて近い場合に値が発散して数値的に不安定。過信傾向の強い LLM では扱いにくい。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353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AUPRC
適合率-再現率曲線下面積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4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クラス不均衡が激しい場合に AUROC より優れるが、本研究では正答率 50〜80% 程度と不均衡が少なく AUROC で代替可能。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269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AUARC
精度-棄却曲線下面積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460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「信頼度の低い予測から棄却した際に精度がどう上がるか」を測る指標。本研究では棄却操作を実施しないため対象外。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663440"/>
            <a:ext cx="5577840" cy="15544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269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C3C"/>
                </a:solidFill>
              </a:rPr>
              <a:t>SCE / cw-ECE
クラス別 ECE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460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多クラス分類向け指標。本研究は「正解 or 不正解」の二値問題が基本であり、クラス別拡張の追加価値が限定的。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進捗①：採用した評価指標（概要）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8229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→ 詳細は次のスライドで説明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657600" cy="8229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ECE
（主指標）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65760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期待キャリブレーション誤差
Expected Calibration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2E"/>
                </a:solidFill>
              </a:rPr>
              <a:t>値: 0.0〜1.0（低いほど良）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先行研究 [3][4] と完全に比較可能
「確信度と正答率のズレ」を直感的に表現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3657600" cy="82296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05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Brier Score
（副指標）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74519"/>
            <a:ext cx="365760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ブライアスコア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2E"/>
                </a:solidFill>
              </a:rPr>
              <a:t>値: 0.0〜1.0（低いほど良）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375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厳密な Proper Scoring Rule [2]
理論的保証が強く ECE の弱点を補完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005840"/>
            <a:ext cx="36576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005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AUROC
（補助指標）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74519"/>
            <a:ext cx="3657600" cy="4480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</a:rPr>
              <a:t>ROC曲線下面積
Area Under ROC Curve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2E"/>
                </a:solidFill>
              </a:rPr>
              <a:t>値: 0.5〜1.0（高いほど良）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375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識別能力を独立に評価 [4]
ECE と直交する性質（相関≈0）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可視化: Reliability Diagram（信頼性図）— 論文の Figure に必ず掲載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ECE（期待キャリブレーション誤差）の詳細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数式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ECE = Σ_{m=1}^{M}  ( |B_m| / n )  ×  | acc(B_m) − conf(B_m) 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B_m  : ビン m に属するサンプル集合　　　n : 総サンプル数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acc(B_m)  : ビン m 内の正答率　　　　　 conf(B_m) : ビン m 内の平均確信度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M = 10（等幅ビン、0.1 刻みで 0.0〜1.0 を分割）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365760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値の範囲と解釈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416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0.0 = 完全キャリブレーション
0.1 = 確信度が正答率から平均 10% ズレ
（低いほど良い）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520440"/>
            <a:ext cx="758952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採用理由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0233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① Tian 2023 [3]・Xiong 2024 [4] と同一指標 → 先行研究の数値と直接比較可能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② 「確信度と正答率の平均ズレ」という本研究の核心的問いに直接対応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③ ECE=0.10 なら「平均 10% ズレ」と直感的に説明できる（発表・論文向き）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11457432" cy="14630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出典と注意点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出典: Guo et al. 2017 (ICML) [2] が深層学習への適用を普及させた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注意: ECE は Proper Scoring Rule ではない（定数予測でも 0 になりうる）→ Brier Score で補完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A1A2E"/>
                </a:solidFill>
              </a:rPr>
              <a:t>注意: ビン数（M）に依存。本研究では M=10 に固定し先行研究と条件を揃える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Brier Score（ブライアスコア）の詳細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13258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数式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BS = (1/N) × Σ_{i=1}^{N} ( p_i − y_i 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1A1A2E"/>
                </a:solidFill>
              </a:rPr>
              <a:t>p_i : モデルの確信度（0.0〜1.0）　　y_i : 正誤ラベル（正解=1, 不正解=0）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57432" cy="19202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Murphy (1973) 分解 ── Brier Score = REL − RES + UNC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3566160" cy="109728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REL（Reliability）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キャリブレーション誤差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159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小さいほど良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429000"/>
            <a:ext cx="356616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RES（Resolution）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識別能力（正解・不正解を区別する能力）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159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大きいほど良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429000"/>
            <a:ext cx="3566160" cy="10972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UNC（Uncertainty）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データ固有の不確実性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159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制御不能（固定値）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53035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値の範囲と解釈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0.0 = 完全予測　　0.25 = ランダム予測に相当
（低いほど良い）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846320"/>
            <a:ext cx="594360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892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採用理由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376672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① Proper Scoring Rule → ECE の理論的弱点を補完
② ビン数に依存しない独立測定が得られる
③ Murphy 分解で「なぜズレるか」を分離して分析できる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AUROC（ROC 曲線下面積）の詳細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55555"/>
                </a:solidFill>
              </a:rPr>
              <a:t>AUROC = Area Under the Receiver Operating Characteristic Curve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概念的な定義（数式なし）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ランダムに選んだ「正解サンプル」と「不正解サンプル」のペアで、
モデルが正解サンプルに高い確信度を与える確率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303520" cy="1371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値の範囲と解釈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0.5 = ランダムと同等（確信度が意味を持たない）
1.0 = 完全に正解・不正解を区別できる
（高いほど良い）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606040"/>
            <a:ext cx="5943600" cy="1371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ECE との重要な違い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27248"/>
            <a:ext cx="5760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ECE: 「70% 確信は本当に 70% 正解か？」絶対値が重要
AUROC: 「高確信の方が低確信より正しいか？」順序が重要
→ 両者は独立（相関≈0）。両方報告することが推奨 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1457432" cy="19202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AA"/>
                </a:solidFill>
              </a:rPr>
              <a:t>採用理由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45152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① Xiong et al. 2024 [4] が ECE と AUROC を同時に報告しており、先行研究と比較可能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② 確信度の絶対値が少しズレていても（ECE が高くても）、ランキングが正しい場合に高評価できる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③ LLM の verbalized confidence は系統的な過信がある → スケール不変の AUROC で補完測定が有効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A1A2E"/>
                </a:solidFill>
              </a:rPr>
              <a:t>④ Xiong 2024・Mind the Gap 2026 等でも ECE ＋ AUROC の組み合わせが推奨されている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進捗②：データセットの選定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各 250 問 × 4 ドメイン = 合計 1,000 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37160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2400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数学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71600"/>
            <a:ext cx="10104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4478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MGSM  ─  GSM8K（英語）の人手翻訳版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8288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▸ 先行研究（Tian 2023, MlingConf 2025）でも GSM8K 使用。本研究は日本語対応の MGSM を選択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137160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1272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常識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560320"/>
            <a:ext cx="10104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6365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JCommonsenseQA  ─  日本語ネイティブ作成 5択MC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017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▸ Xiong 2024 が CommonsenseQA（英語）を使用。日本語対応版として JCommonsenseQA を採用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40"/>
            <a:ext cx="137160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0144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知識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3749040"/>
            <a:ext cx="10104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8252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JMMLU  ─  日本人教師作成・日本史中心 4択MC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2062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▸ 先行研究は MMLU（英語）使用。日本語対応版 JMMLU（nlp-waseda）を採用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37760"/>
            <a:ext cx="1371600" cy="10058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9016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翻訳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937760"/>
            <a:ext cx="10104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5013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FLORES-200  ─  Meta AI 公開の対訳データセット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3949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▸ 翻訳ドメインを評価するのは本研究の新規性。MlingConf 2025 でも使用実績あり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172200"/>
            <a:ext cx="11457432" cy="77724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なぜ 250 問か？ECE（10 ビン）で各ビン最低 25 問を確保するための下限。旧計画（25問/ドメイン）では ECE の統計的信頼性がほぼなかった（各ビン 2〜3 問しかない）。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進捗③：正答判定方法の確立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</a:rPr>
              <a:t>正答判定は「正解/不正解（y=1 or y=0）」の二値ラベルを付ける作業。ECE 計算の起点となる最重要設計。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01168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4940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数学
MGSM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371600"/>
            <a:ext cx="94183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44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正規化完全一致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79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4C3C"/>
                </a:solidFill>
              </a:rPr>
              <a:t>方法: 正規表現で数値抽出 → 正解値と比較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35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理由: 先行研究（ConfTuner 2025 等）が GSM8K で採用している標準手法。数値の完全一致なので判定ノイズなし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201168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4104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常識・知識
JC-QA / JMMLU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063240"/>
            <a:ext cx="94183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139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選択肢ラベル一致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571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4C3C"/>
                </a:solidFill>
              </a:rPr>
              <a:t>方法: 出力ラベル（A/B/C/D など）を正解と比較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26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理由: MC 形式は calibration 研究の 60〜70% が採用する最も信頼性の高い判定方法（Xiong 2024 [4] 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201168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932680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翻訳
FLORES-200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754880"/>
            <a:ext cx="94183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4831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COMET スコア閾値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26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4C3C"/>
                </a:solidFill>
              </a:rPr>
              <a:t>方法: COMET スコア ≥ θ（人間 50 文で F1 最適化）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18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理由: BLEU は廃れつつあり COMET が現在の主流。閾値 ±0.05 の感度分析も実施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92240"/>
            <a:ext cx="11457432" cy="42976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※ COMET = Crosslingual Optimized Metric for Evaluation of Translation（機械翻訳品質評価のニューラルメトリクス。人間評価との相関が BLEU より高い）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進捗④：プロンプト設計の概要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</a:rPr>
              <a:t>確信度の「引き出し方」を変えることでキャリブレーション性能がどう変わるかを比較する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91440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Verb.1S
Verbalized 1-Stage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3703320" cy="4160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略語の意味: Verbalized（言語化）の 1-Stage（1段階）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回答と確信度（0.0〜1.0）を1回のプロンプトで同時出力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4C3C"/>
                </a:solidFill>
              </a:rPr>
              <a:t>Xiong 2024 [4] の Vanilla 方式に対応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703320" cy="9144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Verb.2S
Verbalized 2-Stage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31720"/>
            <a:ext cx="3703320" cy="4160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略語の意味: Verbalized（言語化）の 2-Stage（2段階）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Turn 1 で回答のみ → Turn 2 で「その確信度は？」と別途質問（2コール/問）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19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4C3C"/>
                </a:solidFill>
              </a:rPr>
              <a:t>Tian 2023 [3] の Two-Stage / Xiong 2024 [4] の Self-Probing に対応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70332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371600"/>
            <a:ext cx="3703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Ling.1S
Linguistic 1-Stage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331720"/>
            <a:ext cx="3703320" cy="4160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略語の意味: Linguistic（言語表現）の 1-Stage（1段階）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520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</a:rPr>
              <a:t>「ほぼ確実」「かなり自信がある」等の言葉で確信度を表現 → 数値に変換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5196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4C3C"/>
                </a:solidFill>
              </a:rPr>
              <a:t>Tian 2023 [3] の Linguistic 方式に対応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92240"/>
            <a:ext cx="11457432" cy="42976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19672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注: CoT（Chain-of-Thought）は独立条件としない。正答率自体を変化させるため、確信度設計の効果と分離困難。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プロンプト具体例（数学ドメイン版）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37160" cy="256032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1371600" cy="4114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85520"/>
            <a:ext cx="13533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Verb.1S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5486400" cy="2148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以下の数学の問題を読み、回答と確信度を答えてください。
確信度は 0.0（自信なし）〜1.0（完全に確信）で表してください。
問題: {question}
形式: 回答: [数値のみ]　確信度: [0.0〜1.0]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60120"/>
            <a:ext cx="137160" cy="256032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960120"/>
            <a:ext cx="1371600" cy="41148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985520"/>
            <a:ext cx="13533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Verb.2S  ターン1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5486400" cy="2148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1732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以下の問題に回答してください。
問題: {question}
形式: 回答: [数値のみ]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37160" cy="256032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371600" cy="41148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865880"/>
            <a:ext cx="13533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Verb.2S  ターン2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486400" cy="2148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あなたは先ほど「{answer}」と回答しました。
この回答が正しい確率を 0.0〜1.0 で答えてください。
形式: 確信度: [0.0〜1.0]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40480"/>
            <a:ext cx="137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840480"/>
            <a:ext cx="1371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865880"/>
            <a:ext cx="13533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Ling.1S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251960"/>
            <a:ext cx="5486400" cy="2148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問題: {question}
回答と、確信の度合い（ほぼ確実 / かなり自信がある / どちらともいえない
/ あまり自信がない / ほとんどわからない）を答えてください。
形式: 回答: [数値のみ]　確信度: [上記5つから1つ]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823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Ling.1S の数値マッピング:  ほぼ確実=0.95 / かなり=0.80 / どちらとも=0.50 / あまり=0.25 / ほとんどわからない=0.05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今後の方向性①：着地地点の複数構想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55555"/>
                </a:solidFill>
              </a:rPr>
              <a:t>先生のご指摘：「ライバルが出てきそうなので着地地点を複数用意すべき」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4630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4940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A（本命）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371600"/>
            <a:ext cx="256032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5494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予定通り進捗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549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日本語 × 複数モデル × 3手法の全比較 → 最適プロンプト方式を提案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1463040" cy="109728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8384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606040"/>
            <a:ext cx="256032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783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ECE 差が有意でない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83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ネガティブ結果の体系的報告（「差がない」ことの証明も学術貢献）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463040" cy="109728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1828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840480"/>
            <a:ext cx="256032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018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競合研究が先行発表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018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翻訳ドメイン（COMET × 確信度）に絞り込んで独自深掘り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463040" cy="10972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52720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5074920"/>
            <a:ext cx="256032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5252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</a:rPr>
              <a:t>11月末に進捗不足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252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A1A2E"/>
                </a:solidFill>
              </a:rPr>
              <a:t>スコープ縮小トリガー発動（文書化済み）→ モデル・ドメイン数を削減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今後の方向性②：予算見積もり（確定版）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19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11457432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6AA"/>
                </a:solidFill>
              </a:rPr>
              <a:t>実験全体の合計：約 $20 USD ≈ 3,000 円（×2倍バッファ込み）　研究室枠 50,000 円の 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1A2E"/>
                </a:solidFill>
              </a:rPr>
              <a:t>各モデルの料金（2026年6月現在）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5669280" cy="4572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6248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Claude Sonnet 4.6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6248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$3.00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06248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$15.00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87168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37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GPT-4o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379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$2.50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3796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$10.00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62656"/>
            <a:ext cx="5669280" cy="4572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1345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GPT-5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1345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$0.63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01345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$5.00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5669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8894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Gemini 2.0 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8894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$0.15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48894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$0.60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9933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モデル             入力$/1M   出力$/1M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72768"/>
            <a:ext cx="5669280" cy="28803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6184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56AA"/>
                </a:solidFill>
              </a:rPr>
              <a:t>計算式（コール当たりのコスト）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57400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コール当たり: 入力 300 tokens + 出力 50 tokens と仮定
例: Claude Sonnet 4.6 / 1,000 コール
  入力: 1,000 × 300 / 1,000,000 × $3.00 = $0.90
  出力: 1,000 × 50  / 1,000,000 × $15.00 = $0.75
  小計: $1.65
実験①（4モデル×各1,000コール）: 約 $3.40
実験②（追加3,000コール）:        約 $5.00
実験③（追加1,000コール）:        約 $1.65
合計 × 2倍バッファ: 約 $20 ≈ 3,000円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OSS モデル（Swallow・ELYZA・Qwen）はローカル実行 → 追加費用なし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今後の方向性③：実験環境の構築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926080" cy="12344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871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① Python 環境の整備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960120"/>
            <a:ext cx="841248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061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Python 3.12 + Anaconda（or venv）で仮想環境を作成
必要ライブラリをインストール: openai / anthropic / google-generativeai
                               datasets / netcal / scikit-learn / unbabel-comet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926080" cy="12344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04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② API キーの取得と設定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377440"/>
            <a:ext cx="841248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479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各サービスで API キーを取得（OpenAI / Anthropic / Google AI Studio）
環境変数（.env ファイル）に登録し、スクリプトから安全に参照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2926080" cy="12344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2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③ データセットの前処理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3794760"/>
            <a:ext cx="841248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896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HuggingFace datasets で MGSM / JCommonsenseQA / JMMLU / FLORES-200 をダウンロード
各 250 問をサンプリングし、正解ラベル付き CSV として保存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12080"/>
            <a:ext cx="2926080" cy="123444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339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④ 実験スクリプトの設計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5212080"/>
            <a:ext cx="8412480" cy="12344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5313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問題 CSV → API 問い合わせ（プロンプト条件ごとに分岐）→ 回答・確信度 CSV 保存
→ 正誤判定スクリプト → ECE / Brier / AUROC 計算 → Reliability Diagram 出力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4C3C"/>
                </a:solidFill>
              </a:rPr>
              <a:t>目標: 7月中旬（中間発表前）にパイロット実験（1ドメイン × 1モデル × 1条件）で動作確認完了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今後のスケジュール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286000" cy="8229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61720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6月（残り）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08712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実験スクリプト実装・パイロット実験（動作確認）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92808"/>
            <a:ext cx="2286000" cy="82296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9440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7月 17日 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19808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中間発表 概要 2p PDF 提出（LETUS 12:00 厳守）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2286000" cy="82296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27096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7月 20〜27日 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52496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中間発表会（6分＋質疑3分）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58184"/>
            <a:ext cx="2286000" cy="8229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59784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8〜9月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85184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本実験（4ドメイン × 4モデル × 3プロンプト方式）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90872"/>
            <a:ext cx="2286000" cy="8229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92472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10月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17872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結果分析・統計検定（Friedman 検定 / Wilcoxon 検定）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60"/>
            <a:ext cx="22860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725160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11月〜1月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75056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論文執筆・提出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9611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Ji, Z. et al. (2023). Survey of Hallucination in NLG. ACM Computing Surveys.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89611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5（研究背景）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72184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Guo, C. et al. (2017). On Calibration of Modern Neural Networks. ICML.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472184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10, 11（ECE の出典）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4825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48256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Tian, K. et al. (2023). Just Ask for Calibration. EMNLP.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04825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6, 9, 10, 14, 16（主要先行研究・全体）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24328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24328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Xiong, M. et al. (2024). Can LLMs Express Their Uncertainty? ICLR.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62432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6, 10, 13, 14, 16（先行研究・AUROC）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0040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Kadavath, S. et al. (2022). Language Models (Mostly) Know What They Know. arXiv:2207.05221.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20040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5（研究背景）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7647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76472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Zheng, L. et al. (2023). Judging LLM-as-a-Judge with MT-Bench. NeurIPS.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7764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15（翻訳の正答判定）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5254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[7]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Yang, D. et al. (2024). On Verbalized Confidence Scores for LLMs. arXiv:2412.14737.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352544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16（プロンプト設計の根拠）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2861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[8]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28616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Xue, B. et al. (2025). MlingConf: Multilingual Confidence Estimation. ACL Findings.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92861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6, 7, 14（多言語キャリブレーション）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504688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[9]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04688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Seo, K. J. et al. (2025). ADVICE: Answer-Dependent Verbalized Confidence. arXiv:2510.10913.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50468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16（Verb.2S の設計根拠）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8076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6AA"/>
                </a:solidFill>
              </a:rPr>
              <a:t>[10]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807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Li, Y. et al. (2025). ConfTuner: Training LLMs to Express Confidence. arXiv:2508.18847.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608076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</a:rPr>
              <a:t>→ Slide 10, 14（Brier Score の採用根拠）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実験計画の全体像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</a:rPr>
              <a:t>実験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68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</a:rPr>
              <a:t>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868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</a:rPr>
              <a:t>目的と対応 RQ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868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55555"/>
                </a:solidFill>
              </a:rPr>
              <a:t>コール数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19456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78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実験①
基本
キャリブレーション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25880"/>
            <a:ext cx="39319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4528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Verb.1S × 4 商用モデル × 1,000 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325880"/>
            <a:ext cx="43891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4528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4 モデル（Claude / GPT-4o / GPT-5 / Gemini）間での
キャリブレーション差を測定（RQ1・RQ2）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16433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4,000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219456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169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実験②
プロンプト
手法比較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017520"/>
            <a:ext cx="39319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14452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Verb.2S + Ling.1S × 1 モデル × 1,000 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017520"/>
            <a:ext cx="43891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14452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3 プロンプト方式の比較（RQ3）
Verb.2S は 2 コール/問なので 2,000 コール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333502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3,000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2194560" cy="1508760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861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実験③
日英
比較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709160"/>
            <a:ext cx="39319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83616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</a:rPr>
              <a:t>英語版 × 1 モデル × 1,000 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709160"/>
            <a:ext cx="438912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83616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日本語と英語で同一タスクを比較（RQ4）
英語対応データセットで同条件実施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502666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6AA"/>
                </a:solidFill>
              </a:rPr>
              <a:t>1,000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92240"/>
            <a:ext cx="11457432" cy="429768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合計 8,000 コール（×2 倍バッファ含む 16,000 コール）　≈  $20 USD  ≈  3,000 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5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Appendix：採用しなかった指標の計算式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37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55555"/>
                </a:solidFill>
              </a:rPr>
              <a:t>24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東京理科大学 経営システム工学科 秦野研究室　指田一茶　2026-06-24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（値の範囲・採用しなかった理由はスライド 9 参照）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828800" cy="11430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290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325880"/>
            <a:ext cx="9601200" cy="1143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40208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MCE = max_{m=1,...,M} | acc(B_m) − conf(B_m)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5928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等幅ビン M=10。重み付き平均の代わりに最大値を取る。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828800" cy="11430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549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651760"/>
            <a:ext cx="9601200" cy="1143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7279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ACE = Σ_{m=1}^{M} (1/M) × | acc(B_m) − conf(B_m)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1851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等質量ビン（各ビンのサンプル数を均等化）。ECE の 1/M は等質量ビンの場合に成立。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1828800" cy="11430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808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Log-loss / NLL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3977640"/>
            <a:ext cx="9601200" cy="1143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0538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NLL = −(1/N) × Σ_{i=1}^{N} [ y_i·log(p_i) + (1−y_i)·log(1−p_i)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5110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p_i→0 や p_i→1 のとき値が発散。LLM の過信傾向で不安定になりやすい。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1828800" cy="11430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5067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SCE / cw-ECE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5303520"/>
            <a:ext cx="9601200" cy="1143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537972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SCE = (1/K) × Σ_{k=1}^{K} Σ_{b=1}^{B} (n_{b,k}/N) × | acc(b,k) − conf(b,k) 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83692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K はクラス数。本研究は正解/不正解の二値なのでクラス別拡張は不要。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