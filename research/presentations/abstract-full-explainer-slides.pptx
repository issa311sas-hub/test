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10698480" cy="1645920"/>
          </a:xfrm>
          <a:prstGeom prst="rect">
            <a:avLst/>
          </a:prstGeom>
          <a:noFill/>
        </p:spPr>
        <p:txBody>
          <a:bodyPr wrap="square">
            <a:spAutoFit/>
          </a:bodyPr>
          <a:lstStyle/>
          <a:p>
            <a:pPr algn="ctr"/>
            <a:r>
              <a:rPr sz="3400" b="1" i="0">
                <a:solidFill>
                  <a:srgbClr val="FFFFFF"/>
                </a:solidFill>
              </a:rPr>
              <a:t>確信度プロンプト方式の比較による
LLMキャリブレーション性能の検証</a:t>
            </a:r>
          </a:p>
        </p:txBody>
      </p:sp>
      <p:sp>
        <p:nvSpPr>
          <p:cNvPr id="4" name="TextBox 3"/>
          <p:cNvSpPr txBox="1"/>
          <p:nvPr/>
        </p:nvSpPr>
        <p:spPr>
          <a:xfrm>
            <a:off x="731520" y="2743200"/>
            <a:ext cx="10698480" cy="548640"/>
          </a:xfrm>
          <a:prstGeom prst="rect">
            <a:avLst/>
          </a:prstGeom>
          <a:noFill/>
        </p:spPr>
        <p:txBody>
          <a:bodyPr wrap="square">
            <a:spAutoFit/>
          </a:bodyPr>
          <a:lstStyle/>
          <a:p>
            <a:pPr algn="ctr"/>
            <a:r>
              <a:rPr sz="2000" b="0" i="1">
                <a:solidFill>
                  <a:srgbClr val="FFFFFF"/>
                </a:solidFill>
              </a:rPr>
              <a:t>説明用資料（フル版）：abstract_full_v1.tex の内容を全て収録</a:t>
            </a:r>
          </a:p>
        </p:txBody>
      </p:sp>
      <p:sp>
        <p:nvSpPr>
          <p:cNvPr id="5" name="TextBox 4"/>
          <p:cNvSpPr txBox="1"/>
          <p:nvPr/>
        </p:nvSpPr>
        <p:spPr>
          <a:xfrm>
            <a:off x="731520" y="4206240"/>
            <a:ext cx="10698480" cy="548640"/>
          </a:xfrm>
          <a:prstGeom prst="rect">
            <a:avLst/>
          </a:prstGeom>
          <a:noFill/>
        </p:spPr>
        <p:txBody>
          <a:bodyPr wrap="square">
            <a:spAutoFit/>
          </a:bodyPr>
          <a:lstStyle/>
          <a:p>
            <a:pPr algn="ctr"/>
            <a:r>
              <a:rPr sz="2200" b="0" i="0">
                <a:solidFill>
                  <a:srgbClr val="FFFFFF"/>
                </a:solidFill>
              </a:rPr>
              <a:t>グループE　秦野研究室　7422048　指田一茶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目次</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2/34</a:t>
            </a:r>
          </a:p>
        </p:txBody>
      </p:sp>
      <p:sp>
        <p:nvSpPr>
          <p:cNvPr id="5" name="TextBox 4"/>
          <p:cNvSpPr txBox="1"/>
          <p:nvPr/>
        </p:nvSpPr>
        <p:spPr>
          <a:xfrm>
            <a:off x="731520" y="1554480"/>
            <a:ext cx="10515600" cy="4114800"/>
          </a:xfrm>
          <a:prstGeom prst="rect">
            <a:avLst/>
          </a:prstGeom>
          <a:noFill/>
        </p:spPr>
        <p:txBody>
          <a:bodyPr wrap="square">
            <a:spAutoFit/>
          </a:bodyPr>
          <a:lstStyle/>
          <a:p>
            <a:pPr>
              <a:spcBef>
                <a:spcPts val="1600"/>
              </a:spcBef>
            </a:pPr>
            <a:r>
              <a:rPr sz="2200">
                <a:solidFill>
                  <a:srgbClr val="14141E"/>
                </a:solidFill>
              </a:rPr>
              <a:t>・研究背景（ハルシネーション・キャリブレーション・先行研究3本・研究の論理チェーン）</a:t>
            </a:r>
          </a:p>
          <a:p>
            <a:pPr>
              <a:spcBef>
                <a:spcPts val="1600"/>
              </a:spcBef>
            </a:pPr>
            <a:r>
              <a:rPr sz="2200">
                <a:solidFill>
                  <a:srgbClr val="14141E"/>
                </a:solidFill>
              </a:rPr>
              <a:t>・研究目的（主目的・付随目的・サブRQ）</a:t>
            </a:r>
          </a:p>
          <a:p>
            <a:pPr>
              <a:spcBef>
                <a:spcPts val="1600"/>
              </a:spcBef>
            </a:pPr>
            <a:r>
              <a:rPr sz="2200">
                <a:solidFill>
                  <a:srgbClr val="14141E"/>
                </a:solidFill>
              </a:rPr>
              <a:t>・研究の方針（モデル・データセット・プロンプト全文・評価指標・仮説）</a:t>
            </a:r>
          </a:p>
          <a:p>
            <a:pPr>
              <a:spcBef>
                <a:spcPts val="1600"/>
              </a:spcBef>
            </a:pPr>
            <a:r>
              <a:rPr sz="2200">
                <a:solidFill>
                  <a:srgbClr val="14141E"/>
                </a:solidFill>
              </a:rPr>
              <a:t>・現在の進捗</a:t>
            </a:r>
          </a:p>
          <a:p>
            <a:pPr>
              <a:spcBef>
                <a:spcPts val="1600"/>
              </a:spcBef>
            </a:pPr>
            <a:r>
              <a:rPr sz="2200">
                <a:solidFill>
                  <a:srgbClr val="14141E"/>
                </a:solidFill>
              </a:rPr>
              <a:t>・今後の予定（スケジュール・Murphy分解・リスク）</a:t>
            </a:r>
          </a:p>
          <a:p>
            <a:pPr>
              <a:spcBef>
                <a:spcPts val="1600"/>
              </a:spcBef>
            </a:pPr>
            <a:r>
              <a:rPr sz="2200">
                <a:solidFill>
                  <a:srgbClr val="14141E"/>
                </a:solidFill>
              </a:rPr>
              <a:t>・参考文献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問題意識：ハルシネーションとキャリブレーション</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3/34</a:t>
            </a:r>
          </a:p>
        </p:txBody>
      </p:sp>
      <p:sp>
        <p:nvSpPr>
          <p:cNvPr id="5" name="TextBox 4"/>
          <p:cNvSpPr txBox="1"/>
          <p:nvPr/>
        </p:nvSpPr>
        <p:spPr>
          <a:xfrm>
            <a:off x="640080" y="1554480"/>
            <a:ext cx="10881360" cy="4389120"/>
          </a:xfrm>
          <a:prstGeom prst="rect">
            <a:avLst/>
          </a:prstGeom>
          <a:noFill/>
        </p:spPr>
        <p:txBody>
          <a:bodyPr wrap="square">
            <a:spAutoFit/>
          </a:bodyPr>
          <a:lstStyle/>
          <a:p>
            <a:pPr>
              <a:spcBef>
                <a:spcPts val="1400"/>
              </a:spcBef>
            </a:pPr>
            <a:r>
              <a:rPr sz="2000">
                <a:solidFill>
                  <a:srgbClr val="14141E"/>
                </a:solidFill>
              </a:rPr>
              <a:t>・LLMは教育・業務・日常生活へ急速に普及している</a:t>
            </a:r>
          </a:p>
          <a:p>
            <a:pPr>
              <a:spcBef>
                <a:spcPts val="1400"/>
              </a:spcBef>
            </a:pPr>
            <a:r>
              <a:rPr sz="2000">
                <a:solidFill>
                  <a:srgbClr val="14141E"/>
                </a:solidFill>
              </a:rPr>
              <a:t>・「ハルシネーション」：誤情報を自信満々に生成する問題が未解決（Ji et al. 2023）</a:t>
            </a:r>
          </a:p>
          <a:p>
            <a:pPr>
              <a:spcBef>
                <a:spcPts val="1400"/>
              </a:spcBef>
            </a:pPr>
            <a:r>
              <a:rPr sz="2000">
                <a:solidFill>
                  <a:srgbClr val="14141E"/>
                </a:solidFill>
              </a:rPr>
              <a:t>・問題の本質は「確信度」と「実際の正答率」の乖離にある</a:t>
            </a:r>
          </a:p>
          <a:p>
            <a:pPr>
              <a:spcBef>
                <a:spcPts val="1400"/>
              </a:spcBef>
            </a:pPr>
            <a:r>
              <a:rPr sz="2000">
                <a:solidFill>
                  <a:srgbClr val="14141E"/>
                </a:solidFill>
              </a:rPr>
              <a:t>・確信度が正答率と一致していれば（well-calibrated），利用者はリスク判断の手がかりにできる</a:t>
            </a:r>
          </a:p>
          <a:p>
            <a:pPr>
              <a:spcBef>
                <a:spcPts val="1400"/>
              </a:spcBef>
            </a:pPr>
            <a:r>
              <a:rPr sz="2000">
                <a:solidFill>
                  <a:srgbClr val="14141E"/>
                </a:solidFill>
              </a:rPr>
              <a:t>・この性質を「キャリブレーション（calibration）」と呼び，ECE等の指標で定量化する（Guo et al. 2017）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なぜプロンプト設計なのか：手法の全体マップ</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4/34</a:t>
            </a:r>
          </a:p>
        </p:txBody>
      </p:sp>
      <p:graphicFrame>
        <p:nvGraphicFramePr>
          <p:cNvPr id="5" name="Table 4"/>
          <p:cNvGraphicFramePr>
            <a:graphicFrameLocks noGrp="1"/>
          </p:cNvGraphicFramePr>
          <p:nvPr/>
        </p:nvGraphicFramePr>
        <p:xfrm>
          <a:off x="548640" y="1371600"/>
          <a:ext cx="11064240" cy="2011680"/>
        </p:xfrm>
        <a:graphic>
          <a:graphicData uri="http://schemas.openxmlformats.org/drawingml/2006/table">
            <a:tbl>
              <a:tblPr firstRow="1" bandRow="1">
                <a:tableStyleId>{5C22544A-7EE6-4342-B048-85BDC9FD1C3A}</a:tableStyleId>
              </a:tblPr>
              <a:tblGrid>
                <a:gridCol w="3688080"/>
                <a:gridCol w="3688080"/>
                <a:gridCol w="3688080"/>
              </a:tblGrid>
              <a:tr h="502920">
                <a:tc>
                  <a:txBody>
                    <a:bodyPr/>
                    <a:lstStyle/>
                    <a:p>
                      <a:pPr algn="ctr"/>
                      <a:r>
                        <a:rPr sz="1800" b="1">
                          <a:solidFill>
                            <a:srgbClr val="FFFFFF"/>
                          </a:solidFill>
                        </a:rPr>
                        <a:t>系統</a:t>
                      </a:r>
                    </a:p>
                  </a:txBody>
                  <a:tcPr>
                    <a:solidFill>
                      <a:srgbClr val="1A56AA"/>
                    </a:solidFill>
                  </a:tcPr>
                </a:tc>
                <a:tc>
                  <a:txBody>
                    <a:bodyPr/>
                    <a:lstStyle/>
                    <a:p>
                      <a:pPr algn="ctr"/>
                      <a:r>
                        <a:rPr sz="1800" b="1">
                          <a:solidFill>
                            <a:srgbClr val="FFFFFF"/>
                          </a:solidFill>
                        </a:rPr>
                        <a:t>代表手法</a:t>
                      </a:r>
                    </a:p>
                  </a:txBody>
                  <a:tcPr>
                    <a:solidFill>
                      <a:srgbClr val="1A56AA"/>
                    </a:solidFill>
                  </a:tcPr>
                </a:tc>
                <a:tc>
                  <a:txBody>
                    <a:bodyPr/>
                    <a:lstStyle/>
                    <a:p>
                      <a:pPr algn="ctr"/>
                      <a:r>
                        <a:rPr sz="1800" b="1">
                          <a:solidFill>
                            <a:srgbClr val="FFFFFF"/>
                          </a:solidFill>
                        </a:rPr>
                        <a:t>前提となるアクセス</a:t>
                      </a:r>
                    </a:p>
                  </a:txBody>
                  <a:tcPr>
                    <a:solidFill>
                      <a:srgbClr val="1A56AA"/>
                    </a:solidFill>
                  </a:tcPr>
                </a:tc>
              </a:tr>
              <a:tr h="502920">
                <a:tc>
                  <a:txBody>
                    <a:bodyPr/>
                    <a:lstStyle/>
                    <a:p>
                      <a:r>
                        <a:rPr sz="1600">
                          <a:solidFill>
                            <a:srgbClr val="14141E"/>
                          </a:solidFill>
                        </a:rPr>
                        <a:t>Post-hoc補正</a:t>
                      </a:r>
                    </a:p>
                  </a:txBody>
                  <a:tcPr>
                    <a:solidFill>
                      <a:srgbClr val="FFFFFF"/>
                    </a:solidFill>
                  </a:tcPr>
                </a:tc>
                <a:tc>
                  <a:txBody>
                    <a:bodyPr/>
                    <a:lstStyle/>
                    <a:p>
                      <a:r>
                        <a:rPr sz="1600">
                          <a:solidFill>
                            <a:srgbClr val="14141E"/>
                          </a:solidFill>
                        </a:rPr>
                        <a:t>Temperature Scaling, Adaptive Temp. Scaling, Prior Adaptation</a:t>
                      </a:r>
                    </a:p>
                  </a:txBody>
                  <a:tcPr>
                    <a:solidFill>
                      <a:srgbClr val="FFFFFF"/>
                    </a:solidFill>
                  </a:tcPr>
                </a:tc>
                <a:tc>
                  <a:txBody>
                    <a:bodyPr/>
                    <a:lstStyle/>
                    <a:p>
                      <a:r>
                        <a:rPr sz="1600">
                          <a:solidFill>
                            <a:srgbClr val="14141E"/>
                          </a:solidFill>
                        </a:rPr>
                        <a:t>内部logitsへのアクセス</a:t>
                      </a:r>
                    </a:p>
                  </a:txBody>
                  <a:tcPr>
                    <a:solidFill>
                      <a:srgbClr val="FFFFFF"/>
                    </a:solidFill>
                  </a:tcPr>
                </a:tc>
              </a:tr>
              <a:tr h="502920">
                <a:tc>
                  <a:txBody>
                    <a:bodyPr/>
                    <a:lstStyle/>
                    <a:p>
                      <a:r>
                        <a:rPr sz="1600">
                          <a:solidFill>
                            <a:srgbClr val="14141E"/>
                          </a:solidFill>
                        </a:rPr>
                        <a:t>ファインチューニング</a:t>
                      </a:r>
                    </a:p>
                  </a:txBody>
                  <a:tcPr>
                    <a:solidFill>
                      <a:srgbClr val="ECF1F9"/>
                    </a:solidFill>
                  </a:tcPr>
                </a:tc>
                <a:tc>
                  <a:txBody>
                    <a:bodyPr/>
                    <a:lstStyle/>
                    <a:p>
                      <a:r>
                        <a:rPr sz="1600">
                          <a:solidFill>
                            <a:srgbClr val="14141E"/>
                          </a:solidFill>
                        </a:rPr>
                        <a:t>Calibration-Aware FT, ConfTuner</a:t>
                      </a:r>
                    </a:p>
                  </a:txBody>
                  <a:tcPr>
                    <a:solidFill>
                      <a:srgbClr val="ECF1F9"/>
                    </a:solidFill>
                  </a:tcPr>
                </a:tc>
                <a:tc>
                  <a:txBody>
                    <a:bodyPr/>
                    <a:lstStyle/>
                    <a:p>
                      <a:r>
                        <a:rPr sz="1600">
                          <a:solidFill>
                            <a:srgbClr val="14141E"/>
                          </a:solidFill>
                        </a:rPr>
                        <a:t>モデルパラメータへのアクセス</a:t>
                      </a:r>
                    </a:p>
                  </a:txBody>
                  <a:tcPr>
                    <a:solidFill>
                      <a:srgbClr val="ECF1F9"/>
                    </a:solidFill>
                  </a:tcPr>
                </a:tc>
              </a:tr>
              <a:tr h="502920">
                <a:tc>
                  <a:txBody>
                    <a:bodyPr/>
                    <a:lstStyle/>
                    <a:p>
                      <a:r>
                        <a:rPr sz="1600">
                          <a:solidFill>
                            <a:srgbClr val="14141E"/>
                          </a:solidFill>
                        </a:rPr>
                        <a:t>プロンプト設計</a:t>
                      </a:r>
                    </a:p>
                  </a:txBody>
                  <a:tcPr>
                    <a:solidFill>
                      <a:srgbClr val="FFFFFF"/>
                    </a:solidFill>
                  </a:tcPr>
                </a:tc>
                <a:tc>
                  <a:txBody>
                    <a:bodyPr/>
                    <a:lstStyle/>
                    <a:p>
                      <a:r>
                        <a:rPr sz="1600">
                          <a:solidFill>
                            <a:srgbClr val="14141E"/>
                          </a:solidFill>
                        </a:rPr>
                        <a:t>Verbalized Confidence</a:t>
                      </a:r>
                    </a:p>
                  </a:txBody>
                  <a:tcPr>
                    <a:solidFill>
                      <a:srgbClr val="FFFFFF"/>
                    </a:solidFill>
                  </a:tcPr>
                </a:tc>
                <a:tc>
                  <a:txBody>
                    <a:bodyPr/>
                    <a:lstStyle/>
                    <a:p>
                      <a:r>
                        <a:rPr sz="1600">
                          <a:solidFill>
                            <a:srgbClr val="14141E"/>
                          </a:solidFill>
                        </a:rPr>
                        <a:t>不要（プロンプトのみ）</a:t>
                      </a:r>
                    </a:p>
                  </a:txBody>
                  <a:tcPr>
                    <a:solidFill>
                      <a:srgbClr val="FFFFFF"/>
                    </a:solidFill>
                  </a:tcPr>
                </a:tc>
              </a:tr>
            </a:tbl>
          </a:graphicData>
        </a:graphic>
      </p:graphicFrame>
      <p:sp>
        <p:nvSpPr>
          <p:cNvPr id="6" name="TextBox 5"/>
          <p:cNvSpPr txBox="1"/>
          <p:nvPr/>
        </p:nvSpPr>
        <p:spPr>
          <a:xfrm>
            <a:off x="640080" y="3657600"/>
            <a:ext cx="10881360" cy="2011680"/>
          </a:xfrm>
          <a:prstGeom prst="rect">
            <a:avLst/>
          </a:prstGeom>
          <a:noFill/>
        </p:spPr>
        <p:txBody>
          <a:bodyPr wrap="square">
            <a:spAutoFit/>
          </a:bodyPr>
          <a:lstStyle/>
          <a:p>
            <a:pPr>
              <a:spcBef>
                <a:spcPts val="1200"/>
              </a:spcBef>
            </a:pPr>
            <a:r>
              <a:rPr sz="2000">
                <a:solidFill>
                  <a:srgbClr val="14141E"/>
                </a:solidFill>
              </a:rPr>
              <a:t>・GPT-4o・Claude・GeminiのようなAPIはlogits・パラメータへのアクセスを提供しない</a:t>
            </a:r>
          </a:p>
          <a:p>
            <a:pPr>
              <a:spcBef>
                <a:spcPts val="1200"/>
              </a:spcBef>
            </a:pPr>
            <a:r>
              <a:rPr sz="2000">
                <a:solidFill>
                  <a:srgbClr val="14141E"/>
                </a:solidFill>
              </a:rPr>
              <a:t>・Xie et al. 2024（Black-Box Calibration Survey）はこの制約を専用サーベイが必要なほど本質的と指摘</a:t>
            </a:r>
          </a:p>
          <a:p>
            <a:pPr>
              <a:spcBef>
                <a:spcPts val="1200"/>
              </a:spcBef>
            </a:pPr>
            <a:r>
              <a:rPr sz="2000">
                <a:solidFill>
                  <a:srgbClr val="14141E"/>
                </a:solidFill>
              </a:rPr>
              <a:t>・→ 一般利用者が商用APIに今すぐ適用できる手段はプロンプト設計のみ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先行研究1：Tian et al. 2023「Just Ask for Calibration」</a:t>
            </a:r>
          </a:p>
        </p:txBody>
      </p:sp>
      <p:sp>
        <p:nvSpPr>
          <p:cNvPr id="4" name="TextBox 3"/>
          <p:cNvSpPr txBox="1"/>
          <p:nvPr/>
        </p:nvSpPr>
        <p:spPr>
          <a:xfrm>
            <a:off x="457200" y="777240"/>
            <a:ext cx="10607040" cy="365760"/>
          </a:xfrm>
          <a:prstGeom prst="rect">
            <a:avLst/>
          </a:prstGeom>
          <a:noFill/>
        </p:spPr>
        <p:txBody>
          <a:bodyPr wrap="square">
            <a:spAutoFit/>
          </a:bodyPr>
          <a:lstStyle/>
          <a:p>
            <a:pPr algn="l"/>
            <a:r>
              <a:rPr sz="1800" b="0" i="1">
                <a:solidFill>
                  <a:srgbClr val="1A56AA"/>
                </a:solidFill>
              </a:rPr>
              <a:t>EMNLP 2023</a:t>
            </a:r>
          </a:p>
        </p:txBody>
      </p:sp>
      <p:sp>
        <p:nvSpPr>
          <p:cNvPr id="5" name="TextBox 4"/>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5/34</a:t>
            </a:r>
          </a:p>
        </p:txBody>
      </p:sp>
      <p:sp>
        <p:nvSpPr>
          <p:cNvPr id="6" name="TextBox 5"/>
          <p:cNvSpPr txBox="1"/>
          <p:nvPr/>
        </p:nvSpPr>
        <p:spPr>
          <a:xfrm>
            <a:off x="548640" y="1280160"/>
            <a:ext cx="10698480" cy="411480"/>
          </a:xfrm>
          <a:prstGeom prst="rect">
            <a:avLst/>
          </a:prstGeom>
          <a:noFill/>
        </p:spPr>
        <p:txBody>
          <a:bodyPr wrap="square">
            <a:spAutoFit/>
          </a:bodyPr>
          <a:lstStyle/>
          <a:p>
            <a:pPr algn="l"/>
            <a:r>
              <a:rPr sz="2000" b="1" i="0">
                <a:solidFill>
                  <a:srgbClr val="1A56AA"/>
                </a:solidFill>
              </a:rPr>
              <a:t>先行研究の内容</a:t>
            </a:r>
          </a:p>
        </p:txBody>
      </p:sp>
      <p:sp>
        <p:nvSpPr>
          <p:cNvPr id="7" name="TextBox 6"/>
          <p:cNvSpPr txBox="1"/>
          <p:nvPr/>
        </p:nvSpPr>
        <p:spPr>
          <a:xfrm>
            <a:off x="548640" y="1691640"/>
            <a:ext cx="11064240" cy="2377440"/>
          </a:xfrm>
          <a:prstGeom prst="rect">
            <a:avLst/>
          </a:prstGeom>
          <a:noFill/>
        </p:spPr>
        <p:txBody>
          <a:bodyPr wrap="square">
            <a:spAutoFit/>
          </a:bodyPr>
          <a:lstStyle/>
          <a:p>
            <a:pPr>
              <a:spcBef>
                <a:spcPts val="800"/>
              </a:spcBef>
            </a:pPr>
            <a:r>
              <a:rPr sz="1800">
                <a:solidFill>
                  <a:srgbClr val="14141E"/>
                </a:solidFill>
              </a:rPr>
              <a:t>・RQ: プロンプトだけで確信度を引き出した場合，内部確率より良い較正が得られるか</a:t>
            </a:r>
          </a:p>
          <a:p>
            <a:pPr>
              <a:spcBef>
                <a:spcPts val="800"/>
              </a:spcBef>
            </a:pPr>
            <a:r>
              <a:rPr sz="1800">
                <a:solidFill>
                  <a:srgbClr val="14141E"/>
                </a:solidFill>
              </a:rPr>
              <a:t>・GPT-3.5/GPT-4/LLaMA-2-Chat等，TriviaQA・SciQ・TruthfulQA等で検証</a:t>
            </a:r>
          </a:p>
          <a:p>
            <a:pPr>
              <a:spcBef>
                <a:spcPts val="800"/>
              </a:spcBef>
            </a:pPr>
            <a:r>
              <a:rPr sz="1800">
                <a:solidFill>
                  <a:srgbClr val="14141E"/>
                </a:solidFill>
              </a:rPr>
              <a:t>・4方式を比較：logprob／linguistic／verbal numeric／top-k（複数候補同時提示）</a:t>
            </a:r>
          </a:p>
          <a:p>
            <a:pPr>
              <a:spcBef>
                <a:spcPts val="800"/>
              </a:spcBef>
            </a:pPr>
            <a:r>
              <a:rPr sz="1800">
                <a:solidFill>
                  <a:srgbClr val="14141E"/>
                </a:solidFill>
              </a:rPr>
              <a:t>・結果：RLHF後はlogprobベースの較正が崩壊するが，verbalized confidenceは良好</a:t>
            </a:r>
          </a:p>
          <a:p>
            <a:pPr>
              <a:spcBef>
                <a:spcPts val="800"/>
              </a:spcBef>
            </a:pPr>
            <a:r>
              <a:rPr sz="1800">
                <a:solidFill>
                  <a:srgbClr val="14141E"/>
                </a:solidFill>
              </a:rPr>
              <a:t>・特にtop-k方式（複数候補同時提示）が最も良好。ECEを約50%削減</a:t>
            </a:r>
          </a:p>
        </p:txBody>
      </p:sp>
      <p:sp>
        <p:nvSpPr>
          <p:cNvPr id="8" name="Rectangle 7"/>
          <p:cNvSpPr/>
          <p:nvPr/>
        </p:nvSpPr>
        <p:spPr>
          <a:xfrm>
            <a:off x="457200" y="4160520"/>
            <a:ext cx="11247120" cy="1179576"/>
          </a:xfrm>
          <a:prstGeom prst="rect">
            <a:avLst/>
          </a:prstGeom>
          <a:solidFill>
            <a:srgbClr val="FB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51960"/>
            <a:ext cx="10698480" cy="365760"/>
          </a:xfrm>
          <a:prstGeom prst="rect">
            <a:avLst/>
          </a:prstGeom>
          <a:noFill/>
        </p:spPr>
        <p:txBody>
          <a:bodyPr wrap="square">
            <a:spAutoFit/>
          </a:bodyPr>
          <a:lstStyle/>
          <a:p>
            <a:pPr algn="l"/>
            <a:r>
              <a:rPr sz="2000" b="1" i="0">
                <a:solidFill>
                  <a:srgbClr val="B02A1E"/>
                </a:solidFill>
              </a:rPr>
              <a:t>残された研究の余地</a:t>
            </a:r>
          </a:p>
        </p:txBody>
      </p:sp>
      <p:sp>
        <p:nvSpPr>
          <p:cNvPr id="10" name="TextBox 9"/>
          <p:cNvSpPr txBox="1"/>
          <p:nvPr/>
        </p:nvSpPr>
        <p:spPr>
          <a:xfrm>
            <a:off x="640080" y="4663440"/>
            <a:ext cx="10881360" cy="1463040"/>
          </a:xfrm>
          <a:prstGeom prst="rect">
            <a:avLst/>
          </a:prstGeom>
          <a:noFill/>
        </p:spPr>
        <p:txBody>
          <a:bodyPr wrap="square">
            <a:spAutoFit/>
          </a:bodyPr>
          <a:lstStyle/>
          <a:p>
            <a:pPr>
              <a:spcBef>
                <a:spcPts val="600"/>
              </a:spcBef>
            </a:pPr>
            <a:r>
              <a:rPr sz="1800">
                <a:solidFill>
                  <a:srgbClr val="14141E"/>
                </a:solidFill>
              </a:rPr>
              <a:t>・検証は英語のQAタスクのみ。日本語モデル・タスクでの再現性は未検証</a:t>
            </a:r>
          </a:p>
          <a:p>
            <a:pPr>
              <a:spcBef>
                <a:spcPts val="600"/>
              </a:spcBef>
            </a:pPr>
            <a:r>
              <a:rPr sz="1800">
                <a:solidFill>
                  <a:srgbClr val="14141E"/>
                </a:solidFill>
              </a:rPr>
              <a:t>・top-k方式はAPI呼び出しコストが増大するため，本研究では不採用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補足：Tian 2023 の4方式とRLHFの影響</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6/34</a:t>
            </a:r>
          </a:p>
        </p:txBody>
      </p:sp>
      <p:graphicFrame>
        <p:nvGraphicFramePr>
          <p:cNvPr id="5" name="Table 4"/>
          <p:cNvGraphicFramePr>
            <a:graphicFrameLocks noGrp="1"/>
          </p:cNvGraphicFramePr>
          <p:nvPr/>
        </p:nvGraphicFramePr>
        <p:xfrm>
          <a:off x="548640" y="137160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438912">
                <a:tc>
                  <a:txBody>
                    <a:bodyPr/>
                    <a:lstStyle/>
                    <a:p>
                      <a:pPr algn="ctr"/>
                      <a:r>
                        <a:rPr sz="1800" b="1">
                          <a:solidFill>
                            <a:srgbClr val="FFFFFF"/>
                          </a:solidFill>
                        </a:rPr>
                        <a:t>方式</a:t>
                      </a:r>
                    </a:p>
                  </a:txBody>
                  <a:tcPr>
                    <a:solidFill>
                      <a:srgbClr val="1A56AA"/>
                    </a:solidFill>
                  </a:tcPr>
                </a:tc>
                <a:tc>
                  <a:txBody>
                    <a:bodyPr/>
                    <a:lstStyle/>
                    <a:p>
                      <a:pPr algn="ctr"/>
                      <a:r>
                        <a:rPr sz="1800" b="1">
                          <a:solidFill>
                            <a:srgbClr val="FFFFFF"/>
                          </a:solidFill>
                        </a:rPr>
                        <a:t>内容</a:t>
                      </a:r>
                    </a:p>
                  </a:txBody>
                  <a:tcPr>
                    <a:solidFill>
                      <a:srgbClr val="1A56AA"/>
                    </a:solidFill>
                  </a:tcPr>
                </a:tc>
                <a:tc>
                  <a:txBody>
                    <a:bodyPr/>
                    <a:lstStyle/>
                    <a:p>
                      <a:pPr algn="ctr"/>
                      <a:r>
                        <a:rPr sz="1800" b="1">
                          <a:solidFill>
                            <a:srgbClr val="FFFFFF"/>
                          </a:solidFill>
                        </a:rPr>
                        <a:t>傾向</a:t>
                      </a:r>
                    </a:p>
                  </a:txBody>
                  <a:tcPr>
                    <a:solidFill>
                      <a:srgbClr val="1A56AA"/>
                    </a:solidFill>
                  </a:tcPr>
                </a:tc>
              </a:tr>
              <a:tr h="438912">
                <a:tc>
                  <a:txBody>
                    <a:bodyPr/>
                    <a:lstStyle/>
                    <a:p>
                      <a:r>
                        <a:rPr sz="1600">
                          <a:solidFill>
                            <a:srgbClr val="14141E"/>
                          </a:solidFill>
                        </a:rPr>
                        <a:t>logprob</a:t>
                      </a:r>
                    </a:p>
                  </a:txBody>
                  <a:tcPr>
                    <a:solidFill>
                      <a:srgbClr val="FFFFFF"/>
                    </a:solidFill>
                  </a:tcPr>
                </a:tc>
                <a:tc>
                  <a:txBody>
                    <a:bodyPr/>
                    <a:lstStyle/>
                    <a:p>
                      <a:r>
                        <a:rPr sz="1600">
                          <a:solidFill>
                            <a:srgbClr val="14141E"/>
                          </a:solidFill>
                        </a:rPr>
                        <a:t>内部確率をそのまま使う</a:t>
                      </a:r>
                    </a:p>
                  </a:txBody>
                  <a:tcPr>
                    <a:solidFill>
                      <a:srgbClr val="FFFFFF"/>
                    </a:solidFill>
                  </a:tcPr>
                </a:tc>
                <a:tc>
                  <a:txBody>
                    <a:bodyPr/>
                    <a:lstStyle/>
                    <a:p>
                      <a:r>
                        <a:rPr sz="1600">
                          <a:solidFill>
                            <a:srgbClr val="14141E"/>
                          </a:solidFill>
                        </a:rPr>
                        <a:t>RLHF後は較正が崩壊</a:t>
                      </a:r>
                    </a:p>
                  </a:txBody>
                  <a:tcPr>
                    <a:solidFill>
                      <a:srgbClr val="FFFFFF"/>
                    </a:solidFill>
                  </a:tcPr>
                </a:tc>
              </a:tr>
              <a:tr h="438912">
                <a:tc>
                  <a:txBody>
                    <a:bodyPr/>
                    <a:lstStyle/>
                    <a:p>
                      <a:r>
                        <a:rPr sz="1600">
                          <a:solidFill>
                            <a:srgbClr val="14141E"/>
                          </a:solidFill>
                        </a:rPr>
                        <a:t>linguistic</a:t>
                      </a:r>
                    </a:p>
                  </a:txBody>
                  <a:tcPr>
                    <a:solidFill>
                      <a:srgbClr val="ECF1F9"/>
                    </a:solidFill>
                  </a:tcPr>
                </a:tc>
                <a:tc>
                  <a:txBody>
                    <a:bodyPr/>
                    <a:lstStyle/>
                    <a:p>
                      <a:r>
                        <a:rPr sz="1600">
                          <a:solidFill>
                            <a:srgbClr val="14141E"/>
                          </a:solidFill>
                        </a:rPr>
                        <a:t>「どれくらい自信があるか」と言葉で聞く</a:t>
                      </a:r>
                    </a:p>
                  </a:txBody>
                  <a:tcPr>
                    <a:solidFill>
                      <a:srgbClr val="ECF1F9"/>
                    </a:solidFill>
                  </a:tcPr>
                </a:tc>
                <a:tc>
                  <a:txBody>
                    <a:bodyPr/>
                    <a:lstStyle/>
                    <a:p>
                      <a:r>
                        <a:rPr sz="1600">
                          <a:solidFill>
                            <a:srgbClr val="14141E"/>
                          </a:solidFill>
                        </a:rPr>
                        <a:t>logprobより良好</a:t>
                      </a:r>
                    </a:p>
                  </a:txBody>
                  <a:tcPr>
                    <a:solidFill>
                      <a:srgbClr val="ECF1F9"/>
                    </a:solidFill>
                  </a:tcPr>
                </a:tc>
              </a:tr>
              <a:tr h="438912">
                <a:tc>
                  <a:txBody>
                    <a:bodyPr/>
                    <a:lstStyle/>
                    <a:p>
                      <a:r>
                        <a:rPr sz="1600">
                          <a:solidFill>
                            <a:srgbClr val="14141E"/>
                          </a:solidFill>
                        </a:rPr>
                        <a:t>verbal numeric</a:t>
                      </a:r>
                    </a:p>
                  </a:txBody>
                  <a:tcPr>
                    <a:solidFill>
                      <a:srgbClr val="FFFFFF"/>
                    </a:solidFill>
                  </a:tcPr>
                </a:tc>
                <a:tc>
                  <a:txBody>
                    <a:bodyPr/>
                    <a:lstStyle/>
                    <a:p>
                      <a:r>
                        <a:rPr sz="1600">
                          <a:solidFill>
                            <a:srgbClr val="14141E"/>
                          </a:solidFill>
                        </a:rPr>
                        <a:t>0-100の数値で答えさせる</a:t>
                      </a:r>
                    </a:p>
                  </a:txBody>
                  <a:tcPr>
                    <a:solidFill>
                      <a:srgbClr val="FFFFFF"/>
                    </a:solidFill>
                  </a:tcPr>
                </a:tc>
                <a:tc>
                  <a:txBody>
                    <a:bodyPr/>
                    <a:lstStyle/>
                    <a:p>
                      <a:r>
                        <a:rPr sz="1600">
                          <a:solidFill>
                            <a:srgbClr val="14141E"/>
                          </a:solidFill>
                        </a:rPr>
                        <a:t>最も良好な部類</a:t>
                      </a:r>
                    </a:p>
                  </a:txBody>
                  <a:tcPr>
                    <a:solidFill>
                      <a:srgbClr val="FFFFFF"/>
                    </a:solidFill>
                  </a:tcPr>
                </a:tc>
              </a:tr>
              <a:tr h="438912">
                <a:tc>
                  <a:txBody>
                    <a:bodyPr/>
                    <a:lstStyle/>
                    <a:p>
                      <a:r>
                        <a:rPr sz="1600">
                          <a:solidFill>
                            <a:srgbClr val="14141E"/>
                          </a:solidFill>
                        </a:rPr>
                        <a:t>top-k</a:t>
                      </a:r>
                    </a:p>
                  </a:txBody>
                  <a:tcPr>
                    <a:solidFill>
                      <a:srgbClr val="ECF1F9"/>
                    </a:solidFill>
                  </a:tcPr>
                </a:tc>
                <a:tc>
                  <a:txBody>
                    <a:bodyPr/>
                    <a:lstStyle/>
                    <a:p>
                      <a:r>
                        <a:rPr sz="1600">
                          <a:solidFill>
                            <a:srgbClr val="14141E"/>
                          </a:solidFill>
                        </a:rPr>
                        <a:t>複数候補と各確率を同時提示</a:t>
                      </a:r>
                    </a:p>
                  </a:txBody>
                  <a:tcPr>
                    <a:solidFill>
                      <a:srgbClr val="ECF1F9"/>
                    </a:solidFill>
                  </a:tcPr>
                </a:tc>
                <a:tc>
                  <a:txBody>
                    <a:bodyPr/>
                    <a:lstStyle/>
                    <a:p>
                      <a:r>
                        <a:rPr sz="1600">
                          <a:solidFill>
                            <a:srgbClr val="14141E"/>
                          </a:solidFill>
                        </a:rPr>
                        <a:t>さらに良好（本研究は不採用）</a:t>
                      </a:r>
                    </a:p>
                  </a:txBody>
                  <a:tcPr>
                    <a:solidFill>
                      <a:srgbClr val="ECF1F9"/>
                    </a:solidFill>
                  </a:tcPr>
                </a:tc>
              </a:tr>
            </a:tbl>
          </a:graphicData>
        </a:graphic>
      </p:graphicFrame>
      <p:sp>
        <p:nvSpPr>
          <p:cNvPr id="6" name="TextBox 5"/>
          <p:cNvSpPr txBox="1"/>
          <p:nvPr/>
        </p:nvSpPr>
        <p:spPr>
          <a:xfrm>
            <a:off x="640080" y="3749039"/>
            <a:ext cx="10881360" cy="2011680"/>
          </a:xfrm>
          <a:prstGeom prst="rect">
            <a:avLst/>
          </a:prstGeom>
          <a:noFill/>
        </p:spPr>
        <p:txBody>
          <a:bodyPr wrap="square">
            <a:spAutoFit/>
          </a:bodyPr>
          <a:lstStyle/>
          <a:p>
            <a:pPr>
              <a:spcBef>
                <a:spcPts val="1000"/>
              </a:spcBef>
            </a:pPr>
            <a:r>
              <a:rPr sz="1800">
                <a:solidFill>
                  <a:srgbClr val="14141E"/>
                </a:solidFill>
              </a:rPr>
              <a:t>・Figure 2（Tian 2023）：Llama-70Bで，RLHF適用前後のlogprobベース較正（ECE/AUC）を比較</a:t>
            </a:r>
          </a:p>
          <a:p>
            <a:pPr>
              <a:spcBef>
                <a:spcPts val="1000"/>
              </a:spcBef>
            </a:pPr>
            <a:r>
              <a:rPr sz="1800">
                <a:solidFill>
                  <a:srgbClr val="14141E"/>
                </a:solidFill>
              </a:rPr>
              <a:t>・→ RLHF適用後はTriviaQA・SciQ・TruthfulQAのいずれでも較正が悪化することを実験で確認</a:t>
            </a:r>
          </a:p>
          <a:p>
            <a:pPr>
              <a:spcBef>
                <a:spcPts val="1000"/>
              </a:spcBef>
            </a:pPr>
            <a:r>
              <a:rPr sz="1800">
                <a:solidFill>
                  <a:srgbClr val="14141E"/>
                </a:solidFill>
              </a:rPr>
              <a:t>・この発見が「なぜverbalized confidenceを使うのか」の直接的な根拠になっている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先行研究2：Xiong et al. 2024「Can LLMs Express Their Uncertainty?」</a:t>
            </a:r>
          </a:p>
        </p:txBody>
      </p:sp>
      <p:sp>
        <p:nvSpPr>
          <p:cNvPr id="4" name="TextBox 3"/>
          <p:cNvSpPr txBox="1"/>
          <p:nvPr/>
        </p:nvSpPr>
        <p:spPr>
          <a:xfrm>
            <a:off x="457200" y="777240"/>
            <a:ext cx="10607040" cy="365760"/>
          </a:xfrm>
          <a:prstGeom prst="rect">
            <a:avLst/>
          </a:prstGeom>
          <a:noFill/>
        </p:spPr>
        <p:txBody>
          <a:bodyPr wrap="square">
            <a:spAutoFit/>
          </a:bodyPr>
          <a:lstStyle/>
          <a:p>
            <a:pPr algn="l"/>
            <a:r>
              <a:rPr sz="1800" b="0" i="1">
                <a:solidFill>
                  <a:srgbClr val="1A56AA"/>
                </a:solidFill>
              </a:rPr>
              <a:t>ICLR 2024</a:t>
            </a:r>
          </a:p>
        </p:txBody>
      </p:sp>
      <p:sp>
        <p:nvSpPr>
          <p:cNvPr id="5" name="TextBox 4"/>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7/34</a:t>
            </a:r>
          </a:p>
        </p:txBody>
      </p:sp>
      <p:sp>
        <p:nvSpPr>
          <p:cNvPr id="6" name="TextBox 5"/>
          <p:cNvSpPr txBox="1"/>
          <p:nvPr/>
        </p:nvSpPr>
        <p:spPr>
          <a:xfrm>
            <a:off x="548640" y="1280160"/>
            <a:ext cx="10698480" cy="411480"/>
          </a:xfrm>
          <a:prstGeom prst="rect">
            <a:avLst/>
          </a:prstGeom>
          <a:noFill/>
        </p:spPr>
        <p:txBody>
          <a:bodyPr wrap="square">
            <a:spAutoFit/>
          </a:bodyPr>
          <a:lstStyle/>
          <a:p>
            <a:pPr algn="l"/>
            <a:r>
              <a:rPr sz="2000" b="1" i="0">
                <a:solidFill>
                  <a:srgbClr val="1A56AA"/>
                </a:solidFill>
              </a:rPr>
              <a:t>先行研究の内容</a:t>
            </a:r>
          </a:p>
        </p:txBody>
      </p:sp>
      <p:sp>
        <p:nvSpPr>
          <p:cNvPr id="7" name="TextBox 6"/>
          <p:cNvSpPr txBox="1"/>
          <p:nvPr/>
        </p:nvSpPr>
        <p:spPr>
          <a:xfrm>
            <a:off x="548640" y="1691640"/>
            <a:ext cx="11064240" cy="2377440"/>
          </a:xfrm>
          <a:prstGeom prst="rect">
            <a:avLst/>
          </a:prstGeom>
          <a:noFill/>
        </p:spPr>
        <p:txBody>
          <a:bodyPr wrap="square">
            <a:spAutoFit/>
          </a:bodyPr>
          <a:lstStyle/>
          <a:p>
            <a:pPr>
              <a:spcBef>
                <a:spcPts val="800"/>
              </a:spcBef>
            </a:pPr>
            <a:r>
              <a:rPr sz="1800">
                <a:solidFill>
                  <a:srgbClr val="14141E"/>
                </a:solidFill>
              </a:rPr>
              <a:t>・Black-box確信度推定の体系的フレームワークを提案</a:t>
            </a:r>
          </a:p>
          <a:p>
            <a:pPr>
              <a:spcBef>
                <a:spcPts val="800"/>
              </a:spcBef>
            </a:pPr>
            <a:r>
              <a:rPr sz="1800">
                <a:solidFill>
                  <a:srgbClr val="14141E"/>
                </a:solidFill>
              </a:rPr>
              <a:t>・3要素：プロンプト戦略／サンプリング方法（複数回応答）／集約手法（一貫性計算）</a:t>
            </a:r>
          </a:p>
          <a:p>
            <a:pPr>
              <a:spcBef>
                <a:spcPts val="800"/>
              </a:spcBef>
            </a:pPr>
            <a:r>
              <a:rPr sz="1800">
                <a:solidFill>
                  <a:srgbClr val="14141E"/>
                </a:solidFill>
              </a:rPr>
              <a:t>・5種類のデータセット×5モデル（GPT-4，LLaMA-2等）でキャリブレーションと失敗予測を評価</a:t>
            </a:r>
          </a:p>
          <a:p>
            <a:pPr>
              <a:spcBef>
                <a:spcPts val="800"/>
              </a:spcBef>
            </a:pPr>
            <a:r>
              <a:rPr sz="1800">
                <a:solidFill>
                  <a:srgbClr val="14141E"/>
                </a:solidFill>
              </a:rPr>
              <a:t>・発見：LLMは総じて過信しがち。モデルが強いほど改善するが理想には遠い</a:t>
            </a:r>
          </a:p>
          <a:p>
            <a:pPr>
              <a:spcBef>
                <a:spcPts val="800"/>
              </a:spcBef>
            </a:pPr>
            <a:r>
              <a:rPr sz="1800">
                <a:solidFill>
                  <a:srgbClr val="14141E"/>
                </a:solidFill>
              </a:rPr>
              <a:t>・どの方式も一貫して他を上回らない。white-boxとの差はわずか（AUROC 0.522→0.605）</a:t>
            </a:r>
          </a:p>
        </p:txBody>
      </p:sp>
      <p:sp>
        <p:nvSpPr>
          <p:cNvPr id="8" name="Rectangle 7"/>
          <p:cNvSpPr/>
          <p:nvPr/>
        </p:nvSpPr>
        <p:spPr>
          <a:xfrm>
            <a:off x="457200" y="4160520"/>
            <a:ext cx="11247120" cy="1179576"/>
          </a:xfrm>
          <a:prstGeom prst="rect">
            <a:avLst/>
          </a:prstGeom>
          <a:solidFill>
            <a:srgbClr val="FB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51960"/>
            <a:ext cx="10698480" cy="365760"/>
          </a:xfrm>
          <a:prstGeom prst="rect">
            <a:avLst/>
          </a:prstGeom>
          <a:noFill/>
        </p:spPr>
        <p:txBody>
          <a:bodyPr wrap="square">
            <a:spAutoFit/>
          </a:bodyPr>
          <a:lstStyle/>
          <a:p>
            <a:pPr algn="l"/>
            <a:r>
              <a:rPr sz="2000" b="1" i="0">
                <a:solidFill>
                  <a:srgbClr val="B02A1E"/>
                </a:solidFill>
              </a:rPr>
              <a:t>残された研究の余地</a:t>
            </a:r>
          </a:p>
        </p:txBody>
      </p:sp>
      <p:sp>
        <p:nvSpPr>
          <p:cNvPr id="10" name="TextBox 9"/>
          <p:cNvSpPr txBox="1"/>
          <p:nvPr/>
        </p:nvSpPr>
        <p:spPr>
          <a:xfrm>
            <a:off x="640080" y="4663440"/>
            <a:ext cx="10881360" cy="1463040"/>
          </a:xfrm>
          <a:prstGeom prst="rect">
            <a:avLst/>
          </a:prstGeom>
          <a:noFill/>
        </p:spPr>
        <p:txBody>
          <a:bodyPr wrap="square">
            <a:spAutoFit/>
          </a:bodyPr>
          <a:lstStyle/>
          <a:p>
            <a:pPr>
              <a:spcBef>
                <a:spcPts val="600"/>
              </a:spcBef>
            </a:pPr>
            <a:r>
              <a:rPr sz="1800">
                <a:solidFill>
                  <a:srgbClr val="14141E"/>
                </a:solidFill>
              </a:rPr>
              <a:t>・専門知識を要するタスクでは全手法が苦戦しており，著者ら自身が改善の余地を指摘</a:t>
            </a:r>
          </a:p>
          <a:p>
            <a:pPr>
              <a:spcBef>
                <a:spcPts val="600"/>
              </a:spcBef>
            </a:pPr>
            <a:r>
              <a:rPr sz="1800">
                <a:solidFill>
                  <a:srgbClr val="14141E"/>
                </a:solidFill>
              </a:rPr>
              <a:t>・検証は英語中心で，日本語での体系的な方式間比較は行っていない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先行研究3：MlingConf（Xue et al. 2025）</a:t>
            </a:r>
          </a:p>
        </p:txBody>
      </p:sp>
      <p:sp>
        <p:nvSpPr>
          <p:cNvPr id="4" name="TextBox 3"/>
          <p:cNvSpPr txBox="1"/>
          <p:nvPr/>
        </p:nvSpPr>
        <p:spPr>
          <a:xfrm>
            <a:off x="457200" y="777240"/>
            <a:ext cx="10607040" cy="365760"/>
          </a:xfrm>
          <a:prstGeom prst="rect">
            <a:avLst/>
          </a:prstGeom>
          <a:noFill/>
        </p:spPr>
        <p:txBody>
          <a:bodyPr wrap="square">
            <a:spAutoFit/>
          </a:bodyPr>
          <a:lstStyle/>
          <a:p>
            <a:pPr algn="l"/>
            <a:r>
              <a:rPr sz="1800" b="0" i="1">
                <a:solidFill>
                  <a:srgbClr val="1A56AA"/>
                </a:solidFill>
              </a:rPr>
              <a:t>Findings of ACL 2025</a:t>
            </a:r>
          </a:p>
        </p:txBody>
      </p:sp>
      <p:sp>
        <p:nvSpPr>
          <p:cNvPr id="5" name="TextBox 4"/>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8/34</a:t>
            </a:r>
          </a:p>
        </p:txBody>
      </p:sp>
      <p:sp>
        <p:nvSpPr>
          <p:cNvPr id="6" name="TextBox 5"/>
          <p:cNvSpPr txBox="1"/>
          <p:nvPr/>
        </p:nvSpPr>
        <p:spPr>
          <a:xfrm>
            <a:off x="640080" y="1463040"/>
            <a:ext cx="10881360" cy="2377440"/>
          </a:xfrm>
          <a:prstGeom prst="rect">
            <a:avLst/>
          </a:prstGeom>
          <a:noFill/>
        </p:spPr>
        <p:txBody>
          <a:bodyPr wrap="square">
            <a:spAutoFit/>
          </a:bodyPr>
          <a:lstStyle/>
          <a:p>
            <a:pPr>
              <a:spcBef>
                <a:spcPts val="1200"/>
              </a:spcBef>
            </a:pPr>
            <a:r>
              <a:rPr sz="1900">
                <a:solidFill>
                  <a:srgbClr val="14141E"/>
                </a:solidFill>
              </a:rPr>
              <a:t>・英語・日本語・中国語・フランス語・タイ語の5言語でLLMの確信度推定を検証</a:t>
            </a:r>
          </a:p>
          <a:p>
            <a:pPr>
              <a:spcBef>
                <a:spcPts val="1200"/>
              </a:spcBef>
            </a:pPr>
            <a:r>
              <a:rPr sz="1900">
                <a:solidFill>
                  <a:srgbClr val="14141E"/>
                </a:solidFill>
              </a:rPr>
              <a:t>・確信度手法：Prob.（トークン確率）／p(True)／Verb.（0-100の数値，単一手法）の3種を比較</a:t>
            </a:r>
          </a:p>
          <a:p>
            <a:pPr>
              <a:spcBef>
                <a:spcPts val="1200"/>
              </a:spcBef>
            </a:pPr>
            <a:r>
              <a:rPr sz="1900">
                <a:solidFill>
                  <a:srgbClr val="14141E"/>
                </a:solidFill>
              </a:rPr>
              <a:t>・Language-Agnostic（TriviaQA/GSM8K/CommonsenseQA/SciQ）と Language-Specific（LSQA）の2種のタスク</a:t>
            </a:r>
          </a:p>
          <a:p>
            <a:pPr>
              <a:spcBef>
                <a:spcPts val="1200"/>
              </a:spcBef>
            </a:pPr>
            <a:r>
              <a:rPr sz="1900">
                <a:solidFill>
                  <a:srgbClr val="14141E"/>
                </a:solidFill>
              </a:rPr>
              <a:t>・日本語データセットは英語から機械翻訳（50サンプルの人手評価で翻訳正解率96〜98%）</a:t>
            </a:r>
          </a:p>
        </p:txBody>
      </p:sp>
      <p:sp>
        <p:nvSpPr>
          <p:cNvPr id="7" name="Rectangle 6"/>
          <p:cNvSpPr/>
          <p:nvPr/>
        </p:nvSpPr>
        <p:spPr>
          <a:xfrm>
            <a:off x="457200" y="4023360"/>
            <a:ext cx="11247120" cy="210312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160520"/>
            <a:ext cx="10881360" cy="1920240"/>
          </a:xfrm>
          <a:prstGeom prst="rect">
            <a:avLst/>
          </a:prstGeom>
          <a:noFill/>
        </p:spPr>
        <p:txBody>
          <a:bodyPr wrap="square">
            <a:spAutoFit/>
          </a:bodyPr>
          <a:lstStyle/>
          <a:p>
            <a:pPr>
              <a:spcBef>
                <a:spcPts val="1000"/>
              </a:spcBef>
            </a:pPr>
            <a:r>
              <a:rPr sz="1800">
                <a:solidFill>
                  <a:srgbClr val="14141E"/>
                </a:solidFill>
              </a:rPr>
              <a:t>・発見①：モデルの指示追従能力によって最適な手法が変わる（GPT-3.5はp(True)/Verb.，Llama-3.1はProb.）</a:t>
            </a:r>
          </a:p>
          <a:p>
            <a:pPr>
              <a:spcBef>
                <a:spcPts val="1000"/>
              </a:spcBef>
            </a:pPr>
            <a:r>
              <a:rPr sz="1800">
                <a:solidFill>
                  <a:srgbClr val="14141E"/>
                </a:solidFill>
              </a:rPr>
              <a:t>・発見②：日本語では複数のLAタスクでECEが英語より悪化する傾向（例：TriviaQA・GPT-3.5で英16.52 vs 日34.49）</a:t>
            </a:r>
          </a:p>
          <a:p>
            <a:pPr>
              <a:spcBef>
                <a:spcPts val="1000"/>
              </a:spcBef>
            </a:pPr>
            <a:r>
              <a:rPr sz="1800">
                <a:solidFill>
                  <a:srgbClr val="14141E"/>
                </a:solidFill>
              </a:rPr>
              <a:t>・発見③：質問と同じ言語でプロンプトする「Native-Tone Prompting」で言語固有タスクの精度が改善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MlingConfの限界と先行研究全体の比較</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9/34</a:t>
            </a:r>
          </a:p>
        </p:txBody>
      </p:sp>
      <p:graphicFrame>
        <p:nvGraphicFramePr>
          <p:cNvPr id="5" name="Table 4"/>
          <p:cNvGraphicFramePr>
            <a:graphicFrameLocks noGrp="1"/>
          </p:cNvGraphicFramePr>
          <p:nvPr/>
        </p:nvGraphicFramePr>
        <p:xfrm>
          <a:off x="548640" y="1371600"/>
          <a:ext cx="11064240" cy="2377440"/>
        </p:xfrm>
        <a:graphic>
          <a:graphicData uri="http://schemas.openxmlformats.org/drawingml/2006/table">
            <a:tbl>
              <a:tblPr firstRow="1" bandRow="1">
                <a:tableStyleId>{5C22544A-7EE6-4342-B048-85BDC9FD1C3A}</a:tableStyleId>
              </a:tblPr>
              <a:tblGrid>
                <a:gridCol w="2766060"/>
                <a:gridCol w="2766060"/>
                <a:gridCol w="2766060"/>
                <a:gridCol w="2766060"/>
              </a:tblGrid>
              <a:tr h="475488">
                <a:tc>
                  <a:txBody>
                    <a:bodyPr/>
                    <a:lstStyle/>
                    <a:p>
                      <a:pPr algn="ctr"/>
                    </a:p>
                  </a:txBody>
                  <a:tcPr>
                    <a:solidFill>
                      <a:srgbClr val="1A56AA"/>
                    </a:solidFill>
                  </a:tcPr>
                </a:tc>
                <a:tc>
                  <a:txBody>
                    <a:bodyPr/>
                    <a:lstStyle/>
                    <a:p>
                      <a:pPr algn="ctr"/>
                      <a:r>
                        <a:rPr sz="1800" b="1">
                          <a:solidFill>
                            <a:srgbClr val="FFFFFF"/>
                          </a:solidFill>
                        </a:rPr>
                        <a:t>Tian/Xiong (英語)</a:t>
                      </a:r>
                    </a:p>
                  </a:txBody>
                  <a:tcPr>
                    <a:solidFill>
                      <a:srgbClr val="1A56AA"/>
                    </a:solidFill>
                  </a:tcPr>
                </a:tc>
                <a:tc>
                  <a:txBody>
                    <a:bodyPr/>
                    <a:lstStyle/>
                    <a:p>
                      <a:pPr algn="ctr"/>
                      <a:r>
                        <a:rPr sz="1800" b="1">
                          <a:solidFill>
                            <a:srgbClr val="FFFFFF"/>
                          </a:solidFill>
                        </a:rPr>
                        <a:t>MlingConf (多言語)</a:t>
                      </a:r>
                    </a:p>
                  </a:txBody>
                  <a:tcPr>
                    <a:solidFill>
                      <a:srgbClr val="1A56AA"/>
                    </a:solidFill>
                  </a:tcPr>
                </a:tc>
                <a:tc>
                  <a:txBody>
                    <a:bodyPr/>
                    <a:lstStyle/>
                    <a:p>
                      <a:pPr algn="ctr"/>
                      <a:r>
                        <a:rPr sz="1800" b="1">
                          <a:solidFill>
                            <a:srgbClr val="FFFFFF"/>
                          </a:solidFill>
                        </a:rPr>
                        <a:t>本研究</a:t>
                      </a:r>
                    </a:p>
                  </a:txBody>
                  <a:tcPr>
                    <a:solidFill>
                      <a:srgbClr val="1A56AA"/>
                    </a:solidFill>
                  </a:tcPr>
                </a:tc>
              </a:tr>
              <a:tr h="475488">
                <a:tc>
                  <a:txBody>
                    <a:bodyPr/>
                    <a:lstStyle/>
                    <a:p>
                      <a:r>
                        <a:rPr sz="1600">
                          <a:solidFill>
                            <a:srgbClr val="14141E"/>
                          </a:solidFill>
                        </a:rPr>
                        <a:t>対象言語</a:t>
                      </a:r>
                    </a:p>
                  </a:txBody>
                  <a:tcPr>
                    <a:solidFill>
                      <a:srgbClr val="FFFFFF"/>
                    </a:solidFill>
                  </a:tcPr>
                </a:tc>
                <a:tc>
                  <a:txBody>
                    <a:bodyPr/>
                    <a:lstStyle/>
                    <a:p>
                      <a:r>
                        <a:rPr sz="1600">
                          <a:solidFill>
                            <a:srgbClr val="14141E"/>
                          </a:solidFill>
                        </a:rPr>
                        <a:t>英語のみ</a:t>
                      </a:r>
                    </a:p>
                  </a:txBody>
                  <a:tcPr>
                    <a:solidFill>
                      <a:srgbClr val="FFFFFF"/>
                    </a:solidFill>
                  </a:tcPr>
                </a:tc>
                <a:tc>
                  <a:txBody>
                    <a:bodyPr/>
                    <a:lstStyle/>
                    <a:p>
                      <a:r>
                        <a:rPr sz="1600">
                          <a:solidFill>
                            <a:srgbClr val="14141E"/>
                          </a:solidFill>
                        </a:rPr>
                        <a:t>日本語含む5言語</a:t>
                      </a:r>
                    </a:p>
                  </a:txBody>
                  <a:tcPr>
                    <a:solidFill>
                      <a:srgbClr val="FFFFFF"/>
                    </a:solidFill>
                  </a:tcPr>
                </a:tc>
                <a:tc>
                  <a:txBody>
                    <a:bodyPr/>
                    <a:lstStyle/>
                    <a:p>
                      <a:r>
                        <a:rPr sz="1600">
                          <a:solidFill>
                            <a:srgbClr val="14141E"/>
                          </a:solidFill>
                        </a:rPr>
                        <a:t>日本語</a:t>
                      </a:r>
                    </a:p>
                  </a:txBody>
                  <a:tcPr>
                    <a:solidFill>
                      <a:srgbClr val="FFFFFF"/>
                    </a:solidFill>
                  </a:tcPr>
                </a:tc>
              </a:tr>
              <a:tr h="475488">
                <a:tc>
                  <a:txBody>
                    <a:bodyPr/>
                    <a:lstStyle/>
                    <a:p>
                      <a:r>
                        <a:rPr sz="1600">
                          <a:solidFill>
                            <a:srgbClr val="14141E"/>
                          </a:solidFill>
                        </a:rPr>
                        <a:t>方式間の比較</a:t>
                      </a:r>
                    </a:p>
                  </a:txBody>
                  <a:tcPr>
                    <a:solidFill>
                      <a:srgbClr val="ECF1F9"/>
                    </a:solidFill>
                  </a:tcPr>
                </a:tc>
                <a:tc>
                  <a:txBody>
                    <a:bodyPr/>
                    <a:lstStyle/>
                    <a:p>
                      <a:r>
                        <a:rPr sz="1600">
                          <a:solidFill>
                            <a:srgbClr val="14141E"/>
                          </a:solidFill>
                        </a:rPr>
                        <a:t>なし</a:t>
                      </a:r>
                    </a:p>
                  </a:txBody>
                  <a:tcPr>
                    <a:solidFill>
                      <a:srgbClr val="ECF1F9"/>
                    </a:solidFill>
                  </a:tcPr>
                </a:tc>
                <a:tc>
                  <a:txBody>
                    <a:bodyPr/>
                    <a:lstStyle/>
                    <a:p>
                      <a:r>
                        <a:rPr sz="1600">
                          <a:solidFill>
                            <a:srgbClr val="14141E"/>
                          </a:solidFill>
                        </a:rPr>
                        <a:t>なし（単一手法）</a:t>
                      </a:r>
                    </a:p>
                  </a:txBody>
                  <a:tcPr>
                    <a:solidFill>
                      <a:srgbClr val="ECF1F9"/>
                    </a:solidFill>
                  </a:tcPr>
                </a:tc>
                <a:tc>
                  <a:txBody>
                    <a:bodyPr/>
                    <a:lstStyle/>
                    <a:p>
                      <a:r>
                        <a:rPr sz="1600">
                          <a:solidFill>
                            <a:srgbClr val="14141E"/>
                          </a:solidFill>
                        </a:rPr>
                        <a:t>あり（3方式）</a:t>
                      </a:r>
                    </a:p>
                  </a:txBody>
                  <a:tcPr>
                    <a:solidFill>
                      <a:srgbClr val="ECF1F9"/>
                    </a:solidFill>
                  </a:tcPr>
                </a:tc>
              </a:tr>
              <a:tr h="475488">
                <a:tc>
                  <a:txBody>
                    <a:bodyPr/>
                    <a:lstStyle/>
                    <a:p>
                      <a:r>
                        <a:rPr sz="1600">
                          <a:solidFill>
                            <a:srgbClr val="14141E"/>
                          </a:solidFill>
                        </a:rPr>
                        <a:t>データセット</a:t>
                      </a:r>
                    </a:p>
                  </a:txBody>
                  <a:tcPr>
                    <a:solidFill>
                      <a:srgbClr val="FFFFFF"/>
                    </a:solidFill>
                  </a:tcPr>
                </a:tc>
                <a:tc>
                  <a:txBody>
                    <a:bodyPr/>
                    <a:lstStyle/>
                    <a:p>
                      <a:r>
                        <a:rPr sz="1600">
                          <a:solidFill>
                            <a:srgbClr val="14141E"/>
                          </a:solidFill>
                        </a:rPr>
                        <a:t>英語標準</a:t>
                      </a:r>
                    </a:p>
                  </a:txBody>
                  <a:tcPr>
                    <a:solidFill>
                      <a:srgbClr val="FFFFFF"/>
                    </a:solidFill>
                  </a:tcPr>
                </a:tc>
                <a:tc>
                  <a:txBody>
                    <a:bodyPr/>
                    <a:lstStyle/>
                    <a:p>
                      <a:r>
                        <a:rPr sz="1600">
                          <a:solidFill>
                            <a:srgbClr val="14141E"/>
                          </a:solidFill>
                        </a:rPr>
                        <a:t>英語からの機械翻訳</a:t>
                      </a:r>
                    </a:p>
                  </a:txBody>
                  <a:tcPr>
                    <a:solidFill>
                      <a:srgbClr val="FFFFFF"/>
                    </a:solidFill>
                  </a:tcPr>
                </a:tc>
                <a:tc>
                  <a:txBody>
                    <a:bodyPr/>
                    <a:lstStyle/>
                    <a:p>
                      <a:r>
                        <a:rPr sz="1600">
                          <a:solidFill>
                            <a:srgbClr val="14141E"/>
                          </a:solidFill>
                        </a:rPr>
                        <a:t>日本語ネイティブ＋標準</a:t>
                      </a:r>
                    </a:p>
                  </a:txBody>
                  <a:tcPr>
                    <a:solidFill>
                      <a:srgbClr val="FFFFFF"/>
                    </a:solidFill>
                  </a:tcPr>
                </a:tc>
              </a:tr>
              <a:tr h="475488">
                <a:tc>
                  <a:txBody>
                    <a:bodyPr/>
                    <a:lstStyle/>
                    <a:p>
                      <a:r>
                        <a:rPr sz="1600">
                          <a:solidFill>
                            <a:srgbClr val="14141E"/>
                          </a:solidFill>
                        </a:rPr>
                        <a:t>検証モデル</a:t>
                      </a:r>
                    </a:p>
                  </a:txBody>
                  <a:tcPr>
                    <a:solidFill>
                      <a:srgbClr val="ECF1F9"/>
                    </a:solidFill>
                  </a:tcPr>
                </a:tc>
                <a:tc>
                  <a:txBody>
                    <a:bodyPr/>
                    <a:lstStyle/>
                    <a:p>
                      <a:r>
                        <a:rPr sz="1600">
                          <a:solidFill>
                            <a:srgbClr val="14141E"/>
                          </a:solidFill>
                        </a:rPr>
                        <a:t>GPT系(当時)</a:t>
                      </a:r>
                    </a:p>
                  </a:txBody>
                  <a:tcPr>
                    <a:solidFill>
                      <a:srgbClr val="ECF1F9"/>
                    </a:solidFill>
                  </a:tcPr>
                </a:tc>
                <a:tc>
                  <a:txBody>
                    <a:bodyPr/>
                    <a:lstStyle/>
                    <a:p>
                      <a:r>
                        <a:rPr sz="1600">
                          <a:solidFill>
                            <a:srgbClr val="14141E"/>
                          </a:solidFill>
                        </a:rPr>
                        <a:t>GPT-3.5・Llama-3.1</a:t>
                      </a:r>
                    </a:p>
                  </a:txBody>
                  <a:tcPr>
                    <a:solidFill>
                      <a:srgbClr val="ECF1F9"/>
                    </a:solidFill>
                  </a:tcPr>
                </a:tc>
                <a:tc>
                  <a:txBody>
                    <a:bodyPr/>
                    <a:lstStyle/>
                    <a:p>
                      <a:r>
                        <a:rPr sz="1600">
                          <a:solidFill>
                            <a:srgbClr val="14141E"/>
                          </a:solidFill>
                        </a:rPr>
                        <a:t>現行世代モデル</a:t>
                      </a:r>
                    </a:p>
                  </a:txBody>
                  <a:tcPr>
                    <a:solidFill>
                      <a:srgbClr val="ECF1F9"/>
                    </a:solidFill>
                  </a:tcPr>
                </a:tc>
              </a:tr>
            </a:tbl>
          </a:graphicData>
        </a:graphic>
      </p:graphicFrame>
      <p:sp>
        <p:nvSpPr>
          <p:cNvPr id="6" name="TextBox 5"/>
          <p:cNvSpPr txBox="1"/>
          <p:nvPr/>
        </p:nvSpPr>
        <p:spPr>
          <a:xfrm>
            <a:off x="640080" y="4023360"/>
            <a:ext cx="10881360" cy="1645920"/>
          </a:xfrm>
          <a:prstGeom prst="rect">
            <a:avLst/>
          </a:prstGeom>
          <a:noFill/>
        </p:spPr>
        <p:txBody>
          <a:bodyPr wrap="square">
            <a:spAutoFit/>
          </a:bodyPr>
          <a:lstStyle/>
          <a:p>
            <a:pPr>
              <a:spcBef>
                <a:spcPts val="1200"/>
              </a:spcBef>
            </a:pPr>
            <a:r>
              <a:rPr sz="1900">
                <a:solidFill>
                  <a:srgbClr val="14141E"/>
                </a:solidFill>
              </a:rPr>
              <a:t>・新規性の主張は「日本語検証が皆無」ではなく「十分に研究されていない」という限定的で反証可能な形にする</a:t>
            </a:r>
          </a:p>
          <a:p>
            <a:pPr>
              <a:spcBef>
                <a:spcPts val="1200"/>
              </a:spcBef>
            </a:pPr>
            <a:r>
              <a:rPr sz="1900">
                <a:solidFill>
                  <a:srgbClr val="14141E"/>
                </a:solidFill>
              </a:rPr>
              <a:t>・本研究が埋めるのは表の太字3点：方式間比較・日本語ネイティブデータセット・現行世代モデル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研究の論理的な繋がり（一歩ずつの接続）(1/2)</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10/34</a:t>
            </a:r>
          </a:p>
        </p:txBody>
      </p:sp>
      <p:graphicFrame>
        <p:nvGraphicFramePr>
          <p:cNvPr id="5" name="Table 4"/>
          <p:cNvGraphicFramePr>
            <a:graphicFrameLocks noGrp="1"/>
          </p:cNvGraphicFramePr>
          <p:nvPr/>
        </p:nvGraphicFramePr>
        <p:xfrm>
          <a:off x="457200" y="1371600"/>
          <a:ext cx="11292840" cy="4389120"/>
        </p:xfrm>
        <a:graphic>
          <a:graphicData uri="http://schemas.openxmlformats.org/drawingml/2006/table">
            <a:tbl>
              <a:tblPr firstRow="1" bandRow="1">
                <a:tableStyleId>{5C22544A-7EE6-4342-B048-85BDC9FD1C3A}</a:tableStyleId>
              </a:tblPr>
              <a:tblGrid>
                <a:gridCol w="3764280"/>
                <a:gridCol w="3764280"/>
                <a:gridCol w="3764280"/>
              </a:tblGrid>
              <a:tr h="731520">
                <a:tc>
                  <a:txBody>
                    <a:bodyPr/>
                    <a:lstStyle/>
                    <a:p>
                      <a:pPr algn="ctr"/>
                      <a:r>
                        <a:rPr sz="1700" b="1">
                          <a:solidFill>
                            <a:srgbClr val="FFFFFF"/>
                          </a:solidFill>
                        </a:rPr>
                        <a:t>ステップ</a:t>
                      </a:r>
                    </a:p>
                  </a:txBody>
                  <a:tcPr>
                    <a:solidFill>
                      <a:srgbClr val="1A56AA"/>
                    </a:solidFill>
                  </a:tcPr>
                </a:tc>
                <a:tc>
                  <a:txBody>
                    <a:bodyPr/>
                    <a:lstStyle/>
                    <a:p>
                      <a:pPr algn="ctr"/>
                      <a:r>
                        <a:rPr sz="1700" b="1">
                          <a:solidFill>
                            <a:srgbClr val="FFFFFF"/>
                          </a:solidFill>
                        </a:rPr>
                        <a:t>内容</a:t>
                      </a:r>
                    </a:p>
                  </a:txBody>
                  <a:tcPr>
                    <a:solidFill>
                      <a:srgbClr val="1A56AA"/>
                    </a:solidFill>
                  </a:tcPr>
                </a:tc>
                <a:tc>
                  <a:txBody>
                    <a:bodyPr/>
                    <a:lstStyle/>
                    <a:p>
                      <a:pPr algn="ctr"/>
                      <a:r>
                        <a:rPr sz="1700" b="1">
                          <a:solidFill>
                            <a:srgbClr val="FFFFFF"/>
                          </a:solidFill>
                        </a:rPr>
                        <a:t>根拠文献</a:t>
                      </a:r>
                    </a:p>
                  </a:txBody>
                  <a:tcPr>
                    <a:solidFill>
                      <a:srgbClr val="1A56AA"/>
                    </a:solidFill>
                  </a:tcPr>
                </a:tc>
              </a:tr>
              <a:tr h="731520">
                <a:tc>
                  <a:txBody>
                    <a:bodyPr/>
                    <a:lstStyle/>
                    <a:p>
                      <a:r>
                        <a:rPr sz="1500">
                          <a:solidFill>
                            <a:srgbClr val="14141E"/>
                          </a:solidFill>
                        </a:rPr>
                        <a:t>① 較正の基礎指標</a:t>
                      </a:r>
                    </a:p>
                  </a:txBody>
                  <a:tcPr>
                    <a:solidFill>
                      <a:srgbClr val="FFFFFF"/>
                    </a:solidFill>
                  </a:tcPr>
                </a:tc>
                <a:tc>
                  <a:txBody>
                    <a:bodyPr/>
                    <a:lstStyle/>
                    <a:p>
                      <a:r>
                        <a:rPr sz="1500">
                          <a:solidFill>
                            <a:srgbClr val="14141E"/>
                          </a:solidFill>
                        </a:rPr>
                        <a:t>ECEがLLMの信頼性を測る標準指標として確立</a:t>
                      </a:r>
                    </a:p>
                  </a:txBody>
                  <a:tcPr>
                    <a:solidFill>
                      <a:srgbClr val="FFFFFF"/>
                    </a:solidFill>
                  </a:tcPr>
                </a:tc>
                <a:tc>
                  <a:txBody>
                    <a:bodyPr/>
                    <a:lstStyle/>
                    <a:p>
                      <a:r>
                        <a:rPr sz="1500">
                          <a:solidFill>
                            <a:srgbClr val="14141E"/>
                          </a:solidFill>
                        </a:rPr>
                        <a:t>Guo et al. 2017</a:t>
                      </a:r>
                    </a:p>
                  </a:txBody>
                  <a:tcPr>
                    <a:solidFill>
                      <a:srgbClr val="FFFFFF"/>
                    </a:solidFill>
                  </a:tcPr>
                </a:tc>
              </a:tr>
              <a:tr h="731520">
                <a:tc>
                  <a:txBody>
                    <a:bodyPr/>
                    <a:lstStyle/>
                    <a:p>
                      <a:r>
                        <a:rPr sz="1500">
                          <a:solidFill>
                            <a:srgbClr val="14141E"/>
                          </a:solidFill>
                        </a:rPr>
                        <a:t>② 自己評価能力</a:t>
                      </a:r>
                    </a:p>
                  </a:txBody>
                  <a:tcPr>
                    <a:solidFill>
                      <a:srgbClr val="ECF1F9"/>
                    </a:solidFill>
                  </a:tcPr>
                </a:tc>
                <a:tc>
                  <a:txBody>
                    <a:bodyPr/>
                    <a:lstStyle/>
                    <a:p>
                      <a:r>
                        <a:rPr sz="1500">
                          <a:solidFill>
                            <a:srgbClr val="14141E"/>
                          </a:solidFill>
                        </a:rPr>
                        <a:t>LLMは内部的に「知っているかどうか」の情報を持つ</a:t>
                      </a:r>
                    </a:p>
                  </a:txBody>
                  <a:tcPr>
                    <a:solidFill>
                      <a:srgbClr val="ECF1F9"/>
                    </a:solidFill>
                  </a:tcPr>
                </a:tc>
                <a:tc>
                  <a:txBody>
                    <a:bodyPr/>
                    <a:lstStyle/>
                    <a:p>
                      <a:r>
                        <a:rPr sz="1500">
                          <a:solidFill>
                            <a:srgbClr val="14141E"/>
                          </a:solidFill>
                        </a:rPr>
                        <a:t>Kadavath et al. 2022</a:t>
                      </a:r>
                    </a:p>
                  </a:txBody>
                  <a:tcPr>
                    <a:solidFill>
                      <a:srgbClr val="ECF1F9"/>
                    </a:solidFill>
                  </a:tcPr>
                </a:tc>
              </a:tr>
              <a:tr h="731520">
                <a:tc>
                  <a:txBody>
                    <a:bodyPr/>
                    <a:lstStyle/>
                    <a:p>
                      <a:r>
                        <a:rPr sz="1500">
                          <a:solidFill>
                            <a:srgbClr val="14141E"/>
                          </a:solidFill>
                        </a:rPr>
                        <a:t>③ 言語化の方法</a:t>
                      </a:r>
                    </a:p>
                  </a:txBody>
                  <a:tcPr>
                    <a:solidFill>
                      <a:srgbClr val="FFFFFF"/>
                    </a:solidFill>
                  </a:tcPr>
                </a:tc>
                <a:tc>
                  <a:txBody>
                    <a:bodyPr/>
                    <a:lstStyle/>
                    <a:p>
                      <a:r>
                        <a:rPr sz="1500">
                          <a:solidFill>
                            <a:srgbClr val="14141E"/>
                          </a:solidFill>
                        </a:rPr>
                        <a:t>確信度を自然言語・数値でプロンプトから引き出す方式の定義</a:t>
                      </a:r>
                    </a:p>
                  </a:txBody>
                  <a:tcPr>
                    <a:solidFill>
                      <a:srgbClr val="FFFFFF"/>
                    </a:solidFill>
                  </a:tcPr>
                </a:tc>
                <a:tc>
                  <a:txBody>
                    <a:bodyPr/>
                    <a:lstStyle/>
                    <a:p>
                      <a:r>
                        <a:rPr sz="1500">
                          <a:solidFill>
                            <a:srgbClr val="14141E"/>
                          </a:solidFill>
                        </a:rPr>
                        <a:t>Lin et al. 2022</a:t>
                      </a:r>
                    </a:p>
                  </a:txBody>
                  <a:tcPr>
                    <a:solidFill>
                      <a:srgbClr val="FFFFFF"/>
                    </a:solidFill>
                  </a:tcPr>
                </a:tc>
              </a:tr>
              <a:tr h="731520">
                <a:tc>
                  <a:txBody>
                    <a:bodyPr/>
                    <a:lstStyle/>
                    <a:p>
                      <a:r>
                        <a:rPr sz="1500">
                          <a:solidFill>
                            <a:srgbClr val="14141E"/>
                          </a:solidFill>
                        </a:rPr>
                        <a:t>④ 英語での有効性</a:t>
                      </a:r>
                    </a:p>
                  </a:txBody>
                  <a:tcPr>
                    <a:solidFill>
                      <a:srgbClr val="ECF1F9"/>
                    </a:solidFill>
                  </a:tcPr>
                </a:tc>
                <a:tc>
                  <a:txBody>
                    <a:bodyPr/>
                    <a:lstStyle/>
                    <a:p>
                      <a:r>
                        <a:rPr sz="1500">
                          <a:solidFill>
                            <a:srgbClr val="14141E"/>
                          </a:solidFill>
                        </a:rPr>
                        <a:t>ただ確信度を聞くだけで内部確率より良い較正（ECE約50%改善）</a:t>
                      </a:r>
                    </a:p>
                  </a:txBody>
                  <a:tcPr>
                    <a:solidFill>
                      <a:srgbClr val="ECF1F9"/>
                    </a:solidFill>
                  </a:tcPr>
                </a:tc>
                <a:tc>
                  <a:txBody>
                    <a:bodyPr/>
                    <a:lstStyle/>
                    <a:p>
                      <a:r>
                        <a:rPr sz="1500">
                          <a:solidFill>
                            <a:srgbClr val="14141E"/>
                          </a:solidFill>
                        </a:rPr>
                        <a:t>Tian 2023; Xiong 2024</a:t>
                      </a:r>
                    </a:p>
                  </a:txBody>
                  <a:tcPr>
                    <a:solidFill>
                      <a:srgbClr val="ECF1F9"/>
                    </a:solidFill>
                  </a:tcPr>
                </a:tc>
              </a:tr>
              <a:tr h="731520">
                <a:tc>
                  <a:txBody>
                    <a:bodyPr/>
                    <a:lstStyle/>
                    <a:p>
                      <a:r>
                        <a:rPr sz="1500">
                          <a:solidFill>
                            <a:srgbClr val="14141E"/>
                          </a:solidFill>
                        </a:rPr>
                        <a:t>⑤ 多言語での粗い検証</a:t>
                      </a:r>
                    </a:p>
                  </a:txBody>
                  <a:tcPr>
                    <a:solidFill>
                      <a:srgbClr val="FFFFFF"/>
                    </a:solidFill>
                  </a:tcPr>
                </a:tc>
                <a:tc>
                  <a:txBody>
                    <a:bodyPr/>
                    <a:lstStyle/>
                    <a:p>
                      <a:r>
                        <a:rPr sz="1500">
                          <a:solidFill>
                            <a:srgbClr val="14141E"/>
                          </a:solidFill>
                        </a:rPr>
                        <a:t>日本語含む5言語で単一手法を検証。機械翻訳・単一手法のみ</a:t>
                      </a:r>
                    </a:p>
                  </a:txBody>
                  <a:tcPr>
                    <a:solidFill>
                      <a:srgbClr val="FFFFFF"/>
                    </a:solidFill>
                  </a:tcPr>
                </a:tc>
                <a:tc>
                  <a:txBody>
                    <a:bodyPr/>
                    <a:lstStyle/>
                    <a:p>
                      <a:r>
                        <a:rPr sz="1500">
                          <a:solidFill>
                            <a:srgbClr val="14141E"/>
                          </a:solidFill>
                        </a:rPr>
                        <a:t>MlingConf (Xue 2025)</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研究の論理的な繋がり（一歩ずつの接続）(2/2)</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11/34</a:t>
            </a:r>
          </a:p>
        </p:txBody>
      </p:sp>
      <p:graphicFrame>
        <p:nvGraphicFramePr>
          <p:cNvPr id="5" name="Table 4"/>
          <p:cNvGraphicFramePr>
            <a:graphicFrameLocks noGrp="1"/>
          </p:cNvGraphicFramePr>
          <p:nvPr/>
        </p:nvGraphicFramePr>
        <p:xfrm>
          <a:off x="457200" y="1371600"/>
          <a:ext cx="11292840" cy="4572000"/>
        </p:xfrm>
        <a:graphic>
          <a:graphicData uri="http://schemas.openxmlformats.org/drawingml/2006/table">
            <a:tbl>
              <a:tblPr firstRow="1" bandRow="1">
                <a:tableStyleId>{5C22544A-7EE6-4342-B048-85BDC9FD1C3A}</a:tableStyleId>
              </a:tblPr>
              <a:tblGrid>
                <a:gridCol w="3764280"/>
                <a:gridCol w="3764280"/>
                <a:gridCol w="3764280"/>
              </a:tblGrid>
              <a:tr h="653142">
                <a:tc>
                  <a:txBody>
                    <a:bodyPr/>
                    <a:lstStyle/>
                    <a:p>
                      <a:pPr algn="ctr"/>
                      <a:r>
                        <a:rPr sz="1700" b="1">
                          <a:solidFill>
                            <a:srgbClr val="FFFFFF"/>
                          </a:solidFill>
                        </a:rPr>
                        <a:t>ステップ</a:t>
                      </a:r>
                    </a:p>
                  </a:txBody>
                  <a:tcPr>
                    <a:solidFill>
                      <a:srgbClr val="1A56AA"/>
                    </a:solidFill>
                  </a:tcPr>
                </a:tc>
                <a:tc>
                  <a:txBody>
                    <a:bodyPr/>
                    <a:lstStyle/>
                    <a:p>
                      <a:pPr algn="ctr"/>
                      <a:r>
                        <a:rPr sz="1700" b="1">
                          <a:solidFill>
                            <a:srgbClr val="FFFFFF"/>
                          </a:solidFill>
                        </a:rPr>
                        <a:t>内容</a:t>
                      </a:r>
                    </a:p>
                  </a:txBody>
                  <a:tcPr>
                    <a:solidFill>
                      <a:srgbClr val="1A56AA"/>
                    </a:solidFill>
                  </a:tcPr>
                </a:tc>
                <a:tc>
                  <a:txBody>
                    <a:bodyPr/>
                    <a:lstStyle/>
                    <a:p>
                      <a:pPr algn="ctr"/>
                      <a:r>
                        <a:rPr sz="1700" b="1">
                          <a:solidFill>
                            <a:srgbClr val="FFFFFF"/>
                          </a:solidFill>
                        </a:rPr>
                        <a:t>根拠文献</a:t>
                      </a:r>
                    </a:p>
                  </a:txBody>
                  <a:tcPr>
                    <a:solidFill>
                      <a:srgbClr val="1A56AA"/>
                    </a:solidFill>
                  </a:tcPr>
                </a:tc>
              </a:tr>
              <a:tr h="653142">
                <a:tc>
                  <a:txBody>
                    <a:bodyPr/>
                    <a:lstStyle/>
                    <a:p>
                      <a:r>
                        <a:rPr sz="1500">
                          <a:solidFill>
                            <a:srgbClr val="14141E"/>
                          </a:solidFill>
                        </a:rPr>
                        <a:t>⑥ 聞き方への依存性</a:t>
                      </a:r>
                    </a:p>
                  </a:txBody>
                  <a:tcPr>
                    <a:solidFill>
                      <a:srgbClr val="FFFFFF"/>
                    </a:solidFill>
                  </a:tcPr>
                </a:tc>
                <a:tc>
                  <a:txBody>
                    <a:bodyPr/>
                    <a:lstStyle/>
                    <a:p>
                      <a:r>
                        <a:rPr sz="1500">
                          <a:solidFill>
                            <a:srgbClr val="14141E"/>
                          </a:solidFill>
                        </a:rPr>
                        <a:t>プロンプトスタイルが較正結果に影響する</a:t>
                      </a:r>
                    </a:p>
                  </a:txBody>
                  <a:tcPr>
                    <a:solidFill>
                      <a:srgbClr val="FFFFFF"/>
                    </a:solidFill>
                  </a:tcPr>
                </a:tc>
                <a:tc>
                  <a:txBody>
                    <a:bodyPr/>
                    <a:lstStyle/>
                    <a:p>
                      <a:r>
                        <a:rPr sz="1500">
                          <a:solidFill>
                            <a:srgbClr val="14141E"/>
                          </a:solidFill>
                        </a:rPr>
                        <a:t>Xia et al. 2025</a:t>
                      </a:r>
                    </a:p>
                  </a:txBody>
                  <a:tcPr>
                    <a:solidFill>
                      <a:srgbClr val="FFFFFF"/>
                    </a:solidFill>
                  </a:tcPr>
                </a:tc>
              </a:tr>
              <a:tr h="653142">
                <a:tc>
                  <a:txBody>
                    <a:bodyPr/>
                    <a:lstStyle/>
                    <a:p>
                      <a:r>
                        <a:rPr sz="1500">
                          <a:solidFill>
                            <a:srgbClr val="14141E"/>
                          </a:solidFill>
                        </a:rPr>
                        <a:t>⑦ 数値表現の設計</a:t>
                      </a:r>
                    </a:p>
                  </a:txBody>
                  <a:tcPr>
                    <a:solidFill>
                      <a:srgbClr val="ECF1F9"/>
                    </a:solidFill>
                  </a:tcPr>
                </a:tc>
                <a:tc>
                  <a:txBody>
                    <a:bodyPr/>
                    <a:lstStyle/>
                    <a:p>
                      <a:r>
                        <a:rPr sz="1500">
                          <a:solidFill>
                            <a:srgbClr val="14141E"/>
                          </a:solidFill>
                        </a:rPr>
                        <a:t>0-100は丸め値に偏る，0-20の方がメタ認知精度が良い</a:t>
                      </a:r>
                    </a:p>
                  </a:txBody>
                  <a:tcPr>
                    <a:solidFill>
                      <a:srgbClr val="ECF1F9"/>
                    </a:solidFill>
                  </a:tcPr>
                </a:tc>
                <a:tc>
                  <a:txBody>
                    <a:bodyPr/>
                    <a:lstStyle/>
                    <a:p>
                      <a:r>
                        <a:rPr sz="1500">
                          <a:solidFill>
                            <a:srgbClr val="14141E"/>
                          </a:solidFill>
                        </a:rPr>
                        <a:t>Dai 2025</a:t>
                      </a:r>
                    </a:p>
                  </a:txBody>
                  <a:tcPr>
                    <a:solidFill>
                      <a:srgbClr val="ECF1F9"/>
                    </a:solidFill>
                  </a:tcPr>
                </a:tc>
              </a:tr>
              <a:tr h="653142">
                <a:tc>
                  <a:txBody>
                    <a:bodyPr/>
                    <a:lstStyle/>
                    <a:p>
                      <a:r>
                        <a:rPr sz="1500">
                          <a:solidFill>
                            <a:srgbClr val="14141E"/>
                          </a:solidFill>
                        </a:rPr>
                        <a:t>⑧ 回答接地の効果</a:t>
                      </a:r>
                    </a:p>
                  </a:txBody>
                  <a:tcPr>
                    <a:solidFill>
                      <a:srgbClr val="FFFFFF"/>
                    </a:solidFill>
                  </a:tcPr>
                </a:tc>
                <a:tc>
                  <a:txBody>
                    <a:bodyPr/>
                    <a:lstStyle/>
                    <a:p>
                      <a:r>
                        <a:rPr sz="1500">
                          <a:solidFill>
                            <a:srgbClr val="14141E"/>
                          </a:solidFill>
                        </a:rPr>
                        <a:t>確信度の回答非依存性が過信の主因（診断的知見）</a:t>
                      </a:r>
                    </a:p>
                  </a:txBody>
                  <a:tcPr>
                    <a:solidFill>
                      <a:srgbClr val="FFFFFF"/>
                    </a:solidFill>
                  </a:tcPr>
                </a:tc>
                <a:tc>
                  <a:txBody>
                    <a:bodyPr/>
                    <a:lstStyle/>
                    <a:p>
                      <a:r>
                        <a:rPr sz="1500">
                          <a:solidFill>
                            <a:srgbClr val="14141E"/>
                          </a:solidFill>
                        </a:rPr>
                        <a:t>Seo et al. 2025 (ADVICE)</a:t>
                      </a:r>
                    </a:p>
                  </a:txBody>
                  <a:tcPr>
                    <a:solidFill>
                      <a:srgbClr val="FFFFFF"/>
                    </a:solidFill>
                  </a:tcPr>
                </a:tc>
              </a:tr>
              <a:tr h="653142">
                <a:tc>
                  <a:txBody>
                    <a:bodyPr/>
                    <a:lstStyle/>
                    <a:p>
                      <a:r>
                        <a:rPr sz="1500">
                          <a:solidFill>
                            <a:srgbClr val="14141E"/>
                          </a:solidFill>
                        </a:rPr>
                        <a:t>⑨ アクセス制約</a:t>
                      </a:r>
                    </a:p>
                  </a:txBody>
                  <a:tcPr>
                    <a:solidFill>
                      <a:srgbClr val="ECF1F9"/>
                    </a:solidFill>
                  </a:tcPr>
                </a:tc>
                <a:tc>
                  <a:txBody>
                    <a:bodyPr/>
                    <a:lstStyle/>
                    <a:p>
                      <a:r>
                        <a:rPr sz="1500">
                          <a:solidFill>
                            <a:srgbClr val="14141E"/>
                          </a:solidFill>
                        </a:rPr>
                        <a:t>logits/パラメータ非公開のためプロンプト設計のみ実行可能</a:t>
                      </a:r>
                    </a:p>
                  </a:txBody>
                  <a:tcPr>
                    <a:solidFill>
                      <a:srgbClr val="ECF1F9"/>
                    </a:solidFill>
                  </a:tcPr>
                </a:tc>
                <a:tc>
                  <a:txBody>
                    <a:bodyPr/>
                    <a:lstStyle/>
                    <a:p>
                      <a:r>
                        <a:rPr sz="1500">
                          <a:solidFill>
                            <a:srgbClr val="14141E"/>
                          </a:solidFill>
                        </a:rPr>
                        <a:t>Xie et al. 2024</a:t>
                      </a:r>
                    </a:p>
                  </a:txBody>
                  <a:tcPr>
                    <a:solidFill>
                      <a:srgbClr val="ECF1F9"/>
                    </a:solidFill>
                  </a:tcPr>
                </a:tc>
              </a:tr>
              <a:tr h="653142">
                <a:tc>
                  <a:txBody>
                    <a:bodyPr/>
                    <a:lstStyle/>
                    <a:p>
                      <a:r>
                        <a:rPr sz="1500">
                          <a:solidFill>
                            <a:srgbClr val="14141E"/>
                          </a:solidFill>
                        </a:rPr>
                        <a:t>⑩ 本研究の位置</a:t>
                      </a:r>
                    </a:p>
                  </a:txBody>
                  <a:tcPr>
                    <a:solidFill>
                      <a:srgbClr val="FFFFFF"/>
                    </a:solidFill>
                  </a:tcPr>
                </a:tc>
                <a:tc>
                  <a:txBody>
                    <a:bodyPr/>
                    <a:lstStyle/>
                    <a:p>
                      <a:r>
                        <a:rPr sz="1500">
                          <a:solidFill>
                            <a:srgbClr val="14141E"/>
                          </a:solidFill>
                        </a:rPr>
                        <a:t>日本語ネイティブデータセットで3方式の差・現行モデル再現性を検証</a:t>
                      </a:r>
                    </a:p>
                  </a:txBody>
                  <a:tcPr>
                    <a:solidFill>
                      <a:srgbClr val="FFFFFF"/>
                    </a:solidFill>
                  </a:tcPr>
                </a:tc>
                <a:tc>
                  <a:txBody>
                    <a:bodyPr/>
                    <a:lstStyle/>
                    <a:p>
                      <a:r>
                        <a:rPr sz="1500">
                          <a:solidFill>
                            <a:srgbClr val="14141E"/>
                          </a:solidFill>
                        </a:rPr>
                        <a:t>本研究のRQ0〜RQ4</a:t>
                      </a:r>
                    </a:p>
                  </a:txBody>
                  <a:tcPr>
                    <a:solidFill>
                      <a:srgbClr val="FFFFFF"/>
                    </a:solidFill>
                  </a:tcPr>
                </a:tc>
              </a:tr>
              <a:tr h="653148">
                <a:tc>
                  <a:txBody>
                    <a:bodyPr/>
                    <a:lstStyle/>
                    <a:p>
                      <a:r>
                        <a:rPr sz="1500">
                          <a:solidFill>
                            <a:srgbClr val="14141E"/>
                          </a:solidFill>
                        </a:rPr>
                        <a:t>（オプション）⑪</a:t>
                      </a:r>
                    </a:p>
                  </a:txBody>
                  <a:tcPr>
                    <a:solidFill>
                      <a:srgbClr val="ECF1F9"/>
                    </a:solidFill>
                  </a:tcPr>
                </a:tc>
                <a:tc>
                  <a:txBody>
                    <a:bodyPr/>
                    <a:lstStyle/>
                    <a:p>
                      <a:r>
                        <a:rPr sz="1500">
                          <a:solidFill>
                            <a:srgbClr val="14141E"/>
                          </a:solidFill>
                        </a:rPr>
                        <a:t>Brier ScoreをREL/RESに分離する視点も存在（探索的オプション）</a:t>
                      </a:r>
                    </a:p>
                  </a:txBody>
                  <a:tcPr>
                    <a:solidFill>
                      <a:srgbClr val="ECF1F9"/>
                    </a:solidFill>
                  </a:tcPr>
                </a:tc>
                <a:tc>
                  <a:txBody>
                    <a:bodyPr/>
                    <a:lstStyle/>
                    <a:p>
                      <a:r>
                        <a:rPr sz="1500">
                          <a:solidFill>
                            <a:srgbClr val="14141E"/>
                          </a:solidFill>
                        </a:rPr>
                        <a:t>Bröcker 2009; Pohle 2020</a:t>
                      </a:r>
                    </a:p>
                  </a:txBody>
                  <a:tcPr>
                    <a:solidFill>
                      <a:srgbClr val="ECF1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研究目的：主たる目的とメインRQ</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12/34</a:t>
            </a:r>
          </a:p>
        </p:txBody>
      </p:sp>
      <p:sp>
        <p:nvSpPr>
          <p:cNvPr id="5" name="Rectangle 4"/>
          <p:cNvSpPr/>
          <p:nvPr/>
        </p:nvSpPr>
        <p:spPr>
          <a:xfrm>
            <a:off x="548640" y="1554480"/>
            <a:ext cx="11064240" cy="210312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10607040" cy="457200"/>
          </a:xfrm>
          <a:prstGeom prst="rect">
            <a:avLst/>
          </a:prstGeom>
          <a:noFill/>
        </p:spPr>
        <p:txBody>
          <a:bodyPr wrap="square">
            <a:spAutoFit/>
          </a:bodyPr>
          <a:lstStyle/>
          <a:p>
            <a:pPr algn="l"/>
            <a:r>
              <a:rPr sz="2200" b="1" i="0">
                <a:solidFill>
                  <a:srgbClr val="1A56AA"/>
                </a:solidFill>
              </a:rPr>
              <a:t>主たる目的</a:t>
            </a:r>
          </a:p>
        </p:txBody>
      </p:sp>
      <p:sp>
        <p:nvSpPr>
          <p:cNvPr id="7" name="TextBox 6"/>
          <p:cNvSpPr txBox="1"/>
          <p:nvPr/>
        </p:nvSpPr>
        <p:spPr>
          <a:xfrm>
            <a:off x="777240" y="2148840"/>
            <a:ext cx="10607040" cy="1371600"/>
          </a:xfrm>
          <a:prstGeom prst="rect">
            <a:avLst/>
          </a:prstGeom>
          <a:noFill/>
        </p:spPr>
        <p:txBody>
          <a:bodyPr wrap="square">
            <a:spAutoFit/>
          </a:bodyPr>
          <a:lstStyle/>
          <a:p>
            <a:pPr algn="l"/>
            <a:r>
              <a:rPr sz="2000" b="0" i="0">
                <a:solidFill>
                  <a:srgbClr val="14141E"/>
                </a:solidFill>
              </a:rPr>
              <a:t>日本語ネイティブなタスクにおいて確信度プロンプト方式（Verb.1S/Verb.2S/Ling.1S）の
違いがキャリブレーション性能にどのような差をもたらすかを実証的に検証する</a:t>
            </a:r>
          </a:p>
        </p:txBody>
      </p:sp>
      <p:sp>
        <p:nvSpPr>
          <p:cNvPr id="8" name="TextBox 7"/>
          <p:cNvSpPr txBox="1"/>
          <p:nvPr/>
        </p:nvSpPr>
        <p:spPr>
          <a:xfrm>
            <a:off x="640080" y="3931920"/>
            <a:ext cx="10881360" cy="1371600"/>
          </a:xfrm>
          <a:prstGeom prst="rect">
            <a:avLst/>
          </a:prstGeom>
          <a:noFill/>
        </p:spPr>
        <p:txBody>
          <a:bodyPr wrap="square">
            <a:spAutoFit/>
          </a:bodyPr>
          <a:lstStyle/>
          <a:p>
            <a:pPr algn="l"/>
            <a:r>
              <a:rPr sz="1900" b="0" i="1">
                <a:solidFill>
                  <a:srgbClr val="14141E"/>
                </a:solidFill>
              </a:rPr>
              <a:t>このRQは実験結果からYES/NOで判定可能な形になっている点が重要である。
方式間に有意差が「ある」か「ない」かのいずれの結果も報告可能な学術的知見になる。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付随目的・サブRQ・演習2との違い</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13/34</a:t>
            </a:r>
          </a:p>
        </p:txBody>
      </p:sp>
      <p:sp>
        <p:nvSpPr>
          <p:cNvPr id="5" name="TextBox 4"/>
          <p:cNvSpPr txBox="1"/>
          <p:nvPr/>
        </p:nvSpPr>
        <p:spPr>
          <a:xfrm>
            <a:off x="640080" y="1371600"/>
            <a:ext cx="10881360" cy="548640"/>
          </a:xfrm>
          <a:prstGeom prst="rect">
            <a:avLst/>
          </a:prstGeom>
          <a:noFill/>
        </p:spPr>
        <p:txBody>
          <a:bodyPr wrap="square">
            <a:spAutoFit/>
          </a:bodyPr>
          <a:lstStyle/>
          <a:p>
            <a:pPr algn="l"/>
            <a:r>
              <a:rPr sz="2000" b="1" i="0">
                <a:solidFill>
                  <a:srgbClr val="B02A1E"/>
                </a:solidFill>
              </a:rPr>
              <a:t>付随して明らかになること：その効果は現行世代の商用LLMでも再現されるか？</a:t>
            </a:r>
          </a:p>
        </p:txBody>
      </p:sp>
      <p:sp>
        <p:nvSpPr>
          <p:cNvPr id="6" name="TextBox 5"/>
          <p:cNvSpPr txBox="1"/>
          <p:nvPr/>
        </p:nvSpPr>
        <p:spPr>
          <a:xfrm>
            <a:off x="640080" y="2103120"/>
            <a:ext cx="10881360" cy="2011680"/>
          </a:xfrm>
          <a:prstGeom prst="rect">
            <a:avLst/>
          </a:prstGeom>
          <a:noFill/>
        </p:spPr>
        <p:txBody>
          <a:bodyPr wrap="square">
            <a:spAutoFit/>
          </a:bodyPr>
          <a:lstStyle/>
          <a:p>
            <a:pPr>
              <a:spcBef>
                <a:spcPts val="1000"/>
              </a:spcBef>
            </a:pPr>
            <a:r>
              <a:rPr sz="1900">
                <a:solidFill>
                  <a:srgbClr val="14141E"/>
                </a:solidFill>
              </a:rPr>
              <a:t>・サブRQ1：モデル間でキャリブレーション性能・改善パターンに差はあるか</a:t>
            </a:r>
          </a:p>
          <a:p>
            <a:pPr>
              <a:spcBef>
                <a:spcPts val="1000"/>
              </a:spcBef>
            </a:pPr>
            <a:r>
              <a:rPr sz="1900">
                <a:solidFill>
                  <a:srgbClr val="14141E"/>
                </a:solidFill>
              </a:rPr>
              <a:t>・サブRQ2：タスクドメインによって改善幅は変化するか</a:t>
            </a:r>
          </a:p>
          <a:p>
            <a:pPr>
              <a:spcBef>
                <a:spcPts val="1000"/>
              </a:spcBef>
            </a:pPr>
            <a:r>
              <a:rPr sz="1900">
                <a:solidFill>
                  <a:srgbClr val="14141E"/>
                </a:solidFill>
              </a:rPr>
              <a:t>・サブRQ4：日本語と英語で改善幅に差はあるか（英語側は既存文献の数値と比較，本研究内での再実験ではない）</a:t>
            </a:r>
          </a:p>
        </p:txBody>
      </p:sp>
      <p:sp>
        <p:nvSpPr>
          <p:cNvPr id="7" name="Rectangle 6"/>
          <p:cNvSpPr/>
          <p:nvPr/>
        </p:nvSpPr>
        <p:spPr>
          <a:xfrm>
            <a:off x="457200" y="4297680"/>
            <a:ext cx="11247120" cy="1737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434840"/>
            <a:ext cx="10881360" cy="1463040"/>
          </a:xfrm>
          <a:prstGeom prst="rect">
            <a:avLst/>
          </a:prstGeom>
          <a:noFill/>
        </p:spPr>
        <p:txBody>
          <a:bodyPr wrap="square">
            <a:spAutoFit/>
          </a:bodyPr>
          <a:lstStyle/>
          <a:p>
            <a:pPr algn="l"/>
            <a:r>
              <a:rPr sz="1900" b="0" i="0">
                <a:solidFill>
                  <a:srgbClr val="14141E"/>
                </a:solidFill>
              </a:rPr>
              <a:t>演習2との違い：演習2は英語中心・少数プロンプトでの予備的なECE比較にとどまっていたが，
本研究は日本語4ドメイン・3方式・複数モデルでの体系的検証へと発展させるものであり，
演習2の焼き直しではなく，今後の本実験・考察へ直結する。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研究の方針：実験の全体像</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14/34</a:t>
            </a:r>
          </a:p>
        </p:txBody>
      </p:sp>
      <p:graphicFrame>
        <p:nvGraphicFramePr>
          <p:cNvPr id="5" name="Table 4"/>
          <p:cNvGraphicFramePr>
            <a:graphicFrameLocks noGrp="1"/>
          </p:cNvGraphicFramePr>
          <p:nvPr/>
        </p:nvGraphicFramePr>
        <p:xfrm>
          <a:off x="914400" y="1645920"/>
          <a:ext cx="10332720" cy="2103120"/>
        </p:xfrm>
        <a:graphic>
          <a:graphicData uri="http://schemas.openxmlformats.org/drawingml/2006/table">
            <a:tbl>
              <a:tblPr firstRow="1" bandRow="1">
                <a:tableStyleId>{5C22544A-7EE6-4342-B048-85BDC9FD1C3A}</a:tableStyleId>
              </a:tblPr>
              <a:tblGrid>
                <a:gridCol w="3444240"/>
                <a:gridCol w="3444240"/>
                <a:gridCol w="3444240"/>
              </a:tblGrid>
              <a:tr h="525780">
                <a:tc>
                  <a:txBody>
                    <a:bodyPr/>
                    <a:lstStyle/>
                    <a:p>
                      <a:pPr algn="ctr"/>
                      <a:r>
                        <a:rPr sz="1900" b="1">
                          <a:solidFill>
                            <a:srgbClr val="FFFFFF"/>
                          </a:solidFill>
                        </a:rPr>
                        <a:t>実験</a:t>
                      </a:r>
                    </a:p>
                  </a:txBody>
                  <a:tcPr>
                    <a:solidFill>
                      <a:srgbClr val="1A56AA"/>
                    </a:solidFill>
                  </a:tcPr>
                </a:tc>
                <a:tc>
                  <a:txBody>
                    <a:bodyPr/>
                    <a:lstStyle/>
                    <a:p>
                      <a:pPr algn="ctr"/>
                      <a:r>
                        <a:rPr sz="1900" b="1">
                          <a:solidFill>
                            <a:srgbClr val="FFFFFF"/>
                          </a:solidFill>
                        </a:rPr>
                        <a:t>目的</a:t>
                      </a:r>
                    </a:p>
                  </a:txBody>
                  <a:tcPr>
                    <a:solidFill>
                      <a:srgbClr val="1A56AA"/>
                    </a:solidFill>
                  </a:tcPr>
                </a:tc>
                <a:tc>
                  <a:txBody>
                    <a:bodyPr/>
                    <a:lstStyle/>
                    <a:p>
                      <a:pPr algn="ctr"/>
                      <a:r>
                        <a:rPr sz="1900" b="1">
                          <a:solidFill>
                            <a:srgbClr val="FFFFFF"/>
                          </a:solidFill>
                        </a:rPr>
                        <a:t>扱う変数</a:t>
                      </a:r>
                    </a:p>
                  </a:txBody>
                  <a:tcPr>
                    <a:solidFill>
                      <a:srgbClr val="1A56AA"/>
                    </a:solidFill>
                  </a:tcPr>
                </a:tc>
              </a:tr>
              <a:tr h="525780">
                <a:tc>
                  <a:txBody>
                    <a:bodyPr/>
                    <a:lstStyle/>
                    <a:p>
                      <a:r>
                        <a:rPr sz="1800">
                          <a:solidFill>
                            <a:srgbClr val="14141E"/>
                          </a:solidFill>
                        </a:rPr>
                        <a:t>実験1</a:t>
                      </a:r>
                    </a:p>
                  </a:txBody>
                  <a:tcPr>
                    <a:solidFill>
                      <a:srgbClr val="FFFFFF"/>
                    </a:solidFill>
                  </a:tcPr>
                </a:tc>
                <a:tc>
                  <a:txBody>
                    <a:bodyPr/>
                    <a:lstStyle/>
                    <a:p>
                      <a:r>
                        <a:rPr sz="1800">
                          <a:solidFill>
                            <a:srgbClr val="14141E"/>
                          </a:solidFill>
                        </a:rPr>
                        <a:t>基本キャリブレーションの測定</a:t>
                      </a:r>
                    </a:p>
                  </a:txBody>
                  <a:tcPr>
                    <a:solidFill>
                      <a:srgbClr val="FFFFFF"/>
                    </a:solidFill>
                  </a:tcPr>
                </a:tc>
                <a:tc>
                  <a:txBody>
                    <a:bodyPr/>
                    <a:lstStyle/>
                    <a:p>
                      <a:r>
                        <a:rPr sz="1800">
                          <a:solidFill>
                            <a:srgbClr val="14141E"/>
                          </a:solidFill>
                        </a:rPr>
                        <a:t>モデル × ドメイン</a:t>
                      </a:r>
                    </a:p>
                  </a:txBody>
                  <a:tcPr>
                    <a:solidFill>
                      <a:srgbClr val="FFFFFF"/>
                    </a:solidFill>
                  </a:tcPr>
                </a:tc>
              </a:tr>
              <a:tr h="525780">
                <a:tc>
                  <a:txBody>
                    <a:bodyPr/>
                    <a:lstStyle/>
                    <a:p>
                      <a:r>
                        <a:rPr sz="1800">
                          <a:solidFill>
                            <a:srgbClr val="14141E"/>
                          </a:solidFill>
                        </a:rPr>
                        <a:t>実験2</a:t>
                      </a:r>
                    </a:p>
                  </a:txBody>
                  <a:tcPr>
                    <a:solidFill>
                      <a:srgbClr val="ECF1F9"/>
                    </a:solidFill>
                  </a:tcPr>
                </a:tc>
                <a:tc>
                  <a:txBody>
                    <a:bodyPr/>
                    <a:lstStyle/>
                    <a:p>
                      <a:r>
                        <a:rPr sz="1800">
                          <a:solidFill>
                            <a:srgbClr val="14141E"/>
                          </a:solidFill>
                        </a:rPr>
                        <a:t>プロンプト方式の影響</a:t>
                      </a:r>
                    </a:p>
                  </a:txBody>
                  <a:tcPr>
                    <a:solidFill>
                      <a:srgbClr val="ECF1F9"/>
                    </a:solidFill>
                  </a:tcPr>
                </a:tc>
                <a:tc>
                  <a:txBody>
                    <a:bodyPr/>
                    <a:lstStyle/>
                    <a:p>
                      <a:r>
                        <a:rPr sz="1800">
                          <a:solidFill>
                            <a:srgbClr val="14141E"/>
                          </a:solidFill>
                        </a:rPr>
                        <a:t>プロンプトフォーマット</a:t>
                      </a:r>
                    </a:p>
                  </a:txBody>
                  <a:tcPr>
                    <a:solidFill>
                      <a:srgbClr val="ECF1F9"/>
                    </a:solidFill>
                  </a:tcPr>
                </a:tc>
              </a:tr>
              <a:tr h="525780">
                <a:tc>
                  <a:txBody>
                    <a:bodyPr/>
                    <a:lstStyle/>
                    <a:p>
                      <a:r>
                        <a:rPr sz="1800">
                          <a:solidFill>
                            <a:srgbClr val="14141E"/>
                          </a:solidFill>
                        </a:rPr>
                        <a:t>実験3</a:t>
                      </a:r>
                    </a:p>
                  </a:txBody>
                  <a:tcPr>
                    <a:solidFill>
                      <a:srgbClr val="FFFFFF"/>
                    </a:solidFill>
                  </a:tcPr>
                </a:tc>
                <a:tc>
                  <a:txBody>
                    <a:bodyPr/>
                    <a:lstStyle/>
                    <a:p>
                      <a:r>
                        <a:rPr sz="1800">
                          <a:solidFill>
                            <a:srgbClr val="14141E"/>
                          </a:solidFill>
                        </a:rPr>
                        <a:t>言語の影響（先行研究数値との比較）</a:t>
                      </a:r>
                    </a:p>
                  </a:txBody>
                  <a:tcPr>
                    <a:solidFill>
                      <a:srgbClr val="FFFFFF"/>
                    </a:solidFill>
                  </a:tcPr>
                </a:tc>
                <a:tc>
                  <a:txBody>
                    <a:bodyPr/>
                    <a:lstStyle/>
                    <a:p>
                      <a:r>
                        <a:rPr sz="1800">
                          <a:solidFill>
                            <a:srgbClr val="14141E"/>
                          </a:solidFill>
                        </a:rPr>
                        <a:t>日本語 vs 英語</a:t>
                      </a:r>
                    </a:p>
                  </a:txBody>
                  <a:tcPr>
                    <a:solidFill>
                      <a:srgbClr val="FFFFFF"/>
                    </a:solidFill>
                  </a:tcPr>
                </a:tc>
              </a:tr>
            </a:tbl>
          </a:graphicData>
        </a:graphic>
      </p:graphicFrame>
      <p:sp>
        <p:nvSpPr>
          <p:cNvPr id="6" name="TextBox 5"/>
          <p:cNvSpPr txBox="1"/>
          <p:nvPr/>
        </p:nvSpPr>
        <p:spPr>
          <a:xfrm>
            <a:off x="640080" y="4023360"/>
            <a:ext cx="10881360" cy="1463040"/>
          </a:xfrm>
          <a:prstGeom prst="rect">
            <a:avLst/>
          </a:prstGeom>
          <a:noFill/>
        </p:spPr>
        <p:txBody>
          <a:bodyPr wrap="square">
            <a:spAutoFit/>
          </a:bodyPr>
          <a:lstStyle/>
          <a:p>
            <a:pPr>
              <a:spcBef>
                <a:spcPts val="1000"/>
              </a:spcBef>
            </a:pPr>
            <a:r>
              <a:rPr sz="1900">
                <a:solidFill>
                  <a:srgbClr val="14141E"/>
                </a:solidFill>
              </a:rPr>
              <a:t>・各ドメイン250問，合計1,000問を使用</a:t>
            </a:r>
          </a:p>
          <a:p>
            <a:pPr>
              <a:spcBef>
                <a:spcPts val="1000"/>
              </a:spcBef>
            </a:pPr>
            <a:r>
              <a:rPr sz="1900">
                <a:solidFill>
                  <a:srgbClr val="14141E"/>
                </a:solidFill>
              </a:rPr>
              <a:t>・ECE（10ビン）で各ビン平均25問を確保するための最低ラインとして設定（Roelofs et al. 2022）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研究の方針：使用モデル</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15/34</a:t>
            </a:r>
          </a:p>
        </p:txBody>
      </p:sp>
      <p:sp>
        <p:nvSpPr>
          <p:cNvPr id="5" name="TextBox 4"/>
          <p:cNvSpPr txBox="1"/>
          <p:nvPr/>
        </p:nvSpPr>
        <p:spPr>
          <a:xfrm>
            <a:off x="640080" y="1645920"/>
            <a:ext cx="10881360" cy="4114800"/>
          </a:xfrm>
          <a:prstGeom prst="rect">
            <a:avLst/>
          </a:prstGeom>
          <a:noFill/>
        </p:spPr>
        <p:txBody>
          <a:bodyPr wrap="square">
            <a:spAutoFit/>
          </a:bodyPr>
          <a:lstStyle/>
          <a:p>
            <a:pPr>
              <a:spcBef>
                <a:spcPts val="1600"/>
              </a:spcBef>
            </a:pPr>
            <a:r>
              <a:rPr sz="2100">
                <a:solidFill>
                  <a:srgbClr val="14141E"/>
                </a:solidFill>
              </a:rPr>
              <a:t>・商用：GPT-4o / GPT-5，Claude Sonnet 4.6，Gemini 2.x</a:t>
            </a:r>
          </a:p>
          <a:p>
            <a:pPr>
              <a:spcBef>
                <a:spcPts val="1600"/>
              </a:spcBef>
            </a:pPr>
            <a:r>
              <a:rPr sz="2100">
                <a:solidFill>
                  <a:srgbClr val="14141E"/>
                </a:solidFill>
              </a:rPr>
              <a:t>・オープン：Swallow，ELYZA-japanese-Llama，Qwen（バックアップ候補）</a:t>
            </a:r>
          </a:p>
          <a:p>
            <a:pPr>
              <a:spcBef>
                <a:spcPts val="1600"/>
              </a:spcBef>
            </a:pPr>
            <a:r>
              <a:rPr sz="2100">
                <a:solidFill>
                  <a:srgbClr val="14141E"/>
                </a:solidFill>
              </a:rPr>
              <a:t>・合計4〜6モデルを予定</a:t>
            </a:r>
          </a:p>
          <a:p>
            <a:pPr>
              <a:spcBef>
                <a:spcPts val="1600"/>
              </a:spcBef>
            </a:pPr>
            <a:r>
              <a:rPr sz="2100">
                <a:solidFill>
                  <a:srgbClr val="14141E"/>
                </a:solidFill>
              </a:rPr>
              <a:t>・モデルの正確なバージョン・取得日時は実験実施時に必ず記録し，再現性を担保する</a:t>
            </a:r>
          </a:p>
          <a:p>
            <a:pPr>
              <a:spcBef>
                <a:spcPts val="1600"/>
              </a:spcBef>
            </a:pPr>
            <a:r>
              <a:rPr sz="2100">
                <a:solidFill>
                  <a:srgbClr val="14141E"/>
                </a:solidFill>
              </a:rPr>
              <a:t>・オープンソースモデルはローカル実行またはHugging Face無料枠を使用（追加コストなし）</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研究の方針：データセット</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16/34</a:t>
            </a:r>
          </a:p>
        </p:txBody>
      </p:sp>
      <p:graphicFrame>
        <p:nvGraphicFramePr>
          <p:cNvPr id="5" name="Table 4"/>
          <p:cNvGraphicFramePr>
            <a:graphicFrameLocks noGrp="1"/>
          </p:cNvGraphicFramePr>
          <p:nvPr/>
        </p:nvGraphicFramePr>
        <p:xfrm>
          <a:off x="640080" y="1463040"/>
          <a:ext cx="10881360" cy="2377440"/>
        </p:xfrm>
        <a:graphic>
          <a:graphicData uri="http://schemas.openxmlformats.org/drawingml/2006/table">
            <a:tbl>
              <a:tblPr firstRow="1" bandRow="1">
                <a:tableStyleId>{5C22544A-7EE6-4342-B048-85BDC9FD1C3A}</a:tableStyleId>
              </a:tblPr>
              <a:tblGrid>
                <a:gridCol w="2720340"/>
                <a:gridCol w="2720340"/>
                <a:gridCol w="2720340"/>
                <a:gridCol w="2720340"/>
              </a:tblGrid>
              <a:tr h="475488">
                <a:tc>
                  <a:txBody>
                    <a:bodyPr/>
                    <a:lstStyle/>
                    <a:p>
                      <a:pPr algn="ctr"/>
                      <a:r>
                        <a:rPr sz="1800" b="1">
                          <a:solidFill>
                            <a:srgbClr val="FFFFFF"/>
                          </a:solidFill>
                        </a:rPr>
                        <a:t>ドメイン</a:t>
                      </a:r>
                    </a:p>
                  </a:txBody>
                  <a:tcPr>
                    <a:solidFill>
                      <a:srgbClr val="1A56AA"/>
                    </a:solidFill>
                  </a:tcPr>
                </a:tc>
                <a:tc>
                  <a:txBody>
                    <a:bodyPr/>
                    <a:lstStyle/>
                    <a:p>
                      <a:pPr algn="ctr"/>
                      <a:r>
                        <a:rPr sz="1800" b="1">
                          <a:solidFill>
                            <a:srgbClr val="FFFFFF"/>
                          </a:solidFill>
                        </a:rPr>
                        <a:t>データセット</a:t>
                      </a:r>
                    </a:p>
                  </a:txBody>
                  <a:tcPr>
                    <a:solidFill>
                      <a:srgbClr val="1A56AA"/>
                    </a:solidFill>
                  </a:tcPr>
                </a:tc>
                <a:tc>
                  <a:txBody>
                    <a:bodyPr/>
                    <a:lstStyle/>
                    <a:p>
                      <a:pPr algn="ctr"/>
                      <a:r>
                        <a:rPr sz="1800" b="1">
                          <a:solidFill>
                            <a:srgbClr val="FFFFFF"/>
                          </a:solidFill>
                        </a:rPr>
                        <a:t>問数</a:t>
                      </a:r>
                    </a:p>
                  </a:txBody>
                  <a:tcPr>
                    <a:solidFill>
                      <a:srgbClr val="1A56AA"/>
                    </a:solidFill>
                  </a:tcPr>
                </a:tc>
                <a:tc>
                  <a:txBody>
                    <a:bodyPr/>
                    <a:lstStyle/>
                    <a:p>
                      <a:pPr algn="ctr"/>
                      <a:r>
                        <a:rPr sz="1800" b="1">
                          <a:solidFill>
                            <a:srgbClr val="FFFFFF"/>
                          </a:solidFill>
                        </a:rPr>
                        <a:t>正答判定</a:t>
                      </a:r>
                    </a:p>
                  </a:txBody>
                  <a:tcPr>
                    <a:solidFill>
                      <a:srgbClr val="1A56AA"/>
                    </a:solidFill>
                  </a:tcPr>
                </a:tc>
              </a:tr>
              <a:tr h="475488">
                <a:tc>
                  <a:txBody>
                    <a:bodyPr/>
                    <a:lstStyle/>
                    <a:p>
                      <a:r>
                        <a:rPr sz="1700">
                          <a:solidFill>
                            <a:srgbClr val="14141E"/>
                          </a:solidFill>
                        </a:rPr>
                        <a:t>数学</a:t>
                      </a:r>
                    </a:p>
                  </a:txBody>
                  <a:tcPr>
                    <a:solidFill>
                      <a:srgbClr val="FFFFFF"/>
                    </a:solidFill>
                  </a:tcPr>
                </a:tc>
                <a:tc>
                  <a:txBody>
                    <a:bodyPr/>
                    <a:lstStyle/>
                    <a:p>
                      <a:r>
                        <a:rPr sz="1700">
                          <a:solidFill>
                            <a:srgbClr val="14141E"/>
                          </a:solidFill>
                        </a:rPr>
                        <a:t>MGSM（日本語版GSM8K）</a:t>
                      </a:r>
                    </a:p>
                  </a:txBody>
                  <a:tcPr>
                    <a:solidFill>
                      <a:srgbClr val="FFFFFF"/>
                    </a:solidFill>
                  </a:tcPr>
                </a:tc>
                <a:tc>
                  <a:txBody>
                    <a:bodyPr/>
                    <a:lstStyle/>
                    <a:p>
                      <a:r>
                        <a:rPr sz="1700">
                          <a:solidFill>
                            <a:srgbClr val="14141E"/>
                          </a:solidFill>
                        </a:rPr>
                        <a:t>250</a:t>
                      </a:r>
                    </a:p>
                  </a:txBody>
                  <a:tcPr>
                    <a:solidFill>
                      <a:srgbClr val="FFFFFF"/>
                    </a:solidFill>
                  </a:tcPr>
                </a:tc>
                <a:tc>
                  <a:txBody>
                    <a:bodyPr/>
                    <a:lstStyle/>
                    <a:p>
                      <a:r>
                        <a:rPr sz="1700">
                          <a:solidFill>
                            <a:srgbClr val="14141E"/>
                          </a:solidFill>
                        </a:rPr>
                        <a:t>正規化完全一致</a:t>
                      </a:r>
                    </a:p>
                  </a:txBody>
                  <a:tcPr>
                    <a:solidFill>
                      <a:srgbClr val="FFFFFF"/>
                    </a:solidFill>
                  </a:tcPr>
                </a:tc>
              </a:tr>
              <a:tr h="475488">
                <a:tc>
                  <a:txBody>
                    <a:bodyPr/>
                    <a:lstStyle/>
                    <a:p>
                      <a:r>
                        <a:rPr sz="1700">
                          <a:solidFill>
                            <a:srgbClr val="14141E"/>
                          </a:solidFill>
                        </a:rPr>
                        <a:t>常識</a:t>
                      </a:r>
                    </a:p>
                  </a:txBody>
                  <a:tcPr>
                    <a:solidFill>
                      <a:srgbClr val="ECF1F9"/>
                    </a:solidFill>
                  </a:tcPr>
                </a:tc>
                <a:tc>
                  <a:txBody>
                    <a:bodyPr/>
                    <a:lstStyle/>
                    <a:p>
                      <a:r>
                        <a:rPr sz="1700">
                          <a:solidFill>
                            <a:srgbClr val="14141E"/>
                          </a:solidFill>
                        </a:rPr>
                        <a:t>JCommonsenseQA</a:t>
                      </a:r>
                    </a:p>
                  </a:txBody>
                  <a:tcPr>
                    <a:solidFill>
                      <a:srgbClr val="ECF1F9"/>
                    </a:solidFill>
                  </a:tcPr>
                </a:tc>
                <a:tc>
                  <a:txBody>
                    <a:bodyPr/>
                    <a:lstStyle/>
                    <a:p>
                      <a:r>
                        <a:rPr sz="1700">
                          <a:solidFill>
                            <a:srgbClr val="14141E"/>
                          </a:solidFill>
                        </a:rPr>
                        <a:t>250</a:t>
                      </a:r>
                    </a:p>
                  </a:txBody>
                  <a:tcPr>
                    <a:solidFill>
                      <a:srgbClr val="ECF1F9"/>
                    </a:solidFill>
                  </a:tcPr>
                </a:tc>
                <a:tc>
                  <a:txBody>
                    <a:bodyPr/>
                    <a:lstStyle/>
                    <a:p>
                      <a:r>
                        <a:rPr sz="1700">
                          <a:solidFill>
                            <a:srgbClr val="14141E"/>
                          </a:solidFill>
                        </a:rPr>
                        <a:t>選択肢ラベル一致</a:t>
                      </a:r>
                    </a:p>
                  </a:txBody>
                  <a:tcPr>
                    <a:solidFill>
                      <a:srgbClr val="ECF1F9"/>
                    </a:solidFill>
                  </a:tcPr>
                </a:tc>
              </a:tr>
              <a:tr h="475488">
                <a:tc>
                  <a:txBody>
                    <a:bodyPr/>
                    <a:lstStyle/>
                    <a:p>
                      <a:r>
                        <a:rPr sz="1700">
                          <a:solidFill>
                            <a:srgbClr val="14141E"/>
                          </a:solidFill>
                        </a:rPr>
                        <a:t>知識</a:t>
                      </a:r>
                    </a:p>
                  </a:txBody>
                  <a:tcPr>
                    <a:solidFill>
                      <a:srgbClr val="FFFFFF"/>
                    </a:solidFill>
                  </a:tcPr>
                </a:tc>
                <a:tc>
                  <a:txBody>
                    <a:bodyPr/>
                    <a:lstStyle/>
                    <a:p>
                      <a:r>
                        <a:rPr sz="1700">
                          <a:solidFill>
                            <a:srgbClr val="14141E"/>
                          </a:solidFill>
                        </a:rPr>
                        <a:t>JMMLU（日本史中心4科目）</a:t>
                      </a:r>
                    </a:p>
                  </a:txBody>
                  <a:tcPr>
                    <a:solidFill>
                      <a:srgbClr val="FFFFFF"/>
                    </a:solidFill>
                  </a:tcPr>
                </a:tc>
                <a:tc>
                  <a:txBody>
                    <a:bodyPr/>
                    <a:lstStyle/>
                    <a:p>
                      <a:r>
                        <a:rPr sz="1700">
                          <a:solidFill>
                            <a:srgbClr val="14141E"/>
                          </a:solidFill>
                        </a:rPr>
                        <a:t>250</a:t>
                      </a:r>
                    </a:p>
                  </a:txBody>
                  <a:tcPr>
                    <a:solidFill>
                      <a:srgbClr val="FFFFFF"/>
                    </a:solidFill>
                  </a:tcPr>
                </a:tc>
                <a:tc>
                  <a:txBody>
                    <a:bodyPr/>
                    <a:lstStyle/>
                    <a:p>
                      <a:r>
                        <a:rPr sz="1700">
                          <a:solidFill>
                            <a:srgbClr val="14141E"/>
                          </a:solidFill>
                        </a:rPr>
                        <a:t>選択肢ラベル一致</a:t>
                      </a:r>
                    </a:p>
                  </a:txBody>
                  <a:tcPr>
                    <a:solidFill>
                      <a:srgbClr val="FFFFFF"/>
                    </a:solidFill>
                  </a:tcPr>
                </a:tc>
              </a:tr>
              <a:tr h="475488">
                <a:tc>
                  <a:txBody>
                    <a:bodyPr/>
                    <a:lstStyle/>
                    <a:p>
                      <a:r>
                        <a:rPr sz="1700">
                          <a:solidFill>
                            <a:srgbClr val="14141E"/>
                          </a:solidFill>
                        </a:rPr>
                        <a:t>翻訳</a:t>
                      </a:r>
                    </a:p>
                  </a:txBody>
                  <a:tcPr>
                    <a:solidFill>
                      <a:srgbClr val="ECF1F9"/>
                    </a:solidFill>
                  </a:tcPr>
                </a:tc>
                <a:tc>
                  <a:txBody>
                    <a:bodyPr/>
                    <a:lstStyle/>
                    <a:p>
                      <a:r>
                        <a:rPr sz="1700">
                          <a:solidFill>
                            <a:srgbClr val="14141E"/>
                          </a:solidFill>
                        </a:rPr>
                        <a:t>FLORES-200（日英ペア）</a:t>
                      </a:r>
                    </a:p>
                  </a:txBody>
                  <a:tcPr>
                    <a:solidFill>
                      <a:srgbClr val="ECF1F9"/>
                    </a:solidFill>
                  </a:tcPr>
                </a:tc>
                <a:tc>
                  <a:txBody>
                    <a:bodyPr/>
                    <a:lstStyle/>
                    <a:p>
                      <a:r>
                        <a:rPr sz="1700">
                          <a:solidFill>
                            <a:srgbClr val="14141E"/>
                          </a:solidFill>
                        </a:rPr>
                        <a:t>250</a:t>
                      </a:r>
                    </a:p>
                  </a:txBody>
                  <a:tcPr>
                    <a:solidFill>
                      <a:srgbClr val="ECF1F9"/>
                    </a:solidFill>
                  </a:tcPr>
                </a:tc>
                <a:tc>
                  <a:txBody>
                    <a:bodyPr/>
                    <a:lstStyle/>
                    <a:p>
                      <a:r>
                        <a:rPr sz="1700">
                          <a:solidFill>
                            <a:srgbClr val="14141E"/>
                          </a:solidFill>
                        </a:rPr>
                        <a:t>COMET閾値+LLM-as-a-Judge</a:t>
                      </a:r>
                    </a:p>
                  </a:txBody>
                  <a:tcPr>
                    <a:solidFill>
                      <a:srgbClr val="ECF1F9"/>
                    </a:solidFill>
                  </a:tcPr>
                </a:tc>
              </a:tr>
            </a:tbl>
          </a:graphicData>
        </a:graphic>
      </p:graphicFrame>
      <p:sp>
        <p:nvSpPr>
          <p:cNvPr id="6" name="TextBox 5"/>
          <p:cNvSpPr txBox="1"/>
          <p:nvPr/>
        </p:nvSpPr>
        <p:spPr>
          <a:xfrm>
            <a:off x="640080" y="4114800"/>
            <a:ext cx="10881360" cy="1463040"/>
          </a:xfrm>
          <a:prstGeom prst="rect">
            <a:avLst/>
          </a:prstGeom>
          <a:noFill/>
        </p:spPr>
        <p:txBody>
          <a:bodyPr wrap="square">
            <a:spAutoFit/>
          </a:bodyPr>
          <a:lstStyle/>
          <a:p>
            <a:pPr>
              <a:spcBef>
                <a:spcPts val="1000"/>
              </a:spcBef>
            </a:pPr>
            <a:r>
              <a:rPr sz="1800">
                <a:solidFill>
                  <a:srgbClr val="14141E"/>
                </a:solidFill>
              </a:rPr>
              <a:t>・JCommonsenseQA・JMMLUは日本語話者向けに作成されたデータセット</a:t>
            </a:r>
          </a:p>
          <a:p>
            <a:pPr>
              <a:spcBef>
                <a:spcPts val="1000"/>
              </a:spcBef>
            </a:pPr>
            <a:r>
              <a:rPr sz="1800">
                <a:solidFill>
                  <a:srgbClr val="14141E"/>
                </a:solidFill>
              </a:rPr>
              <a:t>・MGSM・FLORES-200は多言語比較で標準的に用いられるベンチマーク（多言語展開/対訳コーパス）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プロンプト方式①：Verb.1S（同時出力）</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17/34</a:t>
            </a:r>
          </a:p>
        </p:txBody>
      </p:sp>
      <p:sp>
        <p:nvSpPr>
          <p:cNvPr id="5" name="Rectangle 4"/>
          <p:cNvSpPr/>
          <p:nvPr/>
        </p:nvSpPr>
        <p:spPr>
          <a:xfrm>
            <a:off x="640080" y="1463040"/>
            <a:ext cx="10881360" cy="237744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10515600" cy="2194560"/>
          </a:xfrm>
          <a:prstGeom prst="rect">
            <a:avLst/>
          </a:prstGeom>
          <a:noFill/>
        </p:spPr>
        <p:txBody>
          <a:bodyPr wrap="square">
            <a:spAutoFit/>
          </a:bodyPr>
          <a:lstStyle/>
          <a:p>
            <a:pPr algn="l"/>
            <a:r>
              <a:rPr sz="1700" b="0" i="0">
                <a:solidFill>
                  <a:srgbClr val="14141E"/>
                </a:solidFill>
              </a:rPr>
              <a:t>以下の数学の問題を読み，回答と，その回答が正しいと思う確率（確信度）を答えてください。
確信度は0.0（まったく自信がない）から1.0（完全に確信している）の数値で表してください。
問題: {question}
回答: [数値のみ]
確信度: [0.0〜1.0の数値]</a:t>
            </a:r>
          </a:p>
        </p:txBody>
      </p:sp>
      <p:sp>
        <p:nvSpPr>
          <p:cNvPr id="7" name="TextBox 6"/>
          <p:cNvSpPr txBox="1"/>
          <p:nvPr/>
        </p:nvSpPr>
        <p:spPr>
          <a:xfrm>
            <a:off x="640080" y="4114800"/>
            <a:ext cx="10881360" cy="1463040"/>
          </a:xfrm>
          <a:prstGeom prst="rect">
            <a:avLst/>
          </a:prstGeom>
          <a:noFill/>
        </p:spPr>
        <p:txBody>
          <a:bodyPr wrap="square">
            <a:spAutoFit/>
          </a:bodyPr>
          <a:lstStyle/>
          <a:p>
            <a:pPr>
              <a:spcBef>
                <a:spcPts val="1000"/>
              </a:spcBef>
            </a:pPr>
            <a:r>
              <a:rPr sz="1900">
                <a:solidFill>
                  <a:srgbClr val="14141E"/>
                </a:solidFill>
              </a:rPr>
              <a:t>・Xiong 2024のVanilla方式に対応。回答と確信度を1回のやり取りで同時出力させる</a:t>
            </a:r>
          </a:p>
          <a:p>
            <a:pPr>
              <a:spcBef>
                <a:spcPts val="1000"/>
              </a:spcBef>
            </a:pPr>
            <a:r>
              <a:rPr sz="1900">
                <a:solidFill>
                  <a:srgbClr val="14141E"/>
                </a:solidFill>
              </a:rPr>
              <a:t>・常識QA・知識QA・翻訳ドメインでは回答形式指示部分のみドメイン固有の内容に置換</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プロンプト方式②：Verb.2S（別ターンで質問）</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18/34</a:t>
            </a:r>
          </a:p>
        </p:txBody>
      </p:sp>
      <p:sp>
        <p:nvSpPr>
          <p:cNvPr id="5" name="Rectangle 4"/>
          <p:cNvSpPr/>
          <p:nvPr/>
        </p:nvSpPr>
        <p:spPr>
          <a:xfrm>
            <a:off x="640080" y="1371600"/>
            <a:ext cx="10881360" cy="274320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08760"/>
            <a:ext cx="10515600" cy="2560320"/>
          </a:xfrm>
          <a:prstGeom prst="rect">
            <a:avLst/>
          </a:prstGeom>
          <a:noFill/>
        </p:spPr>
        <p:txBody>
          <a:bodyPr wrap="square">
            <a:spAutoFit/>
          </a:bodyPr>
          <a:lstStyle/>
          <a:p>
            <a:pPr algn="l"/>
            <a:r>
              <a:rPr sz="1700" b="0" i="0">
                <a:solidFill>
                  <a:srgbClr val="14141E"/>
                </a:solidFill>
              </a:rPr>
              <a:t>[Turn 1] 以下の数学の問題に回答してください。
問題: {question}　→　回答: [数値のみ]
[Turn 2] あなたは先ほどの問題に対して「{answer}」と回答しました。
この回答が正しい確率を0.0〜1.0の数値で答えてください。
確信度: [0.0〜1.0の数値]</a:t>
            </a:r>
          </a:p>
        </p:txBody>
      </p:sp>
      <p:sp>
        <p:nvSpPr>
          <p:cNvPr id="7" name="TextBox 6"/>
          <p:cNvSpPr txBox="1"/>
          <p:nvPr/>
        </p:nvSpPr>
        <p:spPr>
          <a:xfrm>
            <a:off x="640080" y="4297680"/>
            <a:ext cx="10881360" cy="1463040"/>
          </a:xfrm>
          <a:prstGeom prst="rect">
            <a:avLst/>
          </a:prstGeom>
          <a:noFill/>
        </p:spPr>
        <p:txBody>
          <a:bodyPr wrap="square">
            <a:spAutoFit/>
          </a:bodyPr>
          <a:lstStyle/>
          <a:p>
            <a:pPr>
              <a:spcBef>
                <a:spcPts val="1000"/>
              </a:spcBef>
            </a:pPr>
            <a:r>
              <a:rPr sz="1900">
                <a:solidFill>
                  <a:srgbClr val="14141E"/>
                </a:solidFill>
              </a:rPr>
              <a:t>・Xiong 2024のSelf-Probing／Tian 2023のTwo-Stageに対応</a:t>
            </a:r>
          </a:p>
          <a:p>
            <a:pPr>
              <a:spcBef>
                <a:spcPts val="1000"/>
              </a:spcBef>
            </a:pPr>
            <a:r>
              <a:rPr sz="1900">
                <a:solidFill>
                  <a:srgbClr val="14141E"/>
                </a:solidFill>
              </a:rPr>
              <a:t>・回答と確信度評価を分離することで回答依存型の確信度を誘発（ADVICEの診断的知見を踏まえた設計）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プロンプト方式③：Ling.1S（言語表現）</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19/34</a:t>
            </a:r>
          </a:p>
        </p:txBody>
      </p:sp>
      <p:graphicFrame>
        <p:nvGraphicFramePr>
          <p:cNvPr id="5" name="Table 4"/>
          <p:cNvGraphicFramePr>
            <a:graphicFrameLocks noGrp="1"/>
          </p:cNvGraphicFramePr>
          <p:nvPr/>
        </p:nvGraphicFramePr>
        <p:xfrm>
          <a:off x="1371600" y="1463040"/>
          <a:ext cx="9418320" cy="2743200"/>
        </p:xfrm>
        <a:graphic>
          <a:graphicData uri="http://schemas.openxmlformats.org/drawingml/2006/table">
            <a:tbl>
              <a:tblPr firstRow="1" bandRow="1">
                <a:tableStyleId>{5C22544A-7EE6-4342-B048-85BDC9FD1C3A}</a:tableStyleId>
              </a:tblPr>
              <a:tblGrid>
                <a:gridCol w="4709160"/>
                <a:gridCol w="4709160"/>
              </a:tblGrid>
              <a:tr h="457200">
                <a:tc>
                  <a:txBody>
                    <a:bodyPr/>
                    <a:lstStyle/>
                    <a:p>
                      <a:pPr algn="ctr"/>
                      <a:r>
                        <a:rPr sz="1800" b="1">
                          <a:solidFill>
                            <a:srgbClr val="FFFFFF"/>
                          </a:solidFill>
                        </a:rPr>
                        <a:t>言語表現</a:t>
                      </a:r>
                    </a:p>
                  </a:txBody>
                  <a:tcPr>
                    <a:solidFill>
                      <a:srgbClr val="1A56AA"/>
                    </a:solidFill>
                  </a:tcPr>
                </a:tc>
                <a:tc>
                  <a:txBody>
                    <a:bodyPr/>
                    <a:lstStyle/>
                    <a:p>
                      <a:pPr algn="ctr"/>
                      <a:r>
                        <a:rPr sz="1800" b="1">
                          <a:solidFill>
                            <a:srgbClr val="FFFFFF"/>
                          </a:solidFill>
                        </a:rPr>
                        <a:t>数値</a:t>
                      </a:r>
                    </a:p>
                  </a:txBody>
                  <a:tcPr>
                    <a:solidFill>
                      <a:srgbClr val="1A56AA"/>
                    </a:solidFill>
                  </a:tcPr>
                </a:tc>
              </a:tr>
              <a:tr h="457200">
                <a:tc>
                  <a:txBody>
                    <a:bodyPr/>
                    <a:lstStyle/>
                    <a:p>
                      <a:r>
                        <a:rPr sz="1700">
                          <a:solidFill>
                            <a:srgbClr val="14141E"/>
                          </a:solidFill>
                        </a:rPr>
                        <a:t>ほぼ確実</a:t>
                      </a:r>
                    </a:p>
                  </a:txBody>
                  <a:tcPr>
                    <a:solidFill>
                      <a:srgbClr val="FFFFFF"/>
                    </a:solidFill>
                  </a:tcPr>
                </a:tc>
                <a:tc>
                  <a:txBody>
                    <a:bodyPr/>
                    <a:lstStyle/>
                    <a:p>
                      <a:r>
                        <a:rPr sz="1700">
                          <a:solidFill>
                            <a:srgbClr val="14141E"/>
                          </a:solidFill>
                        </a:rPr>
                        <a:t>0.95</a:t>
                      </a:r>
                    </a:p>
                  </a:txBody>
                  <a:tcPr>
                    <a:solidFill>
                      <a:srgbClr val="FFFFFF"/>
                    </a:solidFill>
                  </a:tcPr>
                </a:tc>
              </a:tr>
              <a:tr h="457200">
                <a:tc>
                  <a:txBody>
                    <a:bodyPr/>
                    <a:lstStyle/>
                    <a:p>
                      <a:r>
                        <a:rPr sz="1700">
                          <a:solidFill>
                            <a:srgbClr val="14141E"/>
                          </a:solidFill>
                        </a:rPr>
                        <a:t>かなり自信がある</a:t>
                      </a:r>
                    </a:p>
                  </a:txBody>
                  <a:tcPr>
                    <a:solidFill>
                      <a:srgbClr val="ECF1F9"/>
                    </a:solidFill>
                  </a:tcPr>
                </a:tc>
                <a:tc>
                  <a:txBody>
                    <a:bodyPr/>
                    <a:lstStyle/>
                    <a:p>
                      <a:r>
                        <a:rPr sz="1700">
                          <a:solidFill>
                            <a:srgbClr val="14141E"/>
                          </a:solidFill>
                        </a:rPr>
                        <a:t>0.80</a:t>
                      </a:r>
                    </a:p>
                  </a:txBody>
                  <a:tcPr>
                    <a:solidFill>
                      <a:srgbClr val="ECF1F9"/>
                    </a:solidFill>
                  </a:tcPr>
                </a:tc>
              </a:tr>
              <a:tr h="457200">
                <a:tc>
                  <a:txBody>
                    <a:bodyPr/>
                    <a:lstStyle/>
                    <a:p>
                      <a:r>
                        <a:rPr sz="1700">
                          <a:solidFill>
                            <a:srgbClr val="14141E"/>
                          </a:solidFill>
                        </a:rPr>
                        <a:t>どちらともいえない</a:t>
                      </a:r>
                    </a:p>
                  </a:txBody>
                  <a:tcPr>
                    <a:solidFill>
                      <a:srgbClr val="FFFFFF"/>
                    </a:solidFill>
                  </a:tcPr>
                </a:tc>
                <a:tc>
                  <a:txBody>
                    <a:bodyPr/>
                    <a:lstStyle/>
                    <a:p>
                      <a:r>
                        <a:rPr sz="1700">
                          <a:solidFill>
                            <a:srgbClr val="14141E"/>
                          </a:solidFill>
                        </a:rPr>
                        <a:t>0.50</a:t>
                      </a:r>
                    </a:p>
                  </a:txBody>
                  <a:tcPr>
                    <a:solidFill>
                      <a:srgbClr val="FFFFFF"/>
                    </a:solidFill>
                  </a:tcPr>
                </a:tc>
              </a:tr>
              <a:tr h="457200">
                <a:tc>
                  <a:txBody>
                    <a:bodyPr/>
                    <a:lstStyle/>
                    <a:p>
                      <a:r>
                        <a:rPr sz="1700">
                          <a:solidFill>
                            <a:srgbClr val="14141E"/>
                          </a:solidFill>
                        </a:rPr>
                        <a:t>あまり自信がない</a:t>
                      </a:r>
                    </a:p>
                  </a:txBody>
                  <a:tcPr>
                    <a:solidFill>
                      <a:srgbClr val="ECF1F9"/>
                    </a:solidFill>
                  </a:tcPr>
                </a:tc>
                <a:tc>
                  <a:txBody>
                    <a:bodyPr/>
                    <a:lstStyle/>
                    <a:p>
                      <a:r>
                        <a:rPr sz="1700">
                          <a:solidFill>
                            <a:srgbClr val="14141E"/>
                          </a:solidFill>
                        </a:rPr>
                        <a:t>0.25</a:t>
                      </a:r>
                    </a:p>
                  </a:txBody>
                  <a:tcPr>
                    <a:solidFill>
                      <a:srgbClr val="ECF1F9"/>
                    </a:solidFill>
                  </a:tcPr>
                </a:tc>
              </a:tr>
              <a:tr h="457200">
                <a:tc>
                  <a:txBody>
                    <a:bodyPr/>
                    <a:lstStyle/>
                    <a:p>
                      <a:r>
                        <a:rPr sz="1700">
                          <a:solidFill>
                            <a:srgbClr val="14141E"/>
                          </a:solidFill>
                        </a:rPr>
                        <a:t>ほとんどわからない</a:t>
                      </a:r>
                    </a:p>
                  </a:txBody>
                  <a:tcPr>
                    <a:solidFill>
                      <a:srgbClr val="FFFFFF"/>
                    </a:solidFill>
                  </a:tcPr>
                </a:tc>
                <a:tc>
                  <a:txBody>
                    <a:bodyPr/>
                    <a:lstStyle/>
                    <a:p>
                      <a:r>
                        <a:rPr sz="1700">
                          <a:solidFill>
                            <a:srgbClr val="14141E"/>
                          </a:solidFill>
                        </a:rPr>
                        <a:t>0.05</a:t>
                      </a:r>
                    </a:p>
                  </a:txBody>
                  <a:tcPr>
                    <a:solidFill>
                      <a:srgbClr val="FFFFFF"/>
                    </a:solidFill>
                  </a:tcPr>
                </a:tc>
              </a:tr>
            </a:tbl>
          </a:graphicData>
        </a:graphic>
      </p:graphicFrame>
      <p:sp>
        <p:nvSpPr>
          <p:cNvPr id="6" name="TextBox 5"/>
          <p:cNvSpPr txBox="1"/>
          <p:nvPr/>
        </p:nvSpPr>
        <p:spPr>
          <a:xfrm>
            <a:off x="640080" y="4480560"/>
            <a:ext cx="10881360" cy="1371600"/>
          </a:xfrm>
          <a:prstGeom prst="rect">
            <a:avLst/>
          </a:prstGeom>
          <a:noFill/>
        </p:spPr>
        <p:txBody>
          <a:bodyPr wrap="square">
            <a:spAutoFit/>
          </a:bodyPr>
          <a:lstStyle/>
          <a:p>
            <a:pPr>
              <a:spcBef>
                <a:spcPts val="1000"/>
              </a:spcBef>
            </a:pPr>
            <a:r>
              <a:rPr sz="1900">
                <a:solidFill>
                  <a:srgbClr val="14141E"/>
                </a:solidFill>
              </a:rPr>
              <a:t>・Tian 2023のLinguistic方式に対応。マッピングはTianのアンカーを踏襲</a:t>
            </a:r>
          </a:p>
          <a:p>
            <a:pPr>
              <a:spcBef>
                <a:spcPts val="1000"/>
              </a:spcBef>
            </a:pPr>
            <a:r>
              <a:rPr sz="1900">
                <a:solidFill>
                  <a:srgbClr val="14141E"/>
                </a:solidFill>
              </a:rPr>
              <a:t>・対応表の設定自体がキャリブレーション精度に影響しうるため，±0.05の感度分析を併せて行う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CoT（Chain-of-Thought）を独立条件にしない理由</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20/34</a:t>
            </a:r>
          </a:p>
        </p:txBody>
      </p:sp>
      <p:sp>
        <p:nvSpPr>
          <p:cNvPr id="5" name="TextBox 4"/>
          <p:cNvSpPr txBox="1"/>
          <p:nvPr/>
        </p:nvSpPr>
        <p:spPr>
          <a:xfrm>
            <a:off x="640080" y="1737360"/>
            <a:ext cx="10881360" cy="3931920"/>
          </a:xfrm>
          <a:prstGeom prst="rect">
            <a:avLst/>
          </a:prstGeom>
          <a:noFill/>
        </p:spPr>
        <p:txBody>
          <a:bodyPr wrap="square">
            <a:spAutoFit/>
          </a:bodyPr>
          <a:lstStyle/>
          <a:p>
            <a:pPr>
              <a:spcBef>
                <a:spcPts val="1800"/>
              </a:spcBef>
            </a:pPr>
            <a:r>
              <a:rPr sz="2200">
                <a:solidFill>
                  <a:srgbClr val="14141E"/>
                </a:solidFill>
              </a:rPr>
              <a:t>・(1) 推論の一貫性向上が過信助長につながる場合がある</a:t>
            </a:r>
          </a:p>
          <a:p>
            <a:pPr>
              <a:spcBef>
                <a:spcPts val="1800"/>
              </a:spcBef>
            </a:pPr>
            <a:r>
              <a:rPr sz="2200">
                <a:solidFill>
                  <a:srgbClr val="14141E"/>
                </a:solidFill>
              </a:rPr>
              <a:t>・(2) 正答率自体を変化させるため確信度設計の効果と分離困難</a:t>
            </a:r>
          </a:p>
          <a:p>
            <a:pPr>
              <a:spcBef>
                <a:spcPts val="1800"/>
              </a:spcBef>
            </a:pPr>
            <a:r>
              <a:rPr sz="2200">
                <a:solidFill>
                  <a:srgbClr val="14141E"/>
                </a:solidFill>
              </a:rPr>
              <a:t>・(3) 条件数倍増によるコスト増大</a:t>
            </a:r>
          </a:p>
          <a:p>
            <a:pPr>
              <a:spcBef>
                <a:spcPts val="1800"/>
              </a:spcBef>
            </a:pPr>
            <a:r>
              <a:rPr sz="2200">
                <a:solidFill>
                  <a:srgbClr val="14141E"/>
                </a:solidFill>
              </a:rPr>
              <a:t>・→ CoTはXiong 2024で評価済みだが，本研究では採用せず将来の拡張として位置づける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評価指標①：ECE（Expected Calibration Error）</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21/34</a:t>
            </a:r>
          </a:p>
        </p:txBody>
      </p:sp>
      <p:graphicFrame>
        <p:nvGraphicFramePr>
          <p:cNvPr id="5" name="Table 4"/>
          <p:cNvGraphicFramePr>
            <a:graphicFrameLocks noGrp="1"/>
          </p:cNvGraphicFramePr>
          <p:nvPr/>
        </p:nvGraphicFramePr>
        <p:xfrm>
          <a:off x="457200" y="1371600"/>
          <a:ext cx="11292840" cy="4480560"/>
        </p:xfrm>
        <a:graphic>
          <a:graphicData uri="http://schemas.openxmlformats.org/drawingml/2006/table">
            <a:tbl>
              <a:tblPr firstRow="1" bandRow="1">
                <a:tableStyleId>{5C22544A-7EE6-4342-B048-85BDC9FD1C3A}</a:tableStyleId>
              </a:tblPr>
              <a:tblGrid>
                <a:gridCol w="5646420"/>
                <a:gridCol w="5646420"/>
              </a:tblGrid>
              <a:tr h="640080">
                <a:tc>
                  <a:txBody>
                    <a:bodyPr/>
                    <a:lstStyle/>
                    <a:p>
                      <a:pPr algn="ctr"/>
                      <a:r>
                        <a:rPr sz="1700" b="1">
                          <a:solidFill>
                            <a:srgbClr val="FFFFFF"/>
                          </a:solidFill>
                        </a:rPr>
                        <a:t>項目</a:t>
                      </a:r>
                    </a:p>
                  </a:txBody>
                  <a:tcPr>
                    <a:solidFill>
                      <a:srgbClr val="1A56AA"/>
                    </a:solidFill>
                  </a:tcPr>
                </a:tc>
                <a:tc>
                  <a:txBody>
                    <a:bodyPr/>
                    <a:lstStyle/>
                    <a:p>
                      <a:pPr algn="ctr"/>
                      <a:r>
                        <a:rPr sz="1700" b="1">
                          <a:solidFill>
                            <a:srgbClr val="FFFFFF"/>
                          </a:solidFill>
                        </a:rPr>
                        <a:t>内容</a:t>
                      </a:r>
                    </a:p>
                  </a:txBody>
                  <a:tcPr>
                    <a:solidFill>
                      <a:srgbClr val="1A56AA"/>
                    </a:solidFill>
                  </a:tcPr>
                </a:tc>
              </a:tr>
              <a:tr h="640080">
                <a:tc>
                  <a:txBody>
                    <a:bodyPr/>
                    <a:lstStyle/>
                    <a:p>
                      <a:r>
                        <a:rPr sz="1500">
                          <a:solidFill>
                            <a:srgbClr val="14141E"/>
                          </a:solidFill>
                        </a:rPr>
                        <a:t>定義</a:t>
                      </a:r>
                    </a:p>
                  </a:txBody>
                  <a:tcPr>
                    <a:solidFill>
                      <a:srgbClr val="FFFFFF"/>
                    </a:solidFill>
                  </a:tcPr>
                </a:tc>
                <a:tc>
                  <a:txBody>
                    <a:bodyPr/>
                    <a:lstStyle/>
                    <a:p>
                      <a:r>
                        <a:rPr sz="1500">
                          <a:solidFill>
                            <a:srgbClr val="14141E"/>
                          </a:solidFill>
                        </a:rPr>
                        <a:t>確信度と実際の正答率のズレの重み付き平均</a:t>
                      </a:r>
                    </a:p>
                  </a:txBody>
                  <a:tcPr>
                    <a:solidFill>
                      <a:srgbClr val="FFFFFF"/>
                    </a:solidFill>
                  </a:tcPr>
                </a:tc>
              </a:tr>
              <a:tr h="640080">
                <a:tc>
                  <a:txBody>
                    <a:bodyPr/>
                    <a:lstStyle/>
                    <a:p>
                      <a:r>
                        <a:rPr sz="1500">
                          <a:solidFill>
                            <a:srgbClr val="14141E"/>
                          </a:solidFill>
                        </a:rPr>
                        <a:t>数式</a:t>
                      </a:r>
                    </a:p>
                  </a:txBody>
                  <a:tcPr>
                    <a:solidFill>
                      <a:srgbClr val="ECF1F9"/>
                    </a:solidFill>
                  </a:tcPr>
                </a:tc>
                <a:tc>
                  <a:txBody>
                    <a:bodyPr/>
                    <a:lstStyle/>
                    <a:p>
                      <a:r>
                        <a:rPr sz="1500">
                          <a:solidFill>
                            <a:srgbClr val="14141E"/>
                          </a:solidFill>
                        </a:rPr>
                        <a:t>ECE = Σ_m (|Bm|/n)・|acc(Bm) − conf(Bm)|</a:t>
                      </a:r>
                    </a:p>
                  </a:txBody>
                  <a:tcPr>
                    <a:solidFill>
                      <a:srgbClr val="ECF1F9"/>
                    </a:solidFill>
                  </a:tcPr>
                </a:tc>
              </a:tr>
              <a:tr h="640080">
                <a:tc>
                  <a:txBody>
                    <a:bodyPr/>
                    <a:lstStyle/>
                    <a:p>
                      <a:r>
                        <a:rPr sz="1500">
                          <a:solidFill>
                            <a:srgbClr val="14141E"/>
                          </a:solidFill>
                        </a:rPr>
                        <a:t>変数の意味</a:t>
                      </a:r>
                    </a:p>
                  </a:txBody>
                  <a:tcPr>
                    <a:solidFill>
                      <a:srgbClr val="FFFFFF"/>
                    </a:solidFill>
                  </a:tcPr>
                </a:tc>
                <a:tc>
                  <a:txBody>
                    <a:bodyPr/>
                    <a:lstStyle/>
                    <a:p>
                      <a:r>
                        <a:rPr sz="1500">
                          <a:solidFill>
                            <a:srgbClr val="14141E"/>
                          </a:solidFill>
                        </a:rPr>
                        <a:t>M:ビン数, Bm:m番目のビンの集合, n:サンプル総数, acc/conf(Bm):ビン内平均正答率/確信度</a:t>
                      </a:r>
                    </a:p>
                  </a:txBody>
                  <a:tcPr>
                    <a:solidFill>
                      <a:srgbClr val="FFFFFF"/>
                    </a:solidFill>
                  </a:tcPr>
                </a:tc>
              </a:tr>
              <a:tr h="640080">
                <a:tc>
                  <a:txBody>
                    <a:bodyPr/>
                    <a:lstStyle/>
                    <a:p>
                      <a:r>
                        <a:rPr sz="1500">
                          <a:solidFill>
                            <a:srgbClr val="14141E"/>
                          </a:solidFill>
                        </a:rPr>
                        <a:t>値の範囲</a:t>
                      </a:r>
                    </a:p>
                  </a:txBody>
                  <a:tcPr>
                    <a:solidFill>
                      <a:srgbClr val="ECF1F9"/>
                    </a:solidFill>
                  </a:tcPr>
                </a:tc>
                <a:tc>
                  <a:txBody>
                    <a:bodyPr/>
                    <a:lstStyle/>
                    <a:p>
                      <a:r>
                        <a:rPr sz="1500">
                          <a:solidFill>
                            <a:srgbClr val="14141E"/>
                          </a:solidFill>
                        </a:rPr>
                        <a:t>0以上（0〜1に収まる）</a:t>
                      </a:r>
                    </a:p>
                  </a:txBody>
                  <a:tcPr>
                    <a:solidFill>
                      <a:srgbClr val="ECF1F9"/>
                    </a:solidFill>
                  </a:tcPr>
                </a:tc>
              </a:tr>
              <a:tr h="640080">
                <a:tc>
                  <a:txBody>
                    <a:bodyPr/>
                    <a:lstStyle/>
                    <a:p>
                      <a:r>
                        <a:rPr sz="1500">
                          <a:solidFill>
                            <a:srgbClr val="14141E"/>
                          </a:solidFill>
                        </a:rPr>
                        <a:t>大小の意味</a:t>
                      </a:r>
                    </a:p>
                  </a:txBody>
                  <a:tcPr>
                    <a:solidFill>
                      <a:srgbClr val="FFFFFF"/>
                    </a:solidFill>
                  </a:tcPr>
                </a:tc>
                <a:tc>
                  <a:txBody>
                    <a:bodyPr/>
                    <a:lstStyle/>
                    <a:p>
                      <a:r>
                        <a:rPr sz="1500">
                          <a:solidFill>
                            <a:srgbClr val="14141E"/>
                          </a:solidFill>
                        </a:rPr>
                        <a:t>0に近いほど良い（確信度と正答率が一致）</a:t>
                      </a:r>
                    </a:p>
                  </a:txBody>
                  <a:tcPr>
                    <a:solidFill>
                      <a:srgbClr val="FFFFFF"/>
                    </a:solidFill>
                  </a:tcPr>
                </a:tc>
              </a:tr>
              <a:tr h="640080">
                <a:tc>
                  <a:txBody>
                    <a:bodyPr/>
                    <a:lstStyle/>
                    <a:p>
                      <a:r>
                        <a:rPr sz="1500">
                          <a:solidFill>
                            <a:srgbClr val="14141E"/>
                          </a:solidFill>
                        </a:rPr>
                        <a:t>似た指標との違い</a:t>
                      </a:r>
                    </a:p>
                  </a:txBody>
                  <a:tcPr>
                    <a:solidFill>
                      <a:srgbClr val="ECF1F9"/>
                    </a:solidFill>
                  </a:tcPr>
                </a:tc>
                <a:tc>
                  <a:txBody>
                    <a:bodyPr/>
                    <a:lstStyle/>
                    <a:p>
                      <a:r>
                        <a:rPr sz="1500">
                          <a:solidFill>
                            <a:srgbClr val="14141E"/>
                          </a:solidFill>
                        </a:rPr>
                        <a:t>Brier Scoreはビン分割不要，AUROCは識別能力を測る</a:t>
                      </a:r>
                    </a:p>
                  </a:txBody>
                  <a:tcPr>
                    <a:solidFill>
                      <a:srgbClr val="ECF1F9"/>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評価指標②：Brier Score</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22/34</a:t>
            </a:r>
          </a:p>
        </p:txBody>
      </p:sp>
      <p:graphicFrame>
        <p:nvGraphicFramePr>
          <p:cNvPr id="5" name="Table 4"/>
          <p:cNvGraphicFramePr>
            <a:graphicFrameLocks noGrp="1"/>
          </p:cNvGraphicFramePr>
          <p:nvPr/>
        </p:nvGraphicFramePr>
        <p:xfrm>
          <a:off x="457200" y="1371600"/>
          <a:ext cx="11292840" cy="4480560"/>
        </p:xfrm>
        <a:graphic>
          <a:graphicData uri="http://schemas.openxmlformats.org/drawingml/2006/table">
            <a:tbl>
              <a:tblPr firstRow="1" bandRow="1">
                <a:tableStyleId>{5C22544A-7EE6-4342-B048-85BDC9FD1C3A}</a:tableStyleId>
              </a:tblPr>
              <a:tblGrid>
                <a:gridCol w="5646420"/>
                <a:gridCol w="5646420"/>
              </a:tblGrid>
              <a:tr h="640080">
                <a:tc>
                  <a:txBody>
                    <a:bodyPr/>
                    <a:lstStyle/>
                    <a:p>
                      <a:pPr algn="ctr"/>
                      <a:r>
                        <a:rPr sz="1700" b="1">
                          <a:solidFill>
                            <a:srgbClr val="FFFFFF"/>
                          </a:solidFill>
                        </a:rPr>
                        <a:t>項目</a:t>
                      </a:r>
                    </a:p>
                  </a:txBody>
                  <a:tcPr>
                    <a:solidFill>
                      <a:srgbClr val="1A56AA"/>
                    </a:solidFill>
                  </a:tcPr>
                </a:tc>
                <a:tc>
                  <a:txBody>
                    <a:bodyPr/>
                    <a:lstStyle/>
                    <a:p>
                      <a:pPr algn="ctr"/>
                      <a:r>
                        <a:rPr sz="1700" b="1">
                          <a:solidFill>
                            <a:srgbClr val="FFFFFF"/>
                          </a:solidFill>
                        </a:rPr>
                        <a:t>内容</a:t>
                      </a:r>
                    </a:p>
                  </a:txBody>
                  <a:tcPr>
                    <a:solidFill>
                      <a:srgbClr val="1A56AA"/>
                    </a:solidFill>
                  </a:tcPr>
                </a:tc>
              </a:tr>
              <a:tr h="640080">
                <a:tc>
                  <a:txBody>
                    <a:bodyPr/>
                    <a:lstStyle/>
                    <a:p>
                      <a:r>
                        <a:rPr sz="1500">
                          <a:solidFill>
                            <a:srgbClr val="14141E"/>
                          </a:solidFill>
                        </a:rPr>
                        <a:t>定義</a:t>
                      </a:r>
                    </a:p>
                  </a:txBody>
                  <a:tcPr>
                    <a:solidFill>
                      <a:srgbClr val="FFFFFF"/>
                    </a:solidFill>
                  </a:tcPr>
                </a:tc>
                <a:tc>
                  <a:txBody>
                    <a:bodyPr/>
                    <a:lstStyle/>
                    <a:p>
                      <a:r>
                        <a:rPr sz="1500">
                          <a:solidFill>
                            <a:srgbClr val="14141E"/>
                          </a:solidFill>
                        </a:rPr>
                        <a:t>予測確信度と正誤ラベルの二乗誤差の平均</a:t>
                      </a:r>
                    </a:p>
                  </a:txBody>
                  <a:tcPr>
                    <a:solidFill>
                      <a:srgbClr val="FFFFFF"/>
                    </a:solidFill>
                  </a:tcPr>
                </a:tc>
              </a:tr>
              <a:tr h="640080">
                <a:tc>
                  <a:txBody>
                    <a:bodyPr/>
                    <a:lstStyle/>
                    <a:p>
                      <a:r>
                        <a:rPr sz="1500">
                          <a:solidFill>
                            <a:srgbClr val="14141E"/>
                          </a:solidFill>
                        </a:rPr>
                        <a:t>数式</a:t>
                      </a:r>
                    </a:p>
                  </a:txBody>
                  <a:tcPr>
                    <a:solidFill>
                      <a:srgbClr val="ECF1F9"/>
                    </a:solidFill>
                  </a:tcPr>
                </a:tc>
                <a:tc>
                  <a:txBody>
                    <a:bodyPr/>
                    <a:lstStyle/>
                    <a:p>
                      <a:r>
                        <a:rPr sz="1500">
                          <a:solidFill>
                            <a:srgbClr val="14141E"/>
                          </a:solidFill>
                        </a:rPr>
                        <a:t>BS = (1/N)・Σ_i (p_i − y_i)^2</a:t>
                      </a:r>
                    </a:p>
                  </a:txBody>
                  <a:tcPr>
                    <a:solidFill>
                      <a:srgbClr val="ECF1F9"/>
                    </a:solidFill>
                  </a:tcPr>
                </a:tc>
              </a:tr>
              <a:tr h="640080">
                <a:tc>
                  <a:txBody>
                    <a:bodyPr/>
                    <a:lstStyle/>
                    <a:p>
                      <a:r>
                        <a:rPr sz="1500">
                          <a:solidFill>
                            <a:srgbClr val="14141E"/>
                          </a:solidFill>
                        </a:rPr>
                        <a:t>変数の意味</a:t>
                      </a:r>
                    </a:p>
                  </a:txBody>
                  <a:tcPr>
                    <a:solidFill>
                      <a:srgbClr val="FFFFFF"/>
                    </a:solidFill>
                  </a:tcPr>
                </a:tc>
                <a:tc>
                  <a:txBody>
                    <a:bodyPr/>
                    <a:lstStyle/>
                    <a:p>
                      <a:r>
                        <a:rPr sz="1500">
                          <a:solidFill>
                            <a:srgbClr val="14141E"/>
                          </a:solidFill>
                        </a:rPr>
                        <a:t>N:問題数, p_i:i番目の問題への予測確信度, y_i:正誤（正解=1，不正解=0）</a:t>
                      </a:r>
                    </a:p>
                  </a:txBody>
                  <a:tcPr>
                    <a:solidFill>
                      <a:srgbClr val="FFFFFF"/>
                    </a:solidFill>
                  </a:tcPr>
                </a:tc>
              </a:tr>
              <a:tr h="640080">
                <a:tc>
                  <a:txBody>
                    <a:bodyPr/>
                    <a:lstStyle/>
                    <a:p>
                      <a:r>
                        <a:rPr sz="1500">
                          <a:solidFill>
                            <a:srgbClr val="14141E"/>
                          </a:solidFill>
                        </a:rPr>
                        <a:t>値の範囲</a:t>
                      </a:r>
                    </a:p>
                  </a:txBody>
                  <a:tcPr>
                    <a:solidFill>
                      <a:srgbClr val="ECF1F9"/>
                    </a:solidFill>
                  </a:tcPr>
                </a:tc>
                <a:tc>
                  <a:txBody>
                    <a:bodyPr/>
                    <a:lstStyle/>
                    <a:p>
                      <a:r>
                        <a:rPr sz="1500">
                          <a:solidFill>
                            <a:srgbClr val="14141E"/>
                          </a:solidFill>
                        </a:rPr>
                        <a:t>0以上（0〜1に収まる）</a:t>
                      </a:r>
                    </a:p>
                  </a:txBody>
                  <a:tcPr>
                    <a:solidFill>
                      <a:srgbClr val="ECF1F9"/>
                    </a:solidFill>
                  </a:tcPr>
                </a:tc>
              </a:tr>
              <a:tr h="640080">
                <a:tc>
                  <a:txBody>
                    <a:bodyPr/>
                    <a:lstStyle/>
                    <a:p>
                      <a:r>
                        <a:rPr sz="1500">
                          <a:solidFill>
                            <a:srgbClr val="14141E"/>
                          </a:solidFill>
                        </a:rPr>
                        <a:t>大小の意味</a:t>
                      </a:r>
                    </a:p>
                  </a:txBody>
                  <a:tcPr>
                    <a:solidFill>
                      <a:srgbClr val="FFFFFF"/>
                    </a:solidFill>
                  </a:tcPr>
                </a:tc>
                <a:tc>
                  <a:txBody>
                    <a:bodyPr/>
                    <a:lstStyle/>
                    <a:p>
                      <a:r>
                        <a:rPr sz="1500">
                          <a:solidFill>
                            <a:srgbClr val="14141E"/>
                          </a:solidFill>
                        </a:rPr>
                        <a:t>0に近いほど良い</a:t>
                      </a:r>
                    </a:p>
                  </a:txBody>
                  <a:tcPr>
                    <a:solidFill>
                      <a:srgbClr val="FFFFFF"/>
                    </a:solidFill>
                  </a:tcPr>
                </a:tc>
              </a:tr>
              <a:tr h="640080">
                <a:tc>
                  <a:txBody>
                    <a:bodyPr/>
                    <a:lstStyle/>
                    <a:p>
                      <a:r>
                        <a:rPr sz="1500">
                          <a:solidFill>
                            <a:srgbClr val="14141E"/>
                          </a:solidFill>
                        </a:rPr>
                        <a:t>似た指標との違い</a:t>
                      </a:r>
                    </a:p>
                  </a:txBody>
                  <a:tcPr>
                    <a:solidFill>
                      <a:srgbClr val="ECF1F9"/>
                    </a:solidFill>
                  </a:tcPr>
                </a:tc>
                <a:tc>
                  <a:txBody>
                    <a:bodyPr/>
                    <a:lstStyle/>
                    <a:p>
                      <a:r>
                        <a:rPr sz="1500">
                          <a:solidFill>
                            <a:srgbClr val="14141E"/>
                          </a:solidFill>
                        </a:rPr>
                        <a:t>Proper Scoring Ruleとして理論的保証あり，ビン分割不要（ECEとの違い）</a:t>
                      </a:r>
                    </a:p>
                  </a:txBody>
                  <a:tcPr>
                    <a:solidFill>
                      <a:srgbClr val="ECF1F9"/>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評価指標③：AUROC</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23/34</a:t>
            </a:r>
          </a:p>
        </p:txBody>
      </p:sp>
      <p:graphicFrame>
        <p:nvGraphicFramePr>
          <p:cNvPr id="5" name="Table 4"/>
          <p:cNvGraphicFramePr>
            <a:graphicFrameLocks noGrp="1"/>
          </p:cNvGraphicFramePr>
          <p:nvPr/>
        </p:nvGraphicFramePr>
        <p:xfrm>
          <a:off x="457200" y="1371600"/>
          <a:ext cx="11292840" cy="4480560"/>
        </p:xfrm>
        <a:graphic>
          <a:graphicData uri="http://schemas.openxmlformats.org/drawingml/2006/table">
            <a:tbl>
              <a:tblPr firstRow="1" bandRow="1">
                <a:tableStyleId>{5C22544A-7EE6-4342-B048-85BDC9FD1C3A}</a:tableStyleId>
              </a:tblPr>
              <a:tblGrid>
                <a:gridCol w="5646420"/>
                <a:gridCol w="5646420"/>
              </a:tblGrid>
              <a:tr h="640080">
                <a:tc>
                  <a:txBody>
                    <a:bodyPr/>
                    <a:lstStyle/>
                    <a:p>
                      <a:pPr algn="ctr"/>
                      <a:r>
                        <a:rPr sz="1700" b="1">
                          <a:solidFill>
                            <a:srgbClr val="FFFFFF"/>
                          </a:solidFill>
                        </a:rPr>
                        <a:t>項目</a:t>
                      </a:r>
                    </a:p>
                  </a:txBody>
                  <a:tcPr>
                    <a:solidFill>
                      <a:srgbClr val="1A56AA"/>
                    </a:solidFill>
                  </a:tcPr>
                </a:tc>
                <a:tc>
                  <a:txBody>
                    <a:bodyPr/>
                    <a:lstStyle/>
                    <a:p>
                      <a:pPr algn="ctr"/>
                      <a:r>
                        <a:rPr sz="1700" b="1">
                          <a:solidFill>
                            <a:srgbClr val="FFFFFF"/>
                          </a:solidFill>
                        </a:rPr>
                        <a:t>内容</a:t>
                      </a:r>
                    </a:p>
                  </a:txBody>
                  <a:tcPr>
                    <a:solidFill>
                      <a:srgbClr val="1A56AA"/>
                    </a:solidFill>
                  </a:tcPr>
                </a:tc>
              </a:tr>
              <a:tr h="640080">
                <a:tc>
                  <a:txBody>
                    <a:bodyPr/>
                    <a:lstStyle/>
                    <a:p>
                      <a:r>
                        <a:rPr sz="1500">
                          <a:solidFill>
                            <a:srgbClr val="14141E"/>
                          </a:solidFill>
                        </a:rPr>
                        <a:t>定義</a:t>
                      </a:r>
                    </a:p>
                  </a:txBody>
                  <a:tcPr>
                    <a:solidFill>
                      <a:srgbClr val="FFFFFF"/>
                    </a:solidFill>
                  </a:tcPr>
                </a:tc>
                <a:tc>
                  <a:txBody>
                    <a:bodyPr/>
                    <a:lstStyle/>
                    <a:p>
                      <a:r>
                        <a:rPr sz="1500">
                          <a:solidFill>
                            <a:srgbClr val="14141E"/>
                          </a:solidFill>
                        </a:rPr>
                        <a:t>正解サンプルの確信度が不正解サンプルの確信度を上回る確率</a:t>
                      </a:r>
                    </a:p>
                  </a:txBody>
                  <a:tcPr>
                    <a:solidFill>
                      <a:srgbClr val="FFFFFF"/>
                    </a:solidFill>
                  </a:tcPr>
                </a:tc>
              </a:tr>
              <a:tr h="640080">
                <a:tc>
                  <a:txBody>
                    <a:bodyPr/>
                    <a:lstStyle/>
                    <a:p>
                      <a:r>
                        <a:rPr sz="1500">
                          <a:solidFill>
                            <a:srgbClr val="14141E"/>
                          </a:solidFill>
                        </a:rPr>
                        <a:t>数式</a:t>
                      </a:r>
                    </a:p>
                  </a:txBody>
                  <a:tcPr>
                    <a:solidFill>
                      <a:srgbClr val="ECF1F9"/>
                    </a:solidFill>
                  </a:tcPr>
                </a:tc>
                <a:tc>
                  <a:txBody>
                    <a:bodyPr/>
                    <a:lstStyle/>
                    <a:p>
                      <a:r>
                        <a:rPr sz="1500">
                          <a:solidFill>
                            <a:srgbClr val="14141E"/>
                          </a:solidFill>
                        </a:rPr>
                        <a:t>AUROC = (1/|Pos||Neg|)・ΣΣ [1(p&gt;q) + 0.5・1(p=q)]</a:t>
                      </a:r>
                    </a:p>
                  </a:txBody>
                  <a:tcPr>
                    <a:solidFill>
                      <a:srgbClr val="ECF1F9"/>
                    </a:solidFill>
                  </a:tcPr>
                </a:tc>
              </a:tr>
              <a:tr h="640080">
                <a:tc>
                  <a:txBody>
                    <a:bodyPr/>
                    <a:lstStyle/>
                    <a:p>
                      <a:r>
                        <a:rPr sz="1500">
                          <a:solidFill>
                            <a:srgbClr val="14141E"/>
                          </a:solidFill>
                        </a:rPr>
                        <a:t>変数の意味</a:t>
                      </a:r>
                    </a:p>
                  </a:txBody>
                  <a:tcPr>
                    <a:solidFill>
                      <a:srgbClr val="FFFFFF"/>
                    </a:solidFill>
                  </a:tcPr>
                </a:tc>
                <a:tc>
                  <a:txBody>
                    <a:bodyPr/>
                    <a:lstStyle/>
                    <a:p>
                      <a:r>
                        <a:rPr sz="1500">
                          <a:solidFill>
                            <a:srgbClr val="14141E"/>
                          </a:solidFill>
                        </a:rPr>
                        <a:t>Pos:正解サンプルの確信度集合, Neg:不正解サンプルの確信度集合, p,q:各集合から取り出した確信度</a:t>
                      </a:r>
                    </a:p>
                  </a:txBody>
                  <a:tcPr>
                    <a:solidFill>
                      <a:srgbClr val="FFFFFF"/>
                    </a:solidFill>
                  </a:tcPr>
                </a:tc>
              </a:tr>
              <a:tr h="640080">
                <a:tc>
                  <a:txBody>
                    <a:bodyPr/>
                    <a:lstStyle/>
                    <a:p>
                      <a:r>
                        <a:rPr sz="1500">
                          <a:solidFill>
                            <a:srgbClr val="14141E"/>
                          </a:solidFill>
                        </a:rPr>
                        <a:t>値の範囲</a:t>
                      </a:r>
                    </a:p>
                  </a:txBody>
                  <a:tcPr>
                    <a:solidFill>
                      <a:srgbClr val="ECF1F9"/>
                    </a:solidFill>
                  </a:tcPr>
                </a:tc>
                <a:tc>
                  <a:txBody>
                    <a:bodyPr/>
                    <a:lstStyle/>
                    <a:p>
                      <a:r>
                        <a:rPr sz="1500">
                          <a:solidFill>
                            <a:srgbClr val="14141E"/>
                          </a:solidFill>
                        </a:rPr>
                        <a:t>0〜1</a:t>
                      </a:r>
                    </a:p>
                  </a:txBody>
                  <a:tcPr>
                    <a:solidFill>
                      <a:srgbClr val="ECF1F9"/>
                    </a:solidFill>
                  </a:tcPr>
                </a:tc>
              </a:tr>
              <a:tr h="640080">
                <a:tc>
                  <a:txBody>
                    <a:bodyPr/>
                    <a:lstStyle/>
                    <a:p>
                      <a:r>
                        <a:rPr sz="1500">
                          <a:solidFill>
                            <a:srgbClr val="14141E"/>
                          </a:solidFill>
                        </a:rPr>
                        <a:t>大小の意味</a:t>
                      </a:r>
                    </a:p>
                  </a:txBody>
                  <a:tcPr>
                    <a:solidFill>
                      <a:srgbClr val="FFFFFF"/>
                    </a:solidFill>
                  </a:tcPr>
                </a:tc>
                <a:tc>
                  <a:txBody>
                    <a:bodyPr/>
                    <a:lstStyle/>
                    <a:p>
                      <a:r>
                        <a:rPr sz="1500">
                          <a:solidFill>
                            <a:srgbClr val="14141E"/>
                          </a:solidFill>
                        </a:rPr>
                        <a:t>1に近いほど識別能力が高い。0.5はランダム（無意味な識別）</a:t>
                      </a:r>
                    </a:p>
                  </a:txBody>
                  <a:tcPr>
                    <a:solidFill>
                      <a:srgbClr val="FFFFFF"/>
                    </a:solidFill>
                  </a:tcPr>
                </a:tc>
              </a:tr>
              <a:tr h="640080">
                <a:tc>
                  <a:txBody>
                    <a:bodyPr/>
                    <a:lstStyle/>
                    <a:p>
                      <a:r>
                        <a:rPr sz="1500">
                          <a:solidFill>
                            <a:srgbClr val="14141E"/>
                          </a:solidFill>
                        </a:rPr>
                        <a:t>似た指標との違い</a:t>
                      </a:r>
                    </a:p>
                  </a:txBody>
                  <a:tcPr>
                    <a:solidFill>
                      <a:srgbClr val="ECF1F9"/>
                    </a:solidFill>
                  </a:tcPr>
                </a:tc>
                <a:tc>
                  <a:txBody>
                    <a:bodyPr/>
                    <a:lstStyle/>
                    <a:p>
                      <a:r>
                        <a:rPr sz="1500">
                          <a:solidFill>
                            <a:srgbClr val="14141E"/>
                          </a:solidFill>
                        </a:rPr>
                        <a:t>ECE等の「較正」ではなく「識別能力」を測る。両者は独立に評価する必要がある</a:t>
                      </a:r>
                    </a:p>
                  </a:txBody>
                  <a:tcPr>
                    <a:solidFill>
                      <a:srgbClr val="ECF1F9"/>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正答判定方法</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24/34</a:t>
            </a:r>
          </a:p>
        </p:txBody>
      </p:sp>
      <p:sp>
        <p:nvSpPr>
          <p:cNvPr id="5" name="TextBox 4"/>
          <p:cNvSpPr txBox="1"/>
          <p:nvPr/>
        </p:nvSpPr>
        <p:spPr>
          <a:xfrm>
            <a:off x="640080" y="1645920"/>
            <a:ext cx="10881360" cy="4114800"/>
          </a:xfrm>
          <a:prstGeom prst="rect">
            <a:avLst/>
          </a:prstGeom>
          <a:noFill/>
        </p:spPr>
        <p:txBody>
          <a:bodyPr wrap="square">
            <a:spAutoFit/>
          </a:bodyPr>
          <a:lstStyle/>
          <a:p>
            <a:pPr>
              <a:spcBef>
                <a:spcPts val="1400"/>
              </a:spcBef>
            </a:pPr>
            <a:r>
              <a:rPr sz="2000">
                <a:solidFill>
                  <a:srgbClr val="14141E"/>
                </a:solidFill>
              </a:rPr>
              <a:t>・数学（MGSM）：正規化完全一致（抽出数値 == 正解数値）</a:t>
            </a:r>
          </a:p>
          <a:p>
            <a:pPr>
              <a:spcBef>
                <a:spcPts val="1400"/>
              </a:spcBef>
            </a:pPr>
            <a:r>
              <a:rPr sz="2000">
                <a:solidFill>
                  <a:srgbClr val="14141E"/>
                </a:solidFill>
              </a:rPr>
              <a:t>・常識・知識（JCommonsenseQA・JMMLU）：選択肢ラベル一致</a:t>
            </a:r>
          </a:p>
          <a:p>
            <a:pPr>
              <a:spcBef>
                <a:spcPts val="1400"/>
              </a:spcBef>
            </a:pPr>
            <a:r>
              <a:rPr sz="2000">
                <a:solidFill>
                  <a:srgbClr val="14141E"/>
                </a:solidFill>
              </a:rPr>
              <a:t>・翻訳（FLORES-200）：COMETスコア閾値（50文の人間二値判定でF1最適化して決定）</a:t>
            </a:r>
          </a:p>
          <a:p>
            <a:pPr>
              <a:spcBef>
                <a:spcPts val="1400"/>
              </a:spcBef>
            </a:pPr>
            <a:r>
              <a:rPr sz="2000">
                <a:solidFill>
                  <a:srgbClr val="14141E"/>
                </a:solidFill>
              </a:rPr>
              <a:t>・翻訳のLLM-as-a-Judgeは主判定ではなく境界サンプルの検証手段としてのみ使用</a:t>
            </a:r>
          </a:p>
          <a:p>
            <a:pPr>
              <a:spcBef>
                <a:spcPts val="1400"/>
              </a:spcBef>
            </a:pPr>
            <a:r>
              <a:rPr sz="2000">
                <a:solidFill>
                  <a:srgbClr val="14141E"/>
                </a:solidFill>
              </a:rPr>
              <a:t>・翻訳ドメインでは閾値±0.05の感度分析をECEと併せて報告</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実験統制</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25/34</a:t>
            </a:r>
          </a:p>
        </p:txBody>
      </p:sp>
      <p:sp>
        <p:nvSpPr>
          <p:cNvPr id="5" name="TextBox 4"/>
          <p:cNvSpPr txBox="1"/>
          <p:nvPr/>
        </p:nvSpPr>
        <p:spPr>
          <a:xfrm>
            <a:off x="640080" y="1645920"/>
            <a:ext cx="10881360" cy="4114800"/>
          </a:xfrm>
          <a:prstGeom prst="rect">
            <a:avLst/>
          </a:prstGeom>
          <a:noFill/>
        </p:spPr>
        <p:txBody>
          <a:bodyPr wrap="square">
            <a:spAutoFit/>
          </a:bodyPr>
          <a:lstStyle/>
          <a:p>
            <a:pPr>
              <a:spcBef>
                <a:spcPts val="1600"/>
              </a:spcBef>
            </a:pPr>
            <a:r>
              <a:rPr sz="2000">
                <a:solidFill>
                  <a:srgbClr val="14141E"/>
                </a:solidFill>
              </a:rPr>
              <a:t>・temperature=0で全モデルへ問い合わせ，同一問題への確信度ばらつきを排除</a:t>
            </a:r>
          </a:p>
          <a:p>
            <a:pPr>
              <a:spcBef>
                <a:spcPts val="1600"/>
              </a:spcBef>
            </a:pPr>
            <a:r>
              <a:rPr sz="2000">
                <a:solidFill>
                  <a:srgbClr val="14141E"/>
                </a:solidFill>
              </a:rPr>
              <a:t>・システムプロンプトは使用せず，モデルデフォルト動作への影響を排除</a:t>
            </a:r>
          </a:p>
          <a:p>
            <a:pPr>
              <a:spcBef>
                <a:spcPts val="1600"/>
              </a:spcBef>
            </a:pPr>
            <a:r>
              <a:rPr sz="2000">
                <a:solidFill>
                  <a:srgbClr val="14141E"/>
                </a:solidFill>
              </a:rPr>
              <a:t>・確信度を解析できないケースは分母から除外して集計。失敗率もモデル・方式ごとに報告</a:t>
            </a:r>
          </a:p>
          <a:p>
            <a:pPr>
              <a:spcBef>
                <a:spcPts val="1600"/>
              </a:spcBef>
            </a:pPr>
            <a:r>
              <a:rPr sz="2000">
                <a:solidFill>
                  <a:srgbClr val="14141E"/>
                </a:solidFill>
              </a:rPr>
              <a:t>・APIのレート制限に対してexponential backoffによる自動再試行を実装（run_pilot.pyに実装済み）</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検証仮説：自分はこう予想している</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26/34</a:t>
            </a:r>
          </a:p>
        </p:txBody>
      </p:sp>
      <p:graphicFrame>
        <p:nvGraphicFramePr>
          <p:cNvPr id="5" name="Table 4"/>
          <p:cNvGraphicFramePr>
            <a:graphicFrameLocks noGrp="1"/>
          </p:cNvGraphicFramePr>
          <p:nvPr/>
        </p:nvGraphicFramePr>
        <p:xfrm>
          <a:off x="457200" y="1371600"/>
          <a:ext cx="11292840" cy="4480560"/>
        </p:xfrm>
        <a:graphic>
          <a:graphicData uri="http://schemas.openxmlformats.org/drawingml/2006/table">
            <a:tbl>
              <a:tblPr firstRow="1" bandRow="1">
                <a:tableStyleId>{5C22544A-7EE6-4342-B048-85BDC9FD1C3A}</a:tableStyleId>
              </a:tblPr>
              <a:tblGrid>
                <a:gridCol w="3764280"/>
                <a:gridCol w="3764280"/>
                <a:gridCol w="3764280"/>
              </a:tblGrid>
              <a:tr h="896112">
                <a:tc>
                  <a:txBody>
                    <a:bodyPr/>
                    <a:lstStyle/>
                    <a:p>
                      <a:pPr algn="ctr"/>
                      <a:r>
                        <a:rPr sz="1700" b="1">
                          <a:solidFill>
                            <a:srgbClr val="FFFFFF"/>
                          </a:solidFill>
                        </a:rPr>
                        <a:t>仮説</a:t>
                      </a:r>
                    </a:p>
                  </a:txBody>
                  <a:tcPr>
                    <a:solidFill>
                      <a:srgbClr val="1A56AA"/>
                    </a:solidFill>
                  </a:tcPr>
                </a:tc>
                <a:tc>
                  <a:txBody>
                    <a:bodyPr/>
                    <a:lstStyle/>
                    <a:p>
                      <a:pPr algn="ctr"/>
                      <a:r>
                        <a:rPr sz="1700" b="1">
                          <a:solidFill>
                            <a:srgbClr val="FFFFFF"/>
                          </a:solidFill>
                        </a:rPr>
                        <a:t>内容</a:t>
                      </a:r>
                    </a:p>
                  </a:txBody>
                  <a:tcPr>
                    <a:solidFill>
                      <a:srgbClr val="1A56AA"/>
                    </a:solidFill>
                  </a:tcPr>
                </a:tc>
                <a:tc>
                  <a:txBody>
                    <a:bodyPr/>
                    <a:lstStyle/>
                    <a:p>
                      <a:pPr algn="ctr"/>
                      <a:r>
                        <a:rPr sz="1700" b="1">
                          <a:solidFill>
                            <a:srgbClr val="FFFFFF"/>
                          </a:solidFill>
                        </a:rPr>
                        <a:t>根拠・予想の理由</a:t>
                      </a:r>
                    </a:p>
                  </a:txBody>
                  <a:tcPr>
                    <a:solidFill>
                      <a:srgbClr val="1A56AA"/>
                    </a:solidFill>
                  </a:tcPr>
                </a:tc>
              </a:tr>
              <a:tr h="896112">
                <a:tc>
                  <a:txBody>
                    <a:bodyPr/>
                    <a:lstStyle/>
                    <a:p>
                      <a:r>
                        <a:rPr sz="1500">
                          <a:solidFill>
                            <a:srgbClr val="14141E"/>
                          </a:solidFill>
                        </a:rPr>
                        <a:t>H1</a:t>
                      </a:r>
                    </a:p>
                  </a:txBody>
                  <a:tcPr>
                    <a:solidFill>
                      <a:srgbClr val="FFFFFF"/>
                    </a:solidFill>
                  </a:tcPr>
                </a:tc>
                <a:tc>
                  <a:txBody>
                    <a:bodyPr/>
                    <a:lstStyle/>
                    <a:p>
                      <a:r>
                        <a:rPr sz="1500">
                          <a:solidFill>
                            <a:srgbClr val="14141E"/>
                          </a:solidFill>
                        </a:rPr>
                        <a:t>Verb.2SはVerb.1SよりECEを改善</a:t>
                      </a:r>
                    </a:p>
                  </a:txBody>
                  <a:tcPr>
                    <a:solidFill>
                      <a:srgbClr val="FFFFFF"/>
                    </a:solidFill>
                  </a:tcPr>
                </a:tc>
                <a:tc>
                  <a:txBody>
                    <a:bodyPr/>
                    <a:lstStyle/>
                    <a:p>
                      <a:r>
                        <a:rPr sz="1500">
                          <a:solidFill>
                            <a:srgbClr val="14141E"/>
                          </a:solidFill>
                        </a:rPr>
                        <a:t>2段階の自己参照が確信度スケールを較正。回答後の確信度質問で接地が生じる（ADVICE診断的知見）</a:t>
                      </a:r>
                    </a:p>
                  </a:txBody>
                  <a:tcPr>
                    <a:solidFill>
                      <a:srgbClr val="FFFFFF"/>
                    </a:solidFill>
                  </a:tcPr>
                </a:tc>
              </a:tr>
              <a:tr h="896112">
                <a:tc>
                  <a:txBody>
                    <a:bodyPr/>
                    <a:lstStyle/>
                    <a:p>
                      <a:r>
                        <a:rPr sz="1500">
                          <a:solidFill>
                            <a:srgbClr val="14141E"/>
                          </a:solidFill>
                        </a:rPr>
                        <a:t>H2</a:t>
                      </a:r>
                    </a:p>
                  </a:txBody>
                  <a:tcPr>
                    <a:solidFill>
                      <a:srgbClr val="ECF1F9"/>
                    </a:solidFill>
                  </a:tcPr>
                </a:tc>
                <a:tc>
                  <a:txBody>
                    <a:bodyPr/>
                    <a:lstStyle/>
                    <a:p>
                      <a:r>
                        <a:rPr sz="1500">
                          <a:solidFill>
                            <a:srgbClr val="14141E"/>
                          </a:solidFill>
                        </a:rPr>
                        <a:t>Ling.1Sは数値表現方式より改善幅が小さい</a:t>
                      </a:r>
                    </a:p>
                  </a:txBody>
                  <a:tcPr>
                    <a:solidFill>
                      <a:srgbClr val="ECF1F9"/>
                    </a:solidFill>
                  </a:tcPr>
                </a:tc>
                <a:tc>
                  <a:txBody>
                    <a:bodyPr/>
                    <a:lstStyle/>
                    <a:p>
                      <a:r>
                        <a:rPr sz="1500">
                          <a:solidFill>
                            <a:srgbClr val="14141E"/>
                          </a:solidFill>
                        </a:rPr>
                        <a:t>離散的な言語→数値マッピングが情報を圧縮するため</a:t>
                      </a:r>
                    </a:p>
                  </a:txBody>
                  <a:tcPr>
                    <a:solidFill>
                      <a:srgbClr val="ECF1F9"/>
                    </a:solidFill>
                  </a:tcPr>
                </a:tc>
              </a:tr>
              <a:tr h="896112">
                <a:tc>
                  <a:txBody>
                    <a:bodyPr/>
                    <a:lstStyle/>
                    <a:p>
                      <a:r>
                        <a:rPr sz="1500">
                          <a:solidFill>
                            <a:srgbClr val="14141E"/>
                          </a:solidFill>
                        </a:rPr>
                        <a:t>H3</a:t>
                      </a:r>
                    </a:p>
                  </a:txBody>
                  <a:tcPr>
                    <a:solidFill>
                      <a:srgbClr val="FFFFFF"/>
                    </a:solidFill>
                  </a:tcPr>
                </a:tc>
                <a:tc>
                  <a:txBody>
                    <a:bodyPr/>
                    <a:lstStyle/>
                    <a:p>
                      <a:r>
                        <a:rPr sz="1500">
                          <a:solidFill>
                            <a:srgbClr val="14141E"/>
                          </a:solidFill>
                        </a:rPr>
                        <a:t>改善幅はタスクドメインにより異なる</a:t>
                      </a:r>
                    </a:p>
                  </a:txBody>
                  <a:tcPr>
                    <a:solidFill>
                      <a:srgbClr val="FFFFFF"/>
                    </a:solidFill>
                  </a:tcPr>
                </a:tc>
                <a:tc>
                  <a:txBody>
                    <a:bodyPr/>
                    <a:lstStyle/>
                    <a:p>
                      <a:r>
                        <a:rPr sz="1500">
                          <a:solidFill>
                            <a:srgbClr val="14141E"/>
                          </a:solidFill>
                        </a:rPr>
                        <a:t>ドメインごとの正答率分布・難易度の違い</a:t>
                      </a:r>
                    </a:p>
                  </a:txBody>
                  <a:tcPr>
                    <a:solidFill>
                      <a:srgbClr val="FFFFFF"/>
                    </a:solidFill>
                  </a:tcPr>
                </a:tc>
              </a:tr>
              <a:tr h="896112">
                <a:tc>
                  <a:txBody>
                    <a:bodyPr/>
                    <a:lstStyle/>
                    <a:p>
                      <a:r>
                        <a:rPr sz="1500">
                          <a:solidFill>
                            <a:srgbClr val="14141E"/>
                          </a:solidFill>
                        </a:rPr>
                        <a:t>H4</a:t>
                      </a:r>
                    </a:p>
                  </a:txBody>
                  <a:tcPr>
                    <a:solidFill>
                      <a:srgbClr val="ECF1F9"/>
                    </a:solidFill>
                  </a:tcPr>
                </a:tc>
                <a:tc>
                  <a:txBody>
                    <a:bodyPr/>
                    <a:lstStyle/>
                    <a:p>
                      <a:r>
                        <a:rPr sz="1500">
                          <a:solidFill>
                            <a:srgbClr val="14141E"/>
                          </a:solidFill>
                        </a:rPr>
                        <a:t>日本語での改善幅は英語より小さい</a:t>
                      </a:r>
                    </a:p>
                  </a:txBody>
                  <a:tcPr>
                    <a:solidFill>
                      <a:srgbClr val="ECF1F9"/>
                    </a:solidFill>
                  </a:tcPr>
                </a:tc>
                <a:tc>
                  <a:txBody>
                    <a:bodyPr/>
                    <a:lstStyle/>
                    <a:p>
                      <a:r>
                        <a:rPr sz="1500">
                          <a:solidFill>
                            <a:srgbClr val="14141E"/>
                          </a:solidFill>
                        </a:rPr>
                        <a:t>MlingConfの実測でも日本語ECEが英語より悪化する傾向（例：16.52→34.49）</a:t>
                      </a:r>
                    </a:p>
                  </a:txBody>
                  <a:tcPr>
                    <a:solidFill>
                      <a:srgbClr val="ECF1F9"/>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想定される結果パターンと考察方針</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27/34</a:t>
            </a:r>
          </a:p>
        </p:txBody>
      </p:sp>
      <p:sp>
        <p:nvSpPr>
          <p:cNvPr id="5" name="TextBox 4"/>
          <p:cNvSpPr txBox="1"/>
          <p:nvPr/>
        </p:nvSpPr>
        <p:spPr>
          <a:xfrm>
            <a:off x="640080" y="1645920"/>
            <a:ext cx="10881360" cy="4206240"/>
          </a:xfrm>
          <a:prstGeom prst="rect">
            <a:avLst/>
          </a:prstGeom>
          <a:noFill/>
        </p:spPr>
        <p:txBody>
          <a:bodyPr wrap="square">
            <a:spAutoFit/>
          </a:bodyPr>
          <a:lstStyle/>
          <a:p>
            <a:pPr>
              <a:spcBef>
                <a:spcPts val="1400"/>
              </a:spcBef>
            </a:pPr>
            <a:r>
              <a:rPr sz="1900">
                <a:solidFill>
                  <a:srgbClr val="14141E"/>
                </a:solidFill>
              </a:rPr>
              <a:t>・(a) 方式間で明確な差 → 統計検定（Friedman/Wilcoxon）で有意性を確認し，設計上の違いを考察</a:t>
            </a:r>
          </a:p>
          <a:p>
            <a:pPr>
              <a:spcBef>
                <a:spcPts val="1400"/>
              </a:spcBef>
            </a:pPr>
            <a:r>
              <a:rPr sz="1900">
                <a:solidFill>
                  <a:srgbClr val="14141E"/>
                </a:solidFill>
              </a:rPr>
              <a:t>・(b) 方式間に有意差なし → 「差がない」こと自体を報告し，先行研究（MlingConf等）と対比</a:t>
            </a:r>
          </a:p>
          <a:p>
            <a:pPr>
              <a:spcBef>
                <a:spcPts val="1400"/>
              </a:spcBef>
            </a:pPr>
            <a:r>
              <a:rPr sz="1900">
                <a:solidFill>
                  <a:srgbClr val="14141E"/>
                </a:solidFill>
              </a:rPr>
              <a:t>・(c) モデルにより効果が異なる → 指示追従能力・学習データの違いとの関連を考察</a:t>
            </a:r>
          </a:p>
          <a:p>
            <a:pPr>
              <a:spcBef>
                <a:spcPts val="1400"/>
              </a:spcBef>
            </a:pPr>
            <a:r>
              <a:rPr sz="1900">
                <a:solidFill>
                  <a:srgbClr val="14141E"/>
                </a:solidFill>
              </a:rPr>
              <a:t>・モデル×方式の結果空間に対して排他的・網羅的に分類できることを確認済み</a:t>
            </a:r>
          </a:p>
          <a:p>
            <a:pPr>
              <a:spcBef>
                <a:spcPts val="1400"/>
              </a:spcBef>
            </a:pPr>
            <a:r>
              <a:rPr sz="1900">
                <a:solidFill>
                  <a:srgbClr val="14141E"/>
                </a:solidFill>
              </a:rPr>
              <a:t>・いずれの結果になっても報告可能な知見として整理する方針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現在の進捗①：データセット・プロンプト・評価指標</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28/34</a:t>
            </a:r>
          </a:p>
        </p:txBody>
      </p:sp>
      <p:sp>
        <p:nvSpPr>
          <p:cNvPr id="5" name="TextBox 4"/>
          <p:cNvSpPr txBox="1"/>
          <p:nvPr/>
        </p:nvSpPr>
        <p:spPr>
          <a:xfrm>
            <a:off x="640080" y="1645920"/>
            <a:ext cx="10881360" cy="4114800"/>
          </a:xfrm>
          <a:prstGeom prst="rect">
            <a:avLst/>
          </a:prstGeom>
          <a:noFill/>
        </p:spPr>
        <p:txBody>
          <a:bodyPr wrap="square">
            <a:spAutoFit/>
          </a:bodyPr>
          <a:lstStyle/>
          <a:p>
            <a:pPr>
              <a:spcBef>
                <a:spcPts val="1600"/>
              </a:spcBef>
            </a:pPr>
            <a:r>
              <a:rPr sz="2000">
                <a:solidFill>
                  <a:srgbClr val="14141E"/>
                </a:solidFill>
              </a:rPr>
              <a:t>・4ドメインのデータセット・正答判定基準を先行研究と比較したうえで確定</a:t>
            </a:r>
          </a:p>
          <a:p>
            <a:pPr>
              <a:spcBef>
                <a:spcPts val="1600"/>
              </a:spcBef>
            </a:pPr>
            <a:r>
              <a:rPr sz="2000">
                <a:solidFill>
                  <a:srgbClr val="14141E"/>
                </a:solidFill>
              </a:rPr>
              <a:t>・3方式×4ドメインのプロンプトテンプレートを実装（Verb.2Sの2ターン処理を含む）</a:t>
            </a:r>
          </a:p>
          <a:p>
            <a:pPr>
              <a:spcBef>
                <a:spcPts val="1600"/>
              </a:spcBef>
            </a:pPr>
            <a:r>
              <a:rPr sz="2000">
                <a:solidFill>
                  <a:srgbClr val="14141E"/>
                </a:solidFill>
              </a:rPr>
              <a:t>・確信度の自動解析処理，言語表現→数値の対応表を実装</a:t>
            </a:r>
          </a:p>
          <a:p>
            <a:pPr>
              <a:spcBef>
                <a:spcPts val="1600"/>
              </a:spcBef>
            </a:pPr>
            <a:r>
              <a:rPr sz="2000">
                <a:solidFill>
                  <a:srgbClr val="14141E"/>
                </a:solidFill>
              </a:rPr>
              <a:t>・ECE・Brier Score・AUROCを計算するプログラムを実装し，人工データで理論値と一致することを数値的に確認</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現在の進捗②：実験実行スクリプト・先行研究の再調査</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29/34</a:t>
            </a:r>
          </a:p>
        </p:txBody>
      </p:sp>
      <p:sp>
        <p:nvSpPr>
          <p:cNvPr id="5" name="TextBox 4"/>
          <p:cNvSpPr txBox="1"/>
          <p:nvPr/>
        </p:nvSpPr>
        <p:spPr>
          <a:xfrm>
            <a:off x="640080" y="1554480"/>
            <a:ext cx="10881360" cy="4297680"/>
          </a:xfrm>
          <a:prstGeom prst="rect">
            <a:avLst/>
          </a:prstGeom>
          <a:noFill/>
        </p:spPr>
        <p:txBody>
          <a:bodyPr wrap="square">
            <a:spAutoFit/>
          </a:bodyPr>
          <a:lstStyle/>
          <a:p>
            <a:pPr>
              <a:spcBef>
                <a:spcPts val="1300"/>
              </a:spcBef>
            </a:pPr>
            <a:r>
              <a:rPr sz="1900">
                <a:solidFill>
                  <a:srgbClr val="14141E"/>
                </a:solidFill>
              </a:rPr>
              <a:t>・3方式対応の実験実行スクリプト（run_pilot.py）を整備</a:t>
            </a:r>
          </a:p>
          <a:p>
            <a:pPr>
              <a:spcBef>
                <a:spcPts val="1300"/>
              </a:spcBef>
            </a:pPr>
            <a:r>
              <a:rPr sz="1900">
                <a:solidFill>
                  <a:srgbClr val="14141E"/>
                </a:solidFill>
              </a:rPr>
              <a:t>・OpenAI/Anthropic/Gemini各APIへの呼び出し，確信度の正規化，レート制限対策を実装</a:t>
            </a:r>
          </a:p>
          <a:p>
            <a:pPr>
              <a:spcBef>
                <a:spcPts val="1300"/>
              </a:spcBef>
            </a:pPr>
            <a:r>
              <a:rPr sz="1900">
                <a:solidFill>
                  <a:srgbClr val="14141E"/>
                </a:solidFill>
              </a:rPr>
              <a:t>・MlingConfが日本語含む多言語で確信度手法の検証を既に行っていることを確認し，新規性の主張を精緻化</a:t>
            </a:r>
          </a:p>
          <a:p>
            <a:pPr>
              <a:spcBef>
                <a:spcPts val="1300"/>
              </a:spcBef>
            </a:pPr>
            <a:r>
              <a:rPr sz="1900">
                <a:solidFill>
                  <a:srgbClr val="14141E"/>
                </a:solidFill>
              </a:rPr>
              <a:t>・Jang et al. 2025の誤引用（Verb.2Sの根拠として不適切）を発見・訂正</a:t>
            </a:r>
          </a:p>
          <a:p>
            <a:pPr>
              <a:spcBef>
                <a:spcPts val="1300"/>
              </a:spcBef>
            </a:pPr>
            <a:r>
              <a:rPr sz="1900">
                <a:solidFill>
                  <a:srgbClr val="14141E"/>
                </a:solidFill>
              </a:rPr>
              <a:t>・一方，実際のAPIを用いた実験は未実施であり，実測データはまだ得られていない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今後の予定：直近のスケジュール</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30/34</a:t>
            </a:r>
          </a:p>
        </p:txBody>
      </p:sp>
      <p:sp>
        <p:nvSpPr>
          <p:cNvPr id="5" name="TextBox 4"/>
          <p:cNvSpPr txBox="1"/>
          <p:nvPr/>
        </p:nvSpPr>
        <p:spPr>
          <a:xfrm>
            <a:off x="640080" y="1554480"/>
            <a:ext cx="10881360" cy="4389120"/>
          </a:xfrm>
          <a:prstGeom prst="rect">
            <a:avLst/>
          </a:prstGeom>
          <a:noFill/>
        </p:spPr>
        <p:txBody>
          <a:bodyPr wrap="square">
            <a:spAutoFit/>
          </a:bodyPr>
          <a:lstStyle/>
          <a:p>
            <a:pPr>
              <a:spcBef>
                <a:spcPts val="1300"/>
              </a:spcBef>
            </a:pPr>
            <a:r>
              <a:rPr sz="1900">
                <a:solidFill>
                  <a:srgbClr val="14141E"/>
                </a:solidFill>
              </a:rPr>
              <a:t>・2026年7月中旬：パイロット実験でスクリプトの動作確認</a:t>
            </a:r>
          </a:p>
          <a:p>
            <a:pPr>
              <a:spcBef>
                <a:spcPts val="1300"/>
              </a:spcBef>
            </a:pPr>
            <a:r>
              <a:rPr sz="1900">
                <a:solidFill>
                  <a:srgbClr val="14141E"/>
                </a:solidFill>
              </a:rPr>
              <a:t>・2026年7月17日：中間発表概要2ページをLETUSに提出（12:00締切）</a:t>
            </a:r>
          </a:p>
          <a:p>
            <a:pPr>
              <a:spcBef>
                <a:spcPts val="1300"/>
              </a:spcBef>
            </a:pPr>
            <a:r>
              <a:rPr sz="1900">
                <a:solidFill>
                  <a:srgbClr val="14141E"/>
                </a:solidFill>
              </a:rPr>
              <a:t>・2026年7月20〜27日：中間発表会（6分＋質疑3分）／8月5日：再発表日（必要な場合）</a:t>
            </a:r>
          </a:p>
          <a:p>
            <a:pPr>
              <a:spcBef>
                <a:spcPts val="1300"/>
              </a:spcBef>
            </a:pPr>
            <a:r>
              <a:rPr sz="1900">
                <a:solidFill>
                  <a:srgbClr val="14141E"/>
                </a:solidFill>
              </a:rPr>
              <a:t>・2026年8〜9月：本実験実施（4〜6モデル×3方式×1,000問）</a:t>
            </a:r>
          </a:p>
          <a:p>
            <a:pPr>
              <a:spcBef>
                <a:spcPts val="1300"/>
              </a:spcBef>
            </a:pPr>
            <a:r>
              <a:rPr sz="1900">
                <a:solidFill>
                  <a:srgbClr val="14141E"/>
                </a:solidFill>
              </a:rPr>
              <a:t>・2026年10〜11月：結果分析・統計検定・各章の草稿完成</a:t>
            </a:r>
          </a:p>
          <a:p>
            <a:pPr>
              <a:spcBef>
                <a:spcPts val="1300"/>
              </a:spcBef>
            </a:pPr>
            <a:r>
              <a:rPr sz="1900">
                <a:solidFill>
                  <a:srgbClr val="14141E"/>
                </a:solidFill>
              </a:rPr>
              <a:t>・2026年12月：最終稿作成／2027年1月：卒業論文提出</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Murphy分解（探索的オプション）の扱い</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31/34</a:t>
            </a:r>
          </a:p>
        </p:txBody>
      </p:sp>
      <p:sp>
        <p:nvSpPr>
          <p:cNvPr id="5" name="TextBox 4"/>
          <p:cNvSpPr txBox="1"/>
          <p:nvPr/>
        </p:nvSpPr>
        <p:spPr>
          <a:xfrm>
            <a:off x="640080" y="1554480"/>
            <a:ext cx="10881360" cy="2011680"/>
          </a:xfrm>
          <a:prstGeom prst="rect">
            <a:avLst/>
          </a:prstGeom>
          <a:noFill/>
        </p:spPr>
        <p:txBody>
          <a:bodyPr wrap="square">
            <a:spAutoFit/>
          </a:bodyPr>
          <a:lstStyle/>
          <a:p>
            <a:pPr>
              <a:spcBef>
                <a:spcPts val="1200"/>
              </a:spcBef>
            </a:pPr>
            <a:r>
              <a:rPr sz="1900">
                <a:solidFill>
                  <a:srgbClr val="14141E"/>
                </a:solidFill>
              </a:rPr>
              <a:t>・研究の方針の主軸はECE・Brier Score・AUROCの3指標。Murphy分解の採用は確定していない</a:t>
            </a:r>
          </a:p>
          <a:p>
            <a:pPr>
              <a:spcBef>
                <a:spcPts val="1200"/>
              </a:spcBef>
            </a:pPr>
            <a:r>
              <a:rPr sz="1900">
                <a:solidFill>
                  <a:srgbClr val="14141E"/>
                </a:solidFill>
              </a:rPr>
              <a:t>・本実験データが十分に得られた場合にのみ，補足的な考察として検討する</a:t>
            </a:r>
          </a:p>
          <a:p>
            <a:pPr>
              <a:spcBef>
                <a:spcPts val="1200"/>
              </a:spcBef>
            </a:pPr>
            <a:r>
              <a:rPr sz="1900">
                <a:solidFill>
                  <a:srgbClr val="14141E"/>
                </a:solidFill>
              </a:rPr>
              <a:t>・BS = REL − RES + UNC。RELは較正誤差（低いほど良い），RESは識別能力（高いほど良い）</a:t>
            </a:r>
          </a:p>
        </p:txBody>
      </p:sp>
      <p:graphicFrame>
        <p:nvGraphicFramePr>
          <p:cNvPr id="6" name="Table 5"/>
          <p:cNvGraphicFramePr>
            <a:graphicFrameLocks noGrp="1"/>
          </p:cNvGraphicFramePr>
          <p:nvPr/>
        </p:nvGraphicFramePr>
        <p:xfrm>
          <a:off x="640080" y="3749039"/>
          <a:ext cx="10881360" cy="2103120"/>
        </p:xfrm>
        <a:graphic>
          <a:graphicData uri="http://schemas.openxmlformats.org/drawingml/2006/table">
            <a:tbl>
              <a:tblPr firstRow="1" bandRow="1">
                <a:tableStyleId>{5C22544A-7EE6-4342-B048-85BDC9FD1C3A}</a:tableStyleId>
              </a:tblPr>
              <a:tblGrid>
                <a:gridCol w="5440680"/>
                <a:gridCol w="5440680"/>
              </a:tblGrid>
              <a:tr h="525780">
                <a:tc>
                  <a:txBody>
                    <a:bodyPr/>
                    <a:lstStyle/>
                    <a:p>
                      <a:pPr algn="ctr"/>
                      <a:r>
                        <a:rPr sz="1600" b="1">
                          <a:solidFill>
                            <a:srgbClr val="FFFFFF"/>
                          </a:solidFill>
                        </a:rPr>
                        <a:t>採否の判断基準</a:t>
                      </a:r>
                    </a:p>
                  </a:txBody>
                  <a:tcPr>
                    <a:solidFill>
                      <a:srgbClr val="1A56AA"/>
                    </a:solidFill>
                  </a:tcPr>
                </a:tc>
                <a:tc>
                  <a:txBody>
                    <a:bodyPr/>
                    <a:lstStyle/>
                    <a:p>
                      <a:pPr algn="ctr"/>
                      <a:r>
                        <a:rPr sz="1600" b="1">
                          <a:solidFill>
                            <a:srgbClr val="FFFFFF"/>
                          </a:solidFill>
                        </a:rPr>
                        <a:t>判断</a:t>
                      </a:r>
                    </a:p>
                  </a:txBody>
                  <a:tcPr>
                    <a:solidFill>
                      <a:srgbClr val="1A56AA"/>
                    </a:solidFill>
                  </a:tcPr>
                </a:tc>
              </a:tr>
              <a:tr h="525780">
                <a:tc>
                  <a:txBody>
                    <a:bodyPr/>
                    <a:lstStyle/>
                    <a:p>
                      <a:r>
                        <a:rPr sz="1500">
                          <a:solidFill>
                            <a:srgbClr val="14141E"/>
                          </a:solidFill>
                        </a:rPr>
                        <a:t>条件間でRELとRESが逆方向に動くケースがある</a:t>
                      </a:r>
                    </a:p>
                  </a:txBody>
                  <a:tcPr>
                    <a:solidFill>
                      <a:srgbClr val="FFFFFF"/>
                    </a:solidFill>
                  </a:tcPr>
                </a:tc>
                <a:tc>
                  <a:txBody>
                    <a:bodyPr/>
                    <a:lstStyle/>
                    <a:p>
                      <a:r>
                        <a:rPr sz="1500">
                          <a:solidFill>
                            <a:srgbClr val="14141E"/>
                          </a:solidFill>
                        </a:rPr>
                        <a:t>採用：機序の説明に使える</a:t>
                      </a:r>
                    </a:p>
                  </a:txBody>
                  <a:tcPr>
                    <a:solidFill>
                      <a:srgbClr val="FFFFFF"/>
                    </a:solidFill>
                  </a:tcPr>
                </a:tc>
              </a:tr>
              <a:tr h="525780">
                <a:tc>
                  <a:txBody>
                    <a:bodyPr/>
                    <a:lstStyle/>
                    <a:p>
                      <a:r>
                        <a:rPr sz="1500">
                          <a:solidFill>
                            <a:srgbClr val="14141E"/>
                          </a:solidFill>
                        </a:rPr>
                        <a:t>RELの順位がECEの順位と完全に一致</a:t>
                      </a:r>
                    </a:p>
                  </a:txBody>
                  <a:tcPr>
                    <a:solidFill>
                      <a:srgbClr val="ECF1F9"/>
                    </a:solidFill>
                  </a:tcPr>
                </a:tc>
                <a:tc>
                  <a:txBody>
                    <a:bodyPr/>
                    <a:lstStyle/>
                    <a:p>
                      <a:r>
                        <a:rPr sz="1500">
                          <a:solidFill>
                            <a:srgbClr val="14141E"/>
                          </a:solidFill>
                        </a:rPr>
                        <a:t>破棄：ECEと重複</a:t>
                      </a:r>
                    </a:p>
                  </a:txBody>
                  <a:tcPr>
                    <a:solidFill>
                      <a:srgbClr val="ECF1F9"/>
                    </a:solidFill>
                  </a:tcPr>
                </a:tc>
              </a:tr>
              <a:tr h="525780">
                <a:tc>
                  <a:txBody>
                    <a:bodyPr/>
                    <a:lstStyle/>
                    <a:p>
                      <a:r>
                        <a:rPr sz="1500">
                          <a:solidFill>
                            <a:srgbClr val="14141E"/>
                          </a:solidFill>
                        </a:rPr>
                        <a:t>RESの順位がAUROCの順位と完全に一致</a:t>
                      </a:r>
                    </a:p>
                  </a:txBody>
                  <a:tcPr>
                    <a:solidFill>
                      <a:srgbClr val="FFFFFF"/>
                    </a:solidFill>
                  </a:tcPr>
                </a:tc>
                <a:tc>
                  <a:txBody>
                    <a:bodyPr/>
                    <a:lstStyle/>
                    <a:p>
                      <a:r>
                        <a:rPr sz="1500">
                          <a:solidFill>
                            <a:srgbClr val="14141E"/>
                          </a:solidFill>
                        </a:rPr>
                        <a:t>破棄：AUROCと重複</a:t>
                      </a:r>
                    </a:p>
                  </a:txBody>
                  <a:tcP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スコープ縮小のトリガー・予想される成果</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32/34</a:t>
            </a:r>
          </a:p>
        </p:txBody>
      </p:sp>
      <p:sp>
        <p:nvSpPr>
          <p:cNvPr id="5" name="TextBox 4"/>
          <p:cNvSpPr txBox="1"/>
          <p:nvPr/>
        </p:nvSpPr>
        <p:spPr>
          <a:xfrm>
            <a:off x="640080" y="1371600"/>
            <a:ext cx="10881360" cy="365760"/>
          </a:xfrm>
          <a:prstGeom prst="rect">
            <a:avLst/>
          </a:prstGeom>
          <a:noFill/>
        </p:spPr>
        <p:txBody>
          <a:bodyPr wrap="square">
            <a:spAutoFit/>
          </a:bodyPr>
          <a:lstStyle/>
          <a:p>
            <a:pPr algn="l"/>
            <a:r>
              <a:rPr sz="1900" b="1" i="0">
                <a:solidFill>
                  <a:srgbClr val="1A56AA"/>
                </a:solidFill>
              </a:rPr>
              <a:t>スコープ縮小のトリガー（進捗が遅れた場合）</a:t>
            </a:r>
          </a:p>
        </p:txBody>
      </p:sp>
      <p:sp>
        <p:nvSpPr>
          <p:cNvPr id="6" name="TextBox 5"/>
          <p:cNvSpPr txBox="1"/>
          <p:nvPr/>
        </p:nvSpPr>
        <p:spPr>
          <a:xfrm>
            <a:off x="822960" y="1783080"/>
            <a:ext cx="10515600" cy="1463040"/>
          </a:xfrm>
          <a:prstGeom prst="rect">
            <a:avLst/>
          </a:prstGeom>
          <a:noFill/>
        </p:spPr>
        <p:txBody>
          <a:bodyPr wrap="square">
            <a:spAutoFit/>
          </a:bodyPr>
          <a:lstStyle/>
          <a:p>
            <a:pPr>
              <a:spcBef>
                <a:spcPts val="800"/>
              </a:spcBef>
            </a:pPr>
            <a:r>
              <a:rPr sz="1700">
                <a:solidFill>
                  <a:srgbClr val="14141E"/>
                </a:solidFill>
              </a:rPr>
              <a:t>・レベル1（7月末50%未達）：3モデル×3プロンプト方式に縮小</a:t>
            </a:r>
          </a:p>
          <a:p>
            <a:pPr>
              <a:spcBef>
                <a:spcPts val="800"/>
              </a:spcBef>
            </a:pPr>
            <a:r>
              <a:rPr sz="1700">
                <a:solidFill>
                  <a:srgbClr val="14141E"/>
                </a:solidFill>
              </a:rPr>
              <a:t>・レベル2（9月末40%未達）：2モデル×2ドメイン×2プロンプト方式</a:t>
            </a:r>
          </a:p>
          <a:p>
            <a:pPr>
              <a:spcBef>
                <a:spcPts val="800"/>
              </a:spcBef>
            </a:pPr>
            <a:r>
              <a:rPr sz="1700">
                <a:solidFill>
                  <a:srgbClr val="14141E"/>
                </a:solidFill>
              </a:rPr>
              <a:t>・レベル3（11月末30%未達）：Claude単独×2ドメイン×50問（論文成立最低ライン）</a:t>
            </a:r>
          </a:p>
        </p:txBody>
      </p:sp>
      <p:sp>
        <p:nvSpPr>
          <p:cNvPr id="7" name="TextBox 6"/>
          <p:cNvSpPr txBox="1"/>
          <p:nvPr/>
        </p:nvSpPr>
        <p:spPr>
          <a:xfrm>
            <a:off x="640080" y="3383280"/>
            <a:ext cx="10881360" cy="365760"/>
          </a:xfrm>
          <a:prstGeom prst="rect">
            <a:avLst/>
          </a:prstGeom>
          <a:noFill/>
        </p:spPr>
        <p:txBody>
          <a:bodyPr wrap="square">
            <a:spAutoFit/>
          </a:bodyPr>
          <a:lstStyle/>
          <a:p>
            <a:pPr algn="l"/>
            <a:r>
              <a:rPr sz="1900" b="1" i="0">
                <a:solidFill>
                  <a:srgbClr val="1A56AA"/>
                </a:solidFill>
              </a:rPr>
              <a:t>予想される成果</a:t>
            </a:r>
          </a:p>
        </p:txBody>
      </p:sp>
      <p:sp>
        <p:nvSpPr>
          <p:cNvPr id="8" name="TextBox 7"/>
          <p:cNvSpPr txBox="1"/>
          <p:nvPr/>
        </p:nvSpPr>
        <p:spPr>
          <a:xfrm>
            <a:off x="822960" y="3794760"/>
            <a:ext cx="10515600" cy="1463040"/>
          </a:xfrm>
          <a:prstGeom prst="rect">
            <a:avLst/>
          </a:prstGeom>
          <a:noFill/>
        </p:spPr>
        <p:txBody>
          <a:bodyPr wrap="square">
            <a:spAutoFit/>
          </a:bodyPr>
          <a:lstStyle/>
          <a:p>
            <a:pPr>
              <a:spcBef>
                <a:spcPts val="800"/>
              </a:spcBef>
            </a:pPr>
            <a:r>
              <a:rPr sz="1700">
                <a:solidFill>
                  <a:srgbClr val="14141E"/>
                </a:solidFill>
              </a:rPr>
              <a:t>・日本語タスクにおける複数モデルのキャリブレーション性能の定量的評価</a:t>
            </a:r>
          </a:p>
          <a:p>
            <a:pPr>
              <a:spcBef>
                <a:spcPts val="800"/>
              </a:spcBef>
            </a:pPr>
            <a:r>
              <a:rPr sz="1700">
                <a:solidFill>
                  <a:srgbClr val="14141E"/>
                </a:solidFill>
              </a:rPr>
              <a:t>・プロンプト方式による性能差の特定と最適方式の提案</a:t>
            </a:r>
          </a:p>
          <a:p>
            <a:pPr>
              <a:spcBef>
                <a:spcPts val="800"/>
              </a:spcBef>
            </a:pPr>
            <a:r>
              <a:rPr sz="1700">
                <a:solidFill>
                  <a:srgbClr val="14141E"/>
                </a:solidFill>
              </a:rPr>
              <a:t>・ドメイン依存性の可視化，日本語vs英語での性能差に関する知見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必要なリソースとコスト・リスクと対応策</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33/34</a:t>
            </a:r>
          </a:p>
        </p:txBody>
      </p:sp>
      <p:sp>
        <p:nvSpPr>
          <p:cNvPr id="5" name="TextBox 4"/>
          <p:cNvSpPr txBox="1"/>
          <p:nvPr/>
        </p:nvSpPr>
        <p:spPr>
          <a:xfrm>
            <a:off x="640080" y="1371600"/>
            <a:ext cx="10881360" cy="457200"/>
          </a:xfrm>
          <a:prstGeom prst="rect">
            <a:avLst/>
          </a:prstGeom>
          <a:noFill/>
        </p:spPr>
        <p:txBody>
          <a:bodyPr wrap="square">
            <a:spAutoFit/>
          </a:bodyPr>
          <a:lstStyle/>
          <a:p>
            <a:pPr algn="l"/>
            <a:r>
              <a:rPr sz="1800" b="0" i="0">
                <a:solidFill>
                  <a:srgbClr val="14141E"/>
                </a:solidFill>
              </a:rPr>
              <a:t>API使用料：約1,500〜3,000円（研究室予算50,000円の約6%以内）</a:t>
            </a:r>
          </a:p>
        </p:txBody>
      </p:sp>
      <p:graphicFrame>
        <p:nvGraphicFramePr>
          <p:cNvPr id="6" name="Table 5"/>
          <p:cNvGraphicFramePr>
            <a:graphicFrameLocks noGrp="1"/>
          </p:cNvGraphicFramePr>
          <p:nvPr/>
        </p:nvGraphicFramePr>
        <p:xfrm>
          <a:off x="640080" y="1965960"/>
          <a:ext cx="10881360" cy="3749039"/>
        </p:xfrm>
        <a:graphic>
          <a:graphicData uri="http://schemas.openxmlformats.org/drawingml/2006/table">
            <a:tbl>
              <a:tblPr firstRow="1" bandRow="1">
                <a:tableStyleId>{5C22544A-7EE6-4342-B048-85BDC9FD1C3A}</a:tableStyleId>
              </a:tblPr>
              <a:tblGrid>
                <a:gridCol w="3627120"/>
                <a:gridCol w="3627120"/>
                <a:gridCol w="3627120"/>
              </a:tblGrid>
              <a:tr h="624839">
                <a:tc>
                  <a:txBody>
                    <a:bodyPr/>
                    <a:lstStyle/>
                    <a:p>
                      <a:pPr algn="ctr"/>
                      <a:r>
                        <a:rPr sz="1600" b="1">
                          <a:solidFill>
                            <a:srgbClr val="FFFFFF"/>
                          </a:solidFill>
                        </a:rPr>
                        <a:t>リスク</a:t>
                      </a:r>
                    </a:p>
                  </a:txBody>
                  <a:tcPr>
                    <a:solidFill>
                      <a:srgbClr val="1A56AA"/>
                    </a:solidFill>
                  </a:tcPr>
                </a:tc>
                <a:tc>
                  <a:txBody>
                    <a:bodyPr/>
                    <a:lstStyle/>
                    <a:p>
                      <a:pPr algn="ctr"/>
                      <a:r>
                        <a:rPr sz="1600" b="1">
                          <a:solidFill>
                            <a:srgbClr val="FFFFFF"/>
                          </a:solidFill>
                        </a:rPr>
                        <a:t>影響</a:t>
                      </a:r>
                    </a:p>
                  </a:txBody>
                  <a:tcPr>
                    <a:solidFill>
                      <a:srgbClr val="1A56AA"/>
                    </a:solidFill>
                  </a:tcPr>
                </a:tc>
                <a:tc>
                  <a:txBody>
                    <a:bodyPr/>
                    <a:lstStyle/>
                    <a:p>
                      <a:pPr algn="ctr"/>
                      <a:r>
                        <a:rPr sz="1600" b="1">
                          <a:solidFill>
                            <a:srgbClr val="FFFFFF"/>
                          </a:solidFill>
                        </a:rPr>
                        <a:t>対応策</a:t>
                      </a:r>
                    </a:p>
                  </a:txBody>
                  <a:tcPr>
                    <a:solidFill>
                      <a:srgbClr val="1A56AA"/>
                    </a:solidFill>
                  </a:tcPr>
                </a:tc>
              </a:tr>
              <a:tr h="624839">
                <a:tc>
                  <a:txBody>
                    <a:bodyPr/>
                    <a:lstStyle/>
                    <a:p>
                      <a:r>
                        <a:rPr sz="1500">
                          <a:solidFill>
                            <a:srgbClr val="14141E"/>
                          </a:solidFill>
                        </a:rPr>
                        <a:t>API費用の超過</a:t>
                      </a:r>
                    </a:p>
                  </a:txBody>
                  <a:tcPr>
                    <a:solidFill>
                      <a:srgbClr val="FFFFFF"/>
                    </a:solidFill>
                  </a:tcPr>
                </a:tc>
                <a:tc>
                  <a:txBody>
                    <a:bodyPr/>
                    <a:lstStyle/>
                    <a:p>
                      <a:r>
                        <a:rPr sz="1500">
                          <a:solidFill>
                            <a:srgbClr val="14141E"/>
                          </a:solidFill>
                        </a:rPr>
                        <a:t>中</a:t>
                      </a:r>
                    </a:p>
                  </a:txBody>
                  <a:tcPr>
                    <a:solidFill>
                      <a:srgbClr val="FFFFFF"/>
                    </a:solidFill>
                  </a:tcPr>
                </a:tc>
                <a:tc>
                  <a:txBody>
                    <a:bodyPr/>
                    <a:lstStyle/>
                    <a:p>
                      <a:r>
                        <a:rPr sz="1500">
                          <a:solidFill>
                            <a:srgbClr val="14141E"/>
                          </a:solidFill>
                        </a:rPr>
                        <a:t>問題数を減らす，無料枠活用</a:t>
                      </a:r>
                    </a:p>
                  </a:txBody>
                  <a:tcPr>
                    <a:solidFill>
                      <a:srgbClr val="FFFFFF"/>
                    </a:solidFill>
                  </a:tcPr>
                </a:tc>
              </a:tr>
              <a:tr h="624839">
                <a:tc>
                  <a:txBody>
                    <a:bodyPr/>
                    <a:lstStyle/>
                    <a:p>
                      <a:r>
                        <a:rPr sz="1500">
                          <a:solidFill>
                            <a:srgbClr val="14141E"/>
                          </a:solidFill>
                        </a:rPr>
                        <a:t>モデルバージョン変更</a:t>
                      </a:r>
                    </a:p>
                  </a:txBody>
                  <a:tcPr>
                    <a:solidFill>
                      <a:srgbClr val="ECF1F9"/>
                    </a:solidFill>
                  </a:tcPr>
                </a:tc>
                <a:tc>
                  <a:txBody>
                    <a:bodyPr/>
                    <a:lstStyle/>
                    <a:p>
                      <a:r>
                        <a:rPr sz="1500">
                          <a:solidFill>
                            <a:srgbClr val="14141E"/>
                          </a:solidFill>
                        </a:rPr>
                        <a:t>中</a:t>
                      </a:r>
                    </a:p>
                  </a:txBody>
                  <a:tcPr>
                    <a:solidFill>
                      <a:srgbClr val="ECF1F9"/>
                    </a:solidFill>
                  </a:tcPr>
                </a:tc>
                <a:tc>
                  <a:txBody>
                    <a:bodyPr/>
                    <a:lstStyle/>
                    <a:p>
                      <a:r>
                        <a:rPr sz="1500">
                          <a:solidFill>
                            <a:srgbClr val="14141E"/>
                          </a:solidFill>
                        </a:rPr>
                        <a:t>使用日時を記録，再現不能を明示</a:t>
                      </a:r>
                    </a:p>
                  </a:txBody>
                  <a:tcPr>
                    <a:solidFill>
                      <a:srgbClr val="ECF1F9"/>
                    </a:solidFill>
                  </a:tcPr>
                </a:tc>
              </a:tr>
              <a:tr h="624839">
                <a:tc>
                  <a:txBody>
                    <a:bodyPr/>
                    <a:lstStyle/>
                    <a:p>
                      <a:r>
                        <a:rPr sz="1500">
                          <a:solidFill>
                            <a:srgbClr val="14141E"/>
                          </a:solidFill>
                        </a:rPr>
                        <a:t>データセットの正解精度</a:t>
                      </a:r>
                    </a:p>
                  </a:txBody>
                  <a:tcPr>
                    <a:solidFill>
                      <a:srgbClr val="FFFFFF"/>
                    </a:solidFill>
                  </a:tcPr>
                </a:tc>
                <a:tc>
                  <a:txBody>
                    <a:bodyPr/>
                    <a:lstStyle/>
                    <a:p>
                      <a:r>
                        <a:rPr sz="1500">
                          <a:solidFill>
                            <a:srgbClr val="14141E"/>
                          </a:solidFill>
                        </a:rPr>
                        <a:t>高</a:t>
                      </a:r>
                    </a:p>
                  </a:txBody>
                  <a:tcPr>
                    <a:solidFill>
                      <a:srgbClr val="FFFFFF"/>
                    </a:solidFill>
                  </a:tcPr>
                </a:tc>
                <a:tc>
                  <a:txBody>
                    <a:bodyPr/>
                    <a:lstStyle/>
                    <a:p>
                      <a:r>
                        <a:rPr sz="1500">
                          <a:solidFill>
                            <a:srgbClr val="14141E"/>
                          </a:solidFill>
                        </a:rPr>
                        <a:t>複数ソース，人手での再確認</a:t>
                      </a:r>
                    </a:p>
                  </a:txBody>
                  <a:tcPr>
                    <a:solidFill>
                      <a:srgbClr val="FFFFFF"/>
                    </a:solidFill>
                  </a:tcPr>
                </a:tc>
              </a:tr>
              <a:tr h="624839">
                <a:tc>
                  <a:txBody>
                    <a:bodyPr/>
                    <a:lstStyle/>
                    <a:p>
                      <a:r>
                        <a:rPr sz="1500">
                          <a:solidFill>
                            <a:srgbClr val="14141E"/>
                          </a:solidFill>
                        </a:rPr>
                        <a:t>思ったほど差が出ない</a:t>
                      </a:r>
                    </a:p>
                  </a:txBody>
                  <a:tcPr>
                    <a:solidFill>
                      <a:srgbClr val="ECF1F9"/>
                    </a:solidFill>
                  </a:tcPr>
                </a:tc>
                <a:tc>
                  <a:txBody>
                    <a:bodyPr/>
                    <a:lstStyle/>
                    <a:p>
                      <a:r>
                        <a:rPr sz="1500">
                          <a:solidFill>
                            <a:srgbClr val="14141E"/>
                          </a:solidFill>
                        </a:rPr>
                        <a:t>中</a:t>
                      </a:r>
                    </a:p>
                  </a:txBody>
                  <a:tcPr>
                    <a:solidFill>
                      <a:srgbClr val="ECF1F9"/>
                    </a:solidFill>
                  </a:tcPr>
                </a:tc>
                <a:tc>
                  <a:txBody>
                    <a:bodyPr/>
                    <a:lstStyle/>
                    <a:p>
                      <a:r>
                        <a:rPr sz="1500">
                          <a:solidFill>
                            <a:srgbClr val="14141E"/>
                          </a:solidFill>
                        </a:rPr>
                        <a:t>「差がない」ことも成果として報告</a:t>
                      </a:r>
                    </a:p>
                  </a:txBody>
                  <a:tcPr>
                    <a:solidFill>
                      <a:srgbClr val="ECF1F9"/>
                    </a:solidFill>
                  </a:tcPr>
                </a:tc>
              </a:tr>
              <a:tr h="624844">
                <a:tc>
                  <a:txBody>
                    <a:bodyPr/>
                    <a:lstStyle/>
                    <a:p>
                      <a:r>
                        <a:rPr sz="1500">
                          <a:solidFill>
                            <a:srgbClr val="14141E"/>
                          </a:solidFill>
                        </a:rPr>
                        <a:t>時間超過</a:t>
                      </a:r>
                    </a:p>
                  </a:txBody>
                  <a:tcPr>
                    <a:solidFill>
                      <a:srgbClr val="FFFFFF"/>
                    </a:solidFill>
                  </a:tcPr>
                </a:tc>
                <a:tc>
                  <a:txBody>
                    <a:bodyPr/>
                    <a:lstStyle/>
                    <a:p>
                      <a:r>
                        <a:rPr sz="1500">
                          <a:solidFill>
                            <a:srgbClr val="14141E"/>
                          </a:solidFill>
                        </a:rPr>
                        <a:t>中</a:t>
                      </a:r>
                    </a:p>
                  </a:txBody>
                  <a:tcPr>
                    <a:solidFill>
                      <a:srgbClr val="FFFFFF"/>
                    </a:solidFill>
                  </a:tcPr>
                </a:tc>
                <a:tc>
                  <a:txBody>
                    <a:bodyPr/>
                    <a:lstStyle/>
                    <a:p>
                      <a:r>
                        <a:rPr sz="1500">
                          <a:solidFill>
                            <a:srgbClr val="14141E"/>
                          </a:solidFill>
                        </a:rPr>
                        <a:t>実験3（日英比較）を省略可能と位置づけ</a:t>
                      </a:r>
                    </a:p>
                  </a:txBody>
                  <a:tcP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332720" cy="640080"/>
          </a:xfrm>
          <a:prstGeom prst="rect">
            <a:avLst/>
          </a:prstGeom>
          <a:noFill/>
        </p:spPr>
        <p:txBody>
          <a:bodyPr wrap="square">
            <a:spAutoFit/>
          </a:bodyPr>
          <a:lstStyle/>
          <a:p>
            <a:pPr algn="l"/>
            <a:r>
              <a:rPr sz="2800" b="1" i="0">
                <a:solidFill>
                  <a:srgbClr val="14141E"/>
                </a:solidFill>
              </a:rPr>
              <a:t>参考文献</a:t>
            </a:r>
          </a:p>
        </p:txBody>
      </p:sp>
      <p:sp>
        <p:nvSpPr>
          <p:cNvPr id="4" name="TextBox 3"/>
          <p:cNvSpPr txBox="1"/>
          <p:nvPr/>
        </p:nvSpPr>
        <p:spPr>
          <a:xfrm>
            <a:off x="10972800" y="256032"/>
            <a:ext cx="1005840" cy="457200"/>
          </a:xfrm>
          <a:prstGeom prst="rect">
            <a:avLst/>
          </a:prstGeom>
          <a:noFill/>
        </p:spPr>
        <p:txBody>
          <a:bodyPr wrap="square">
            <a:spAutoFit/>
          </a:bodyPr>
          <a:lstStyle/>
          <a:p>
            <a:pPr algn="r"/>
            <a:r>
              <a:rPr sz="1800" b="0" i="0">
                <a:solidFill>
                  <a:srgbClr val="1A56AA"/>
                </a:solidFill>
              </a:rPr>
              <a:t>34/34</a:t>
            </a:r>
          </a:p>
        </p:txBody>
      </p:sp>
      <p:sp>
        <p:nvSpPr>
          <p:cNvPr id="5" name="TextBox 4"/>
          <p:cNvSpPr txBox="1"/>
          <p:nvPr/>
        </p:nvSpPr>
        <p:spPr>
          <a:xfrm>
            <a:off x="640080" y="1554480"/>
            <a:ext cx="10881360" cy="4572000"/>
          </a:xfrm>
          <a:prstGeom prst="rect">
            <a:avLst/>
          </a:prstGeom>
          <a:noFill/>
        </p:spPr>
        <p:txBody>
          <a:bodyPr wrap="square">
            <a:spAutoFit/>
          </a:bodyPr>
          <a:lstStyle/>
          <a:p>
            <a:pPr algn="l"/>
            <a:r>
              <a:rPr sz="1700" b="0" i="0">
                <a:solidFill>
                  <a:srgbClr val="14141E"/>
                </a:solidFill>
              </a:rPr>
              <a:t>Ji et al. (2023) — Survey of Hallucination in NLG
Guo et al. (2017, ICML) — On Calibration of Modern Neural Networks
Kadavath et al. (2022) / Lin et al. (2022) — LLMの自己評価・言語化
Tian et al. (2023, EMNLP) / Xiong et al. (2024, ICLR) — Verbalized Confidence
Xue et al. (2025, ACL Findings) — MlingConf
Xie et al. (2024) — Black-Box Calibration Survey / Adaptive Temperature Scaling
Murphy (1973) / Bröcker (2009) / Pohle (2020) / Ferro &amp; Fricker (2012) — Murphy分解
Rei et al. (2020) / Zhang et al. (2020) / Kocmi &amp; Federmann (2023) — 翻訳評価
その他：詳細は abstract_full_v1.tex 参考文献（全33本）を参照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